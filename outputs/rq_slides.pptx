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700" b="1">
                <a:solidFill>
                  <a:srgbClr val="FFFFFF"/>
                </a:solidFill>
                <a:latin typeface="Calibri"/>
              </a:defRPr>
            </a:pPr>
            <a:r>
              <a:t>RQ1 — Πόσο καλά αποδίδουν τα κλασικά ML μοντέλα;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41832"/>
            <a:ext cx="12191695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defRPr sz="1350" b="0" i="0">
                <a:solidFill>
                  <a:srgbClr val="1A1A1A"/>
                </a:solidFill>
                <a:latin typeface="Calibri"/>
              </a:defRPr>
            </a:pPr>
            <a:r>
              <a:t>Κλασική ML → διαχωρισμός PD/HC πάνω από τυχαίο επίπεδο</a:t>
            </a:r>
          </a:p>
          <a:p>
            <a:pPr>
              <a:spcBef>
                <a:spcPts val="400"/>
              </a:spcBef>
              <a:defRPr sz="1350" b="1">
                <a:solidFill>
                  <a:srgbClr val="002B5C"/>
                </a:solidFill>
                <a:latin typeface="Calibri"/>
              </a:defRPr>
            </a:pPr>
            <a:r>
              <a:t>Dataset A (subject-level CV):</a:t>
            </a:r>
          </a:p>
          <a:p>
            <a:pPr>
              <a:spcBef>
                <a:spcPts val="200"/>
              </a:spcBef>
              <a:defRPr sz="1350" b="0">
                <a:solidFill>
                  <a:srgbClr val="1A1A1A"/>
                </a:solidFill>
                <a:latin typeface="Calibri"/>
              </a:defRPr>
            </a:pPr>
            <a:r>
              <a:t>  Best ROC-AUC: 0.857 ± 0.171  (RF, Spontaneous, ext)</a:t>
            </a:r>
          </a:p>
          <a:p>
            <a:pPr>
              <a:spcBef>
                <a:spcPts val="200"/>
              </a:spcBef>
              <a:defRPr sz="1350" b="0">
                <a:solidFill>
                  <a:srgbClr val="1A1A1A"/>
                </a:solidFill>
                <a:latin typeface="Calibri"/>
              </a:defRPr>
            </a:pPr>
            <a:r>
              <a:t>  Best ROC-AUC: 0.834 ± 0.153  (SVM, ReadText, ext)</a:t>
            </a:r>
          </a:p>
          <a:p>
            <a:pPr>
              <a:spcBef>
                <a:spcPts val="200"/>
              </a:spcBef>
              <a:defRPr sz="1350" b="0">
                <a:solidFill>
                  <a:srgbClr val="1A1A1A"/>
                </a:solidFill>
                <a:latin typeface="Calibri"/>
              </a:defRPr>
            </a:pPr>
            <a:r>
              <a:t>  Υψηλή διακύμανση ανά fold — αβεβαιότητα εκτίμησης</a:t>
            </a:r>
          </a:p>
          <a:p>
            <a:pPr>
              <a:spcBef>
                <a:spcPts val="400"/>
              </a:spcBef>
              <a:defRPr sz="1350" b="1">
                <a:solidFill>
                  <a:srgbClr val="002B5C"/>
                </a:solidFill>
                <a:latin typeface="Calibri"/>
              </a:defRPr>
            </a:pPr>
            <a:r>
              <a:t>Dataset B (pre-extracted, no subject IDs):</a:t>
            </a:r>
          </a:p>
          <a:p>
            <a:pPr>
              <a:spcBef>
                <a:spcPts val="200"/>
              </a:spcBef>
              <a:defRPr sz="1350" b="0">
                <a:solidFill>
                  <a:srgbClr val="1A1A1A"/>
                </a:solidFill>
                <a:latin typeface="Calibri"/>
              </a:defRPr>
            </a:pPr>
            <a:r>
              <a:t>  ROC-AUC ≈ 0.94–0.95 — ενδεχομένως αισιόδοξη εκτίμηση</a:t>
            </a:r>
          </a:p>
          <a:p>
            <a:pPr>
              <a:spcBef>
                <a:spcPts val="200"/>
              </a:spcBef>
              <a:defRPr sz="1350" b="0">
                <a:solidFill>
                  <a:srgbClr val="1A1A1A"/>
                </a:solidFill>
                <a:latin typeface="Calibri"/>
              </a:defRPr>
            </a:pPr>
            <a:r>
              <a:t>  (άγνωστη επικάλυψη υποκειμένων μεταξύ train/test)</a:t>
            </a:r>
          </a:p>
          <a:p>
            <a:pPr>
              <a:spcBef>
                <a:spcPts val="200"/>
              </a:spcBef>
              <a:defRPr sz="1350" b="0">
                <a:solidFill>
                  <a:srgbClr val="1A1A1A"/>
                </a:solidFill>
                <a:latin typeface="Calibri"/>
              </a:defRPr>
            </a:pPr>
            <a:r>
              <a:t>LR παρέχει ισχυρή baseline σε Dataset A (0.717–0.783)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349240"/>
            <a:ext cx="5303520" cy="566928"/>
          </a:xfrm>
          <a:prstGeom prst="rect">
            <a:avLst/>
          </a:prstGeom>
          <a:solidFill>
            <a:srgbClr val="0056A0"/>
          </a:solidFill>
          <a:ln w="1905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Απάντηση RQ1: Η κλασική ML είναι βιώσιμη baseline — ROC-AUC 0.83–0.86 (Dataset A) με αβεβαιότητα, ≥ 0.94 (Dataset B) με επιφύλαξη.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0" y="1143000"/>
          <a:ext cx="5897879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/>
                <a:gridCol w="1474470"/>
                <a:gridCol w="2064257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 / Task</a:t>
                      </a:r>
                    </a:p>
                  </a:txBody>
                  <a:tcPr anchor="ctr">
                    <a:solidFill>
                      <a:srgbClr val="0056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Model</a:t>
                      </a:r>
                    </a:p>
                  </a:txBody>
                  <a:tcPr anchor="ctr">
                    <a:solidFill>
                      <a:srgbClr val="0056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ROC-AUC (mean ± std)</a:t>
                      </a:r>
                    </a:p>
                  </a:txBody>
                  <a:tcPr anchor="ctr">
                    <a:solidFill>
                      <a:srgbClr val="0056A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 · ReadText (ext)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SVM RBF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6C00"/>
                          </a:solidFill>
                          <a:latin typeface="Calibri"/>
                        </a:defRPr>
                      </a:pPr>
                      <a:r>
                        <a:t>0.834 ± 0.153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 · Spontaneous (ext)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6C00"/>
                          </a:solidFill>
                          <a:latin typeface="Calibri"/>
                        </a:defRPr>
                      </a:pPr>
                      <a:r>
                        <a:t>0.857 ± 0.171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 · ReadText (base)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0.717 ± 0.139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 · Spontaneous (base)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0.828 ± 0.148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 · PD Speech (base)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6C00"/>
                          </a:solidFill>
                          <a:latin typeface="Calibri"/>
                        </a:defRPr>
                      </a:pPr>
                      <a:r>
                        <a:t>0.952 ± 0.015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 · PD Speech (base)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6C00"/>
                          </a:solidFill>
                          <a:latin typeface="Calibri"/>
                        </a:defRPr>
                      </a:pPr>
                      <a:r>
                        <a:t>0.940 ± 0.013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3648456"/>
            <a:ext cx="5897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66666"/>
                </a:solidFill>
                <a:latin typeface="Calibri"/>
              </a:defRPr>
            </a:pPr>
            <a:r>
              <a:t>tab:best-results-summary  |  ext = 78 features, base = 47 features  |  Source: thesis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55664"/>
            <a:ext cx="11247120" cy="914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86C00"/>
                </a:solidFill>
                <a:latin typeface="Calibri"/>
              </a:defRPr>
            </a:pPr>
            <a:r>
              <a:t>Διπλωματική Εργασία — Μάρτιος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700" b="1">
                <a:solidFill>
                  <a:srgbClr val="FFFFFF"/>
                </a:solidFill>
                <a:latin typeface="Calibri"/>
              </a:defRPr>
            </a:pPr>
            <a:r>
              <a:t>RQ2 — Βελτιώνει η επέκταση χαρακτηριστικών (47→78) την απόδοση;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41832"/>
            <a:ext cx="12191695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50" b="1" i="0">
                <a:solidFill>
                  <a:srgbClr val="002B5C"/>
                </a:solidFill>
                <a:latin typeface="Calibri"/>
              </a:defRPr>
            </a:pPr>
            <a:r>
              <a:t>ReadText: σαφής βελτίωση με 78 features</a:t>
            </a:r>
          </a:p>
          <a:p>
            <a:pPr>
              <a:spcBef>
                <a:spcPts val="200"/>
              </a:spcBef>
              <a:defRPr sz="1350" b="0">
                <a:solidFill>
                  <a:srgbClr val="1A1A1A"/>
                </a:solidFill>
                <a:latin typeface="Calibri"/>
              </a:defRPr>
            </a:pPr>
            <a:r>
              <a:t>  RF: 0.590 → 0.822  (Δ = +0.232)</a:t>
            </a:r>
          </a:p>
          <a:p>
            <a:pPr>
              <a:spcBef>
                <a:spcPts val="200"/>
              </a:spcBef>
              <a:defRPr sz="1350" b="0">
                <a:solidFill>
                  <a:srgbClr val="1A1A1A"/>
                </a:solidFill>
                <a:latin typeface="Calibri"/>
              </a:defRPr>
            </a:pPr>
            <a:r>
              <a:t>  SVM: 0.614 → 0.834  (Δ = +0.220)</a:t>
            </a:r>
          </a:p>
          <a:p>
            <a:pPr>
              <a:spcBef>
                <a:spcPts val="200"/>
              </a:spcBef>
              <a:defRPr sz="1350" b="0">
                <a:solidFill>
                  <a:srgbClr val="1A1A1A"/>
                </a:solidFill>
                <a:latin typeface="Calibri"/>
              </a:defRPr>
            </a:pPr>
            <a:r>
              <a:t>  GB:  0.500 → 0.724  (Δ = +0.224)</a:t>
            </a:r>
          </a:p>
          <a:p>
            <a:pPr>
              <a:spcBef>
                <a:spcPts val="400"/>
              </a:spcBef>
              <a:defRPr sz="1350" b="1">
                <a:solidFill>
                  <a:srgbClr val="002B5C"/>
                </a:solidFill>
                <a:latin typeface="Calibri"/>
              </a:defRPr>
            </a:pPr>
            <a:r>
              <a:t>SpontaneousDialogue: μικρή / ασταθής επίδραση</a:t>
            </a:r>
          </a:p>
          <a:p>
            <a:pPr>
              <a:spcBef>
                <a:spcPts val="200"/>
              </a:spcBef>
              <a:defRPr sz="1350" b="0">
                <a:solidFill>
                  <a:srgbClr val="1A1A1A"/>
                </a:solidFill>
                <a:latin typeface="Calibri"/>
              </a:defRPr>
            </a:pPr>
            <a:r>
              <a:t>  RF: 0.828 → 0.857  (Δ = +0.029)</a:t>
            </a:r>
          </a:p>
          <a:p>
            <a:pPr>
              <a:spcBef>
                <a:spcPts val="200"/>
              </a:spcBef>
              <a:defRPr sz="1350" b="0">
                <a:solidFill>
                  <a:srgbClr val="1A1A1A"/>
                </a:solidFill>
                <a:latin typeface="Calibri"/>
              </a:defRPr>
            </a:pPr>
            <a:r>
              <a:t>  SVM: 0.407 → 0.460  (Δ = +0.053, υψ. std)</a:t>
            </a:r>
          </a:p>
          <a:p>
            <a:pPr>
              <a:spcBef>
                <a:spcPts val="200"/>
              </a:spcBef>
              <a:defRPr sz="1350" b="0">
                <a:solidFill>
                  <a:srgbClr val="1A1A1A"/>
                </a:solidFill>
                <a:latin typeface="Calibri"/>
              </a:defRPr>
            </a:pPr>
            <a:r>
              <a:t>  XGB: 0.723 → 0.687  (Δ = −0.036)</a:t>
            </a:r>
          </a:p>
          <a:p>
            <a:pPr>
              <a:spcBef>
                <a:spcPts val="200"/>
              </a:spcBef>
              <a:defRPr sz="1350" b="0">
                <a:solidFill>
                  <a:srgbClr val="1A1A1A"/>
                </a:solidFill>
                <a:latin typeface="Calibri"/>
              </a:defRPr>
            </a:pPr>
            <a:r>
              <a:t>Το αποτέλεσμα είναι task-dependent</a:t>
            </a:r>
          </a:p>
          <a:p>
            <a:pPr>
              <a:spcBef>
                <a:spcPts val="200"/>
              </a:spcBef>
              <a:defRPr sz="1350" b="0">
                <a:solidFill>
                  <a:srgbClr val="1A1A1A"/>
                </a:solidFill>
                <a:latin typeface="Calibri"/>
              </a:defRPr>
            </a:pPr>
            <a:r>
              <a:t>Επέκταση ≠ καθολική βελτίωση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349240"/>
            <a:ext cx="5303520" cy="566928"/>
          </a:xfrm>
          <a:prstGeom prst="rect">
            <a:avLst/>
          </a:prstGeom>
          <a:solidFill>
            <a:srgbClr val="0056A0"/>
          </a:solidFill>
          <a:ln w="1905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Απάντηση RQ2: Ναι, κυρίως στο ReadText (Δ ROC-AUC ≈ +0.20–0.23). Στο SpontaneousDialogue η επίδραση είναι μικρή ή μη-σταθερή.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0" y="1143000"/>
          <a:ext cx="58978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056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ReadText</a:t>
                      </a:r>
                    </a:p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base→ext (Δ)</a:t>
                      </a:r>
                    </a:p>
                  </a:txBody>
                  <a:tcPr anchor="ctr">
                    <a:solidFill>
                      <a:srgbClr val="0056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Spontaneous</a:t>
                      </a:r>
                    </a:p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base→ext (Δ)</a:t>
                      </a:r>
                    </a:p>
                  </a:txBody>
                  <a:tcPr anchor="ctr">
                    <a:solidFill>
                      <a:srgbClr val="0056A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LogisticRegression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0.717 → 0.698  (−0.019)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0.760 → 0.783  (+0.023)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RandomForest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E86C00"/>
                          </a:solidFill>
                          <a:latin typeface="Calibri"/>
                        </a:defRPr>
                      </a:pPr>
                      <a:r>
                        <a:t>0.590 → 0.822  (+0.232)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0.828 → 0.857  (+0.029)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SVM RBF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E86C00"/>
                          </a:solidFill>
                          <a:latin typeface="Calibri"/>
                        </a:defRPr>
                      </a:pPr>
                      <a:r>
                        <a:t>0.614 → 0.834  (+0.220)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0.407 → 0.460  (+0.053)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GradientBoosting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E86C00"/>
                          </a:solidFill>
                          <a:latin typeface="Calibri"/>
                        </a:defRPr>
                      </a:pPr>
                      <a:r>
                        <a:t>0.500 → 0.724  (+0.224)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0.615 → 0.638  (+0.023)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E86C00"/>
                          </a:solidFill>
                          <a:latin typeface="Calibri"/>
                        </a:defRPr>
                      </a:pPr>
                      <a:r>
                        <a:t>0.628 → 0.794  (+0.166)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0.723 → 0.687  (−0.036)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3300984"/>
            <a:ext cx="5897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66666"/>
                </a:solidFill>
                <a:latin typeface="Calibri"/>
              </a:defRPr>
            </a:pPr>
            <a:r>
              <a:t>tab:ablation-main  |  Δ ROC-AUC = extended − baseline (C3 − C1), unweighted  |  Source: thesis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55664"/>
            <a:ext cx="11247120" cy="914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86C00"/>
                </a:solidFill>
                <a:latin typeface="Calibri"/>
              </a:defRPr>
            </a:pPr>
            <a:r>
              <a:t>Διπλωματική Εργασία — Μάρτιος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700" b="1">
                <a:solidFill>
                  <a:srgbClr val="FFFFFF"/>
                </a:solidFill>
                <a:latin typeface="Calibri"/>
              </a:defRPr>
            </a:pPr>
            <a:r>
              <a:t>RQ3 — Βοηθά το class weighting σε ανισορροπία κλάσεων;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41832"/>
            <a:ext cx="12191695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defRPr sz="1300" b="0" i="0">
                <a:solidFill>
                  <a:srgbClr val="1A1A1A"/>
                </a:solidFill>
                <a:latin typeface="Calibri"/>
              </a:defRPr>
            </a:pPr>
            <a:r>
              <a:t>Ελέγχθηκε: unweighted vs balanced, όλα μοντέλα/σενάρια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Dataset A ανισορροπία ≈ 1.3:1  (HC &gt; PD)</a:t>
            </a:r>
          </a:p>
          <a:p>
            <a:pPr>
              <a:spcBef>
                <a:spcPts val="4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ReadText (ext): weighting ≠ σταθερό κέρδος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  RF: 0.822 → 0.805  (−0.017)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  SVM: 0.834 → 0.834  (0.000)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  GB:  0.724 → 0.724  (0.000)</a:t>
            </a:r>
          </a:p>
          <a:p>
            <a:pPr>
              <a:spcBef>
                <a:spcPts val="4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Spontaneous (ext): αντίστοιχα ουδέτερο ή αρνητικό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  RF: 0.857 → 0.823  (−0.034)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  LR: 0.783 → 0.783  (0.000)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Dataset B: μικρή ουδέτερη/θετική επίδραση  (RF +0.009)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Για 1.3:1 class ratio → weighting δεν φαίνεται αναγκαίο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349240"/>
            <a:ext cx="5303520" cy="566928"/>
          </a:xfrm>
          <a:prstGeom prst="rect">
            <a:avLst/>
          </a:prstGeom>
          <a:solidFill>
            <a:srgbClr val="0056A0"/>
          </a:solidFill>
          <a:ln w="1905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Απάντηση RQ3: Δεν παρατηρείται σταθερό κέρδος από balanced class weighting. Για ανισορροπία ~1.3:1, η επίδραση είναι ουδέτερη ή ελαφρά αρνητική.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0" y="1143000"/>
          <a:ext cx="5897879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3619"/>
                <a:gridCol w="1474470"/>
                <a:gridCol w="1474470"/>
                <a:gridCol w="6553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 / Feature set</a:t>
                      </a:r>
                    </a:p>
                  </a:txBody>
                  <a:tcPr anchor="ctr">
                    <a:solidFill>
                      <a:srgbClr val="0056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Unweighted</a:t>
                      </a:r>
                    </a:p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ROC-AUC</a:t>
                      </a:r>
                    </a:p>
                  </a:txBody>
                  <a:tcPr anchor="ctr">
                    <a:solidFill>
                      <a:srgbClr val="0056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Weighted</a:t>
                      </a:r>
                    </a:p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ROC-AUC</a:t>
                      </a:r>
                    </a:p>
                  </a:txBody>
                  <a:tcPr anchor="ctr">
                    <a:solidFill>
                      <a:srgbClr val="0056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</a:t>
                      </a:r>
                    </a:p>
                  </a:txBody>
                  <a:tcPr anchor="ctr">
                    <a:solidFill>
                      <a:srgbClr val="0056A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ReadText · baseline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0.590 ± 0.302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0.687 ± 0.258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+0.097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ReadText · extended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0.822 ± 0.166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0.805 ± 0.182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E86C00"/>
                          </a:solidFill>
                          <a:latin typeface="Calibri"/>
                        </a:defRPr>
                      </a:pPr>
                      <a:r>
                        <a:t>−0.017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Spontaneous · baseline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0.828 ± 0.148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0.827 ± 0.133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−0.001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Spontaneous · extended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0.857 ± 0.171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0.823 ± 0.209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E86C00"/>
                          </a:solidFill>
                          <a:latin typeface="Calibri"/>
                        </a:defRPr>
                      </a:pPr>
                      <a:r>
                        <a:t>−0.034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Dataset B · baseline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0.940 ± 0.013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0.949 ± 0.012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+0.009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Dataset B · extended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0.940 ± 0.013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0.949 ± 0.012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+0.009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1097280"/>
            <a:ext cx="5897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666666"/>
                </a:solidFill>
                <a:latin typeface="Calibri"/>
              </a:defRPr>
            </a:pPr>
            <a:r>
              <a:t>Μοντέλο: Random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648456"/>
            <a:ext cx="5897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66666"/>
                </a:solidFill>
                <a:latin typeface="Calibri"/>
              </a:defRPr>
            </a:pPr>
            <a:r>
              <a:t>tab:weighting-main  |  Unweighted = C1/C3, Weighted = C2/C4  |  Source: thesis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55664"/>
            <a:ext cx="11247120" cy="914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86C00"/>
                </a:solidFill>
                <a:latin typeface="Calibri"/>
              </a:defRPr>
            </a:pPr>
            <a:r>
              <a:t>Διπλωματική Εργασία — Μάρτιος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700" b="1">
                <a:solidFill>
                  <a:srgbClr val="FFFFFF"/>
                </a:solidFill>
                <a:latin typeface="Calibri"/>
              </a:defRPr>
            </a:pPr>
            <a:r>
              <a:t>RQ4 — Διαφέρει η εκτίμηση μεταξύ Subject-Level CV (A) και Standard CV (B);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41832"/>
            <a:ext cx="12191695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00" b="1" i="0">
                <a:solidFill>
                  <a:srgbClr val="002B5C"/>
                </a:solidFill>
                <a:latin typeface="Calibri"/>
              </a:defRPr>
            </a:pPr>
            <a:r>
              <a:t>Dataset A — Grouped Stratified 5-Fold (CV ανά υποκείμενο):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  Πιο συντηρητικές εκτιμήσεις ROC-AUC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  Μεγαλύτερη διακύμανση (std ≈ 0.13–0.31)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  Αντικατοπτρίζει πραγματική γενίκευση σε νέα υποκείμενα</a:t>
            </a:r>
          </a:p>
          <a:p>
            <a:pPr>
              <a:spcBef>
                <a:spcPts val="4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Dataset B — Stratified 5-Fold (χωρίς subject IDs):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  Υψηλότερες εκτιμήσεις (XGB: 0.952 ± 0.015)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  Πολύ μικρότερη διακύμανση (std ≈ 0.01–0.03)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  Πιθανή διαρροή λόγω άγνωστης επικάλυψης υποκειμένων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⚠ Η σύγκριση A vs B είναι confounded: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  Διαφορετικό n, task, features, CV στρατηγική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  Δεν αποδίδεται διαφορά σε έναν μόνο παράγοντα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349240"/>
            <a:ext cx="5303520" cy="566928"/>
          </a:xfrm>
          <a:prstGeom prst="rect">
            <a:avLst/>
          </a:prstGeom>
          <a:solidFill>
            <a:srgbClr val="0056A0"/>
          </a:solidFill>
          <a:ln w="1905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Απάντηση RQ4: Ναι, ουσιαστική διαφορά εκτίμησης. Τα αποτελέσματα Dataset B ερμηνεύονται με επιφύλαξη λόγω πολλαπλών συγχυτικών παραγόντων.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0" y="1143000"/>
          <a:ext cx="5897879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0044"/>
                <a:gridCol w="1415491"/>
                <a:gridCol w="786384"/>
                <a:gridCol w="196596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Σενάριο</a:t>
                      </a:r>
                    </a:p>
                  </a:txBody>
                  <a:tcPr anchor="ctr">
                    <a:solidFill>
                      <a:srgbClr val="0056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ROC-AUC</a:t>
                      </a:r>
                    </a:p>
                  </a:txBody>
                  <a:tcPr anchor="ctr">
                    <a:solidFill>
                      <a:srgbClr val="0056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std</a:t>
                      </a:r>
                    </a:p>
                  </a:txBody>
                  <a:tcPr anchor="ctr">
                    <a:solidFill>
                      <a:srgbClr val="0056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 Στρατηγική</a:t>
                      </a:r>
                    </a:p>
                  </a:txBody>
                  <a:tcPr anchor="ctr">
                    <a:solidFill>
                      <a:srgbClr val="0056A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 · Read (base)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0.717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±0.139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Grouped Stratified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 · Read (ext)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±0.153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Grouped Stratified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 · Spont (base)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0.828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±0.148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Grouped Stratified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 · Spont (ext)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±0.171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Grouped Stratified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 · baseline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6C00"/>
                          </a:solidFill>
                          <a:latin typeface="Calibri"/>
                        </a:defRPr>
                      </a:pPr>
                      <a:r>
                        <a:t>0.952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±0.015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Stratified (no IDs)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 · extended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6C00"/>
                          </a:solidFill>
                          <a:latin typeface="Calibri"/>
                        </a:defRPr>
                      </a:pPr>
                      <a:r>
                        <a:t>0.952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±0.015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Stratified (no IDs)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035040" y="3712464"/>
            <a:ext cx="5897880" cy="640080"/>
          </a:xfrm>
          <a:prstGeom prst="rect">
            <a:avLst/>
          </a:prstGeom>
          <a:solidFill>
            <a:srgbClr val="FFF3E0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250" b="1" i="0">
                <a:solidFill>
                  <a:srgbClr val="1A1A1A"/>
                </a:solidFill>
                <a:latin typeface="Calibri"/>
              </a:defRPr>
            </a:pPr>
            <a:r>
              <a:t>⚠ Dataset B: Subject IDs άγνωστα → πιθανή διαρροή train/test · Εκτιμήσεις ενδεχομένως αισιόδοξες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55664"/>
            <a:ext cx="11247120" cy="914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86C00"/>
                </a:solidFill>
                <a:latin typeface="Calibri"/>
              </a:defRPr>
            </a:pPr>
            <a:r>
              <a:t>Διπλωματική Εργασία — Μάρτιος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>
              <a:defRPr sz="2700" b="1">
                <a:solidFill>
                  <a:srgbClr val="FFFFFF"/>
                </a:solidFill>
                <a:latin typeface="Calibri"/>
              </a:defRPr>
            </a:pPr>
            <a:r>
              <a:t>RQ5 — Διαφέρει η απόδοση μεταξύ Read Speech και Spontaneous Speech;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41832"/>
            <a:ext cx="12191695" cy="228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defRPr sz="1300" b="0" i="0">
                <a:solidFill>
                  <a:srgbClr val="1A1A1A"/>
                </a:solidFill>
                <a:latin typeface="Calibri"/>
              </a:defRPr>
            </a:pPr>
            <a:r>
              <a:t>Και οι 2 εργασίες: χρήσιμη πληροφορία για PD/HC</a:t>
            </a:r>
          </a:p>
          <a:p>
            <a:pPr>
              <a:spcBef>
                <a:spcPts val="4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Best ROC-AUC: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  ReadText (ext):      SVM 0.834 ± 0.153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  Spontaneous (ext):   RF  0.857 ± 0.171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  → Spontaneous οριακά ανώτερο (Δ ≈ +0.023)</a:t>
            </a:r>
          </a:p>
          <a:p>
            <a:pPr>
              <a:spcBef>
                <a:spcPts val="400"/>
              </a:spcBef>
              <a:defRPr sz="1300" b="1">
                <a:solidFill>
                  <a:srgbClr val="002B5C"/>
                </a:solidFill>
                <a:latin typeface="Calibri"/>
              </a:defRPr>
            </a:pPr>
            <a:r>
              <a:t>Επέκταση 47→78 features: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  ReadText:      μεγάλη βελτίωση  (+0.22 SVM, +0.23 RF)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  Spontaneous:   μικρή / ασταθής  (+0.03 RF, −0.04 XGB)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ReadText ωφελείται περισσότερο από επέκταση features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Spontaneous φαίνεται πιο ανθεκτικό σε αλλαγές feature set</a:t>
            </a:r>
          </a:p>
          <a:p>
            <a:pPr>
              <a:spcBef>
                <a:spcPts val="1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(πιο σταθερό LR/RF, ασταθές SVM ανεξαρτήτως feature set)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349240"/>
            <a:ext cx="5394960" cy="566928"/>
          </a:xfrm>
          <a:prstGeom prst="rect">
            <a:avLst/>
          </a:prstGeom>
          <a:solidFill>
            <a:srgbClr val="0056A0"/>
          </a:solidFill>
          <a:ln w="1905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Απάντηση RQ5: Ναι, διαφορές υπάρχουν. Spontaneous ≥ ReadText best ROC-AUC. ReadText ωφελείται σαφώς από feature expansion· Spontaneous πιο σταθερό.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80760" y="1143000"/>
          <a:ext cx="5852159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043"/>
                <a:gridCol w="1064029"/>
                <a:gridCol w="1064029"/>
                <a:gridCol w="1064029"/>
                <a:gridCol w="1064029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056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ReadText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47 feat.</a:t>
                      </a:r>
                    </a:p>
                  </a:txBody>
                  <a:tcPr anchor="ctr">
                    <a:solidFill>
                      <a:srgbClr val="0056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ReadText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78 feat.</a:t>
                      </a:r>
                    </a:p>
                  </a:txBody>
                  <a:tcPr anchor="ctr">
                    <a:solidFill>
                      <a:srgbClr val="0056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Spont.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47 feat.</a:t>
                      </a:r>
                    </a:p>
                  </a:txBody>
                  <a:tcPr anchor="ctr">
                    <a:solidFill>
                      <a:srgbClr val="0056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Spont.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78 feat.</a:t>
                      </a:r>
                    </a:p>
                  </a:txBody>
                  <a:tcPr anchor="ctr">
                    <a:solidFill>
                      <a:srgbClr val="0056A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LogReg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0.717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0.698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0.783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0.590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6C00"/>
                          </a:solidFill>
                          <a:latin typeface="Calibri"/>
                        </a:defRPr>
                      </a:pPr>
                      <a:r>
                        <a:t>0.822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6C00"/>
                          </a:solidFill>
                          <a:latin typeface="Calibri"/>
                        </a:defRPr>
                      </a:pPr>
                      <a:r>
                        <a:t>0.857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SVM RBF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0.614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6C00"/>
                          </a:solidFill>
                          <a:latin typeface="Calibri"/>
                        </a:defRPr>
                      </a:pPr>
                      <a:r>
                        <a:t>0.834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0.407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0.460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GradBoost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0.615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0.638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0.628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0.794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0.723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0.687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80760" y="3319272"/>
            <a:ext cx="5852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66666"/>
                </a:solidFill>
                <a:latin typeface="Calibri"/>
              </a:defRPr>
            </a:pPr>
            <a:r>
              <a:t>ROC-AUC mean per model (unweighted) — best per column highlighted  |  Source: thesis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3666744"/>
            <a:ext cx="5852160" cy="502920"/>
          </a:xfrm>
          <a:prstGeom prst="rect">
            <a:avLst/>
          </a:prstGeom>
          <a:solidFill>
            <a:srgbClr val="FFF3E0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250" b="1" i="0">
                <a:solidFill>
                  <a:srgbClr val="1A1A1A"/>
                </a:solidFill>
                <a:latin typeface="Calibri"/>
              </a:defRPr>
            </a:pPr>
            <a:r>
              <a:t>⚠ ReadText n=37, SpontaneousDialogue n=36 subjects (Dataset A) — small N, wide CIs, interpret cautiously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55664"/>
            <a:ext cx="11247120" cy="914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1247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86C00"/>
                </a:solidFill>
                <a:latin typeface="Calibri"/>
              </a:defRPr>
            </a:pPr>
            <a:r>
              <a:t>Διπλωματική Εργασία — Μάρτιος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