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committee. Wait for readiness before proceeding.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spend about 25 minutes, with most time on methodology and results. I'll keep discussion of limitations honest and transparent. Transition: Let's start with why this problem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voice is a non-invasive, low-cost, remotely collectible biomarker. The diagram shows clinical speech assessment across PD stages. Transition: This creates an opportunity for computational analysis.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waveform comparison shows visible differences between HC and PD speech signals. Signal differences are real and measurable, but extracting reliable features and avoiding methodological pitfalls is harder than it looks. Transition: What does the literature say?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questions structure all 300 experiments. Each RQ will be answered with specific evidence in the results section. Transition: Before showing how I addressed these, let me summarize the literature gap.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field has a reproducibility and overfitting problem. Many studies report inflated accuracy without proper validation. Transition: This is the gap I address.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not claiming to beat the state of the art. I'm claiming to do it correctly and transparently. This is the core differentiator. Transition: Let me describe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small sample is a limitation I'll address, but subject IDs are critical — they let us prevent data leakage. Transition: The second dataset is very different.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B gives us higher statistical power but weaker methodological guarantees. This contrast is itself a finding. Transition: Now, how did I process the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pipelines, kept strictly separate. Dataset A goes through our feature extraction; Dataset B skips it. Both feed into the same 5 classifiers with identical evaluation. Transition: Let me detail the feature extraction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set captures phonatory dysfunction (jitter, shimmer) and spectral characteristics (MFCCs). The extension adds variability and higher-order dynamics. Tools: Parselmouth (Praat), librosa. Fixed parameters: 22050 Hz, seed 42. Transition: These features feed into five classifiers.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hyperparameter tuning is a deliberate choice. At n=37, nested CV would be unreliable and introduce more variance than it reduces (Varma &amp; Simon 2006). This is a conservative baseline. All pipelines include StandardScaler. Transition: How did I validate?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methodological decision. Grouped CV is what separates a reliable estimate from an inflated one. Most studies in the literature don't do this. Transition: Now let me describe the full experimental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factorial design lets me isolate the effect of each factor. 4 conditions × 5 models × 3 datasets/tasks × 5 folds = 300 total runs. I report ALL 300 runs, not just the best. Transition: What did we find?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into the results section — the core of the defense.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Classical ML achieves meaningful discrimination. RF is most robust. Notice the variance: ±0.17 on Dataset A vs ±0.015 on Dataset B. Transition: Let me show the ROC curves.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ReadText: SVM and RF dominate; LR moderate; GB weakest. SpontaneousDialogue: RF clearly best; SVM collapses to ~0.46. The spread between curves shows model sensitivity to the task. Transition: What about Dataset 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B curves are tightly clustered — easier task or data leakage. Confusion matrices show where errors cluster: false negatives (PD→HC) are the main issue — clinically the more dangerous error. Transition: Now let me isolate the feature extension effect — RQ2.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finding: Feature extension dramatically improved ReadText (up to +23.2 pp) but had minimal effect on SpontaneousDialogue. Structured reading needs richer features; spontaneous speech naturally encodes PD cues through prosodic variation. Transition: What about class weighting?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weighting provided no consistent benefit at ~1.3:1 imbalance. LR, SVM, GB, XGBoost all show negligible or negative effect. Useful negative evidence: practitioners shouldn't default to balanced weighting. Transition: Cross-dataset comparison and variance.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gap is real but confounded: different sample size (37 vs 756), CV strategy, speech task, features, class balance. Cannot attribute to single factor. Dataset B's low variance suggests possible within-subject leakage.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MFCCs dominate (~28–32% of total importance). Pitch (F₀ max) is top-1 for ReadText. Shimmer (APQ11) is top-2 for SpontaneousDialogue. Cross-task stable features: delta_mfcc_2, autocorr_harmonicity, f0_mean, shimmer_apq. Transition: Permutation importance heatmaps.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Permutation importance measures actual predictive contribution. Sparse activation: a handful of features do most of the work. RF and XGBoost share similar importance profiles. GB importance is more concentrated on fewer features. Transition: Let me address the limitations honestly.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limitation has a mitigation or justification documented in the thesis. Being explicit about what this study cannot claim is a strength. Transition: Despite these, the contributions are clear.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 voice-based PD classification is feasible with classical ML, but methodological rigor matters more than model sophistication. This work provides a transparent, reproducible baseline.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concludes that voice-based PD classification is scientifically substantiated but not yet ready for clinical use.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Full C4 results for all 5 models across both Dataset A tasks.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Full results for Dataset B. XGBoost achieves best ROC-AUC 0.952.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committee asks about the SVM anomaly. Key point: SVM-RBF collapses when feature-to-sample ratio is unfavorable AND the data has high within-class variance.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Flask web app wrapping the trained RF model. Accepts audio upload or microphone recording. Extracts features → runs inference → displays result with confidence. Research prototype for thesis defense demonstration only.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ReadText ROC-AUC table across all 4 conditions. Shows C1→C3 improvement clearly for SVM, RF, GB.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pic>
        <p:nvPicPr>
          <p:cNvPr id="2" name="Picture 1" descr="ntua-logo.png"/>
          <p:cNvPicPr>
            <a:picLocks noChangeAspect="1"/>
          </p:cNvPicPr>
          <p:nvPr/>
        </p:nvPicPr>
        <p:blipFill>
          <a:blip r:embed="rId2"/>
          <a:stretch>
            <a:fillRect/>
          </a:stretch>
        </p:blipFill>
        <p:spPr>
          <a:xfrm>
            <a:off x="5120640" y="365760"/>
            <a:ext cx="1367983" cy="1371600"/>
          </a:xfrm>
          <a:prstGeom prst="rect">
            <a:avLst/>
          </a:prstGeom>
        </p:spPr>
      </p:pic>
      <p:sp>
        <p:nvSpPr>
          <p:cNvPr id="3" name="TextBox 2"/>
          <p:cNvSpPr txBox="1"/>
          <p:nvPr/>
        </p:nvSpPr>
        <p:spPr>
          <a:xfrm>
            <a:off x="914400" y="1828800"/>
            <a:ext cx="10362895" cy="1920240"/>
          </a:xfrm>
          <a:prstGeom prst="rect">
            <a:avLst/>
          </a:prstGeom>
          <a:noFill/>
        </p:spPr>
        <p:txBody>
          <a:bodyPr wrap="square">
            <a:spAutoFit/>
          </a:bodyPr>
          <a:lstStyle/>
          <a:p>
            <a:pPr algn="ctr">
              <a:defRPr sz="3400" b="1">
                <a:solidFill>
                  <a:srgbClr val="FFFFFF"/>
                </a:solidFill>
                <a:latin typeface="Calibri"/>
              </a:defRPr>
            </a:pPr>
            <a:r>
              <a:t>Voice-Based Classification of</a:t>
            </a:r>
            <a:br/>
            <a:r>
              <a:t>Parkinson's Disease Using</a:t>
            </a:r>
            <a:br/>
            <a:r>
              <a:t>Classical Machine Learning</a:t>
            </a:r>
          </a:p>
        </p:txBody>
      </p:sp>
      <p:sp>
        <p:nvSpPr>
          <p:cNvPr id="4" name="TextBox 3"/>
          <p:cNvSpPr txBox="1"/>
          <p:nvPr/>
        </p:nvSpPr>
        <p:spPr>
          <a:xfrm>
            <a:off x="914400" y="4343400"/>
            <a:ext cx="10362895" cy="274320"/>
          </a:xfrm>
          <a:prstGeom prst="rect">
            <a:avLst/>
          </a:prstGeom>
          <a:noFill/>
        </p:spPr>
        <p:txBody>
          <a:bodyPr wrap="square">
            <a:spAutoFit/>
          </a:bodyPr>
          <a:lstStyle/>
          <a:p>
            <a:pPr algn="ctr">
              <a:defRPr sz="1200" b="0">
                <a:solidFill>
                  <a:srgbClr val="E86C00"/>
                </a:solidFill>
                <a:latin typeface="Calibri"/>
              </a:defRPr>
            </a:pPr>
            <a:r>
              <a:t>Research Demonstration — Not for clinical use</a:t>
            </a:r>
          </a:p>
        </p:txBody>
      </p:sp>
      <p:sp>
        <p:nvSpPr>
          <p:cNvPr id="5" name="Rectangle 4"/>
          <p:cNvSpPr/>
          <p:nvPr/>
        </p:nvSpPr>
        <p:spPr>
          <a:xfrm>
            <a:off x="3657600" y="4206240"/>
            <a:ext cx="48764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72000"/>
            <a:ext cx="10362895" cy="457200"/>
          </a:xfrm>
          <a:prstGeom prst="rect">
            <a:avLst/>
          </a:prstGeom>
          <a:noFill/>
        </p:spPr>
        <p:txBody>
          <a:bodyPr wrap="square">
            <a:spAutoFit/>
          </a:bodyPr>
          <a:lstStyle/>
          <a:p>
            <a:pPr algn="ctr">
              <a:defRPr sz="2000" b="0">
                <a:solidFill>
                  <a:srgbClr val="D6E8F7"/>
                </a:solidFill>
                <a:latin typeface="Calibri"/>
              </a:defRPr>
            </a:pPr>
            <a:r>
              <a:t>Author: Μάριος Χρήστος Συρμακέζης</a:t>
            </a:r>
          </a:p>
        </p:txBody>
      </p:sp>
      <p:sp>
        <p:nvSpPr>
          <p:cNvPr id="7" name="TextBox 6"/>
          <p:cNvSpPr txBox="1"/>
          <p:nvPr/>
        </p:nvSpPr>
        <p:spPr>
          <a:xfrm>
            <a:off x="914400" y="4892040"/>
            <a:ext cx="10362895" cy="411480"/>
          </a:xfrm>
          <a:prstGeom prst="rect">
            <a:avLst/>
          </a:prstGeom>
          <a:noFill/>
        </p:spPr>
        <p:txBody>
          <a:bodyPr wrap="square">
            <a:spAutoFit/>
          </a:bodyPr>
          <a:lstStyle/>
          <a:p>
            <a:pPr algn="ctr">
              <a:defRPr sz="1800" b="0">
                <a:solidFill>
                  <a:srgbClr val="D6E8F7"/>
                </a:solidFill>
                <a:latin typeface="Calibri"/>
              </a:defRPr>
            </a:pPr>
            <a:r>
              <a:t>MSc Thesis Defense</a:t>
            </a:r>
          </a:p>
        </p:txBody>
      </p:sp>
      <p:sp>
        <p:nvSpPr>
          <p:cNvPr id="8" name="TextBox 7"/>
          <p:cNvSpPr txBox="1"/>
          <p:nvPr/>
        </p:nvSpPr>
        <p:spPr>
          <a:xfrm>
            <a:off x="914400" y="5303520"/>
            <a:ext cx="10362895" cy="457200"/>
          </a:xfrm>
          <a:prstGeom prst="rect">
            <a:avLst/>
          </a:prstGeom>
          <a:noFill/>
        </p:spPr>
        <p:txBody>
          <a:bodyPr wrap="square">
            <a:spAutoFit/>
          </a:bodyPr>
          <a:lstStyle/>
          <a:p>
            <a:pPr algn="ctr">
              <a:defRPr sz="1600" b="0">
                <a:solidFill>
                  <a:srgbClr val="999999"/>
                </a:solidFill>
                <a:latin typeface="Calibri"/>
              </a:defRPr>
            </a:pPr>
            <a:r>
              <a:t>National Technical University of Athens</a:t>
            </a:r>
          </a:p>
        </p:txBody>
      </p:sp>
      <p:sp>
        <p:nvSpPr>
          <p:cNvPr id="9" name="TextBox 8"/>
          <p:cNvSpPr txBox="1"/>
          <p:nvPr/>
        </p:nvSpPr>
        <p:spPr>
          <a:xfrm>
            <a:off x="914400" y="5715000"/>
            <a:ext cx="10362895" cy="457200"/>
          </a:xfrm>
          <a:prstGeom prst="rect">
            <a:avLst/>
          </a:prstGeom>
          <a:noFill/>
        </p:spPr>
        <p:txBody>
          <a:bodyPr wrap="square">
            <a:spAutoFit/>
          </a:bodyPr>
          <a:lstStyle/>
          <a:p>
            <a:pPr algn="ctr">
              <a:defRPr sz="1600" b="0">
                <a:solidFill>
                  <a:srgbClr val="999999"/>
                </a:solidFill>
                <a:latin typeface="Calibri"/>
              </a:defRPr>
            </a:pPr>
            <a: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Presentation Outline</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1247120" cy="5120640"/>
          </a:xfrm>
          <a:prstGeom prst="rect">
            <a:avLst/>
          </a:prstGeom>
          <a:noFill/>
        </p:spPr>
        <p:txBody>
          <a:bodyPr wrap="square">
            <a:spAutoFit/>
          </a:bodyPr>
          <a:lstStyle/>
          <a:p>
            <a:pPr algn="l">
              <a:spcBef>
                <a:spcPts val="600"/>
              </a:spcBef>
              <a:spcAft>
                <a:spcPts val="300"/>
              </a:spcAft>
              <a:defRPr sz="1800" b="0">
                <a:solidFill>
                  <a:srgbClr val="1A1A1A"/>
                </a:solidFill>
                <a:latin typeface="Calibri"/>
              </a:defRPr>
            </a:pPr>
            <a:r>
              <a:t>1. Introduction &amp; Motivation</a:t>
            </a:r>
          </a:p>
          <a:p>
            <a:pPr>
              <a:spcBef>
                <a:spcPts val="600"/>
              </a:spcBef>
              <a:spcAft>
                <a:spcPts val="300"/>
              </a:spcAft>
              <a:defRPr sz="1800">
                <a:solidFill>
                  <a:srgbClr val="1A1A1A"/>
                </a:solidFill>
                <a:latin typeface="Calibri"/>
              </a:defRPr>
            </a:pPr>
            <a:r>
              <a:t>2. Related Work &amp; Research Gap</a:t>
            </a:r>
          </a:p>
          <a:p>
            <a:pPr>
              <a:spcBef>
                <a:spcPts val="600"/>
              </a:spcBef>
              <a:spcAft>
                <a:spcPts val="300"/>
              </a:spcAft>
              <a:defRPr sz="1800">
                <a:solidFill>
                  <a:srgbClr val="1A1A1A"/>
                </a:solidFill>
                <a:latin typeface="Calibri"/>
              </a:defRPr>
            </a:pPr>
            <a:r>
              <a:t>3. Datasets</a:t>
            </a:r>
          </a:p>
          <a:p>
            <a:pPr>
              <a:spcBef>
                <a:spcPts val="600"/>
              </a:spcBef>
              <a:spcAft>
                <a:spcPts val="300"/>
              </a:spcAft>
              <a:defRPr sz="1800">
                <a:solidFill>
                  <a:srgbClr val="1A1A1A"/>
                </a:solidFill>
                <a:latin typeface="Calibri"/>
              </a:defRPr>
            </a:pPr>
            <a:r>
              <a:t>4. Methodology (Feature Extraction + ML Pipeline)</a:t>
            </a:r>
          </a:p>
          <a:p>
            <a:pPr>
              <a:spcBef>
                <a:spcPts val="600"/>
              </a:spcBef>
              <a:spcAft>
                <a:spcPts val="300"/>
              </a:spcAft>
              <a:defRPr sz="1800">
                <a:solidFill>
                  <a:srgbClr val="1A1A1A"/>
                </a:solidFill>
                <a:latin typeface="Calibri"/>
              </a:defRPr>
            </a:pPr>
            <a:r>
              <a:t>5. Experimental Design (2×2×5 Factorial)</a:t>
            </a:r>
          </a:p>
          <a:p>
            <a:pPr>
              <a:spcBef>
                <a:spcPts val="600"/>
              </a:spcBef>
              <a:spcAft>
                <a:spcPts val="300"/>
              </a:spcAft>
              <a:defRPr sz="1800">
                <a:solidFill>
                  <a:srgbClr val="1A1A1A"/>
                </a:solidFill>
                <a:latin typeface="Calibri"/>
              </a:defRPr>
            </a:pPr>
            <a:r>
              <a:t>6. Results (ROC-AUC, Ablation, Class Weighting)</a:t>
            </a:r>
          </a:p>
          <a:p>
            <a:pPr>
              <a:spcBef>
                <a:spcPts val="600"/>
              </a:spcBef>
              <a:spcAft>
                <a:spcPts val="300"/>
              </a:spcAft>
              <a:defRPr sz="1800">
                <a:solidFill>
                  <a:srgbClr val="1A1A1A"/>
                </a:solidFill>
                <a:latin typeface="Calibri"/>
              </a:defRPr>
            </a:pPr>
            <a:r>
              <a:t>7. Discussion &amp; Feature Importance</a:t>
            </a:r>
          </a:p>
          <a:p>
            <a:pPr>
              <a:spcBef>
                <a:spcPts val="600"/>
              </a:spcBef>
              <a:spcAft>
                <a:spcPts val="300"/>
              </a:spcAft>
              <a:defRPr sz="1800">
                <a:solidFill>
                  <a:srgbClr val="1A1A1A"/>
                </a:solidFill>
                <a:latin typeface="Calibri"/>
              </a:defRPr>
            </a:pPr>
            <a:r>
              <a:t>8. Limitations, Conclusion &amp; Future Work</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Parkinson's Disease &amp; Speech Impairment</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6888175" cy="5120640"/>
          </a:xfrm>
          <a:prstGeom prst="rect">
            <a:avLst/>
          </a:prstGeom>
          <a:noFill/>
        </p:spPr>
        <p:txBody>
          <a:bodyPr wrap="square">
            <a:spAutoFit/>
          </a:bodyPr>
          <a:lstStyle/>
          <a:p>
            <a:pPr algn="l">
              <a:spcBef>
                <a:spcPts val="600"/>
              </a:spcBef>
              <a:spcAft>
                <a:spcPts val="300"/>
              </a:spcAft>
              <a:defRPr sz="1800" b="0">
                <a:solidFill>
                  <a:srgbClr val="1A1A1A"/>
                </a:solidFill>
                <a:latin typeface="Calibri"/>
              </a:defRPr>
            </a:pPr>
            <a:r>
              <a:t>PD: 2nd most common neurodegenerative disease (~10M worldwide)</a:t>
            </a:r>
          </a:p>
          <a:p>
            <a:pPr>
              <a:spcBef>
                <a:spcPts val="600"/>
              </a:spcBef>
              <a:spcAft>
                <a:spcPts val="300"/>
              </a:spcAft>
              <a:defRPr sz="1800">
                <a:solidFill>
                  <a:srgbClr val="1A1A1A"/>
                </a:solidFill>
                <a:latin typeface="Calibri"/>
              </a:defRPr>
            </a:pPr>
            <a:r>
              <a:t>70–90% of PD patients develop measurable speech disorders</a:t>
            </a:r>
          </a:p>
          <a:p>
            <a:pPr>
              <a:spcBef>
                <a:spcPts val="600"/>
              </a:spcBef>
              <a:spcAft>
                <a:spcPts val="300"/>
              </a:spcAft>
              <a:defRPr sz="1800">
                <a:solidFill>
                  <a:srgbClr val="1A1A1A"/>
                </a:solidFill>
                <a:latin typeface="Calibri"/>
              </a:defRPr>
            </a:pPr>
            <a:r>
              <a:t>Hypokinetic dysarthria: reduced loudness, monotone pitch, breathy quality</a:t>
            </a:r>
          </a:p>
          <a:p>
            <a:pPr>
              <a:spcBef>
                <a:spcPts val="600"/>
              </a:spcBef>
              <a:spcAft>
                <a:spcPts val="300"/>
              </a:spcAft>
              <a:defRPr sz="1800">
                <a:solidFill>
                  <a:srgbClr val="1A1A1A"/>
                </a:solidFill>
                <a:latin typeface="Calibri"/>
              </a:defRPr>
            </a:pPr>
            <a:r>
              <a:t>Voice changes can precede motor symptoms by years (Harel et al. 2004)</a:t>
            </a:r>
          </a:p>
          <a:p>
            <a:pPr>
              <a:spcBef>
                <a:spcPts val="600"/>
              </a:spcBef>
              <a:spcAft>
                <a:spcPts val="300"/>
              </a:spcAft>
              <a:defRPr sz="1800">
                <a:solidFill>
                  <a:srgbClr val="1A1A1A"/>
                </a:solidFill>
                <a:latin typeface="Calibri"/>
              </a:defRPr>
            </a:pPr>
            <a:r>
              <a:t>Current diagnosis: subjective clinical assessment — no objective biomarker</a:t>
            </a:r>
          </a:p>
        </p:txBody>
      </p:sp>
      <p:pic>
        <p:nvPicPr>
          <p:cNvPr id="5" name="Picture 4" descr="Speech_Language_Assessment_Parkinson_Disease_Diagram.png"/>
          <p:cNvPicPr>
            <a:picLocks noChangeAspect="1"/>
          </p:cNvPicPr>
          <p:nvPr/>
        </p:nvPicPr>
        <p:blipFill>
          <a:blip r:embed="rId2"/>
          <a:stretch>
            <a:fillRect/>
          </a:stretch>
        </p:blipFill>
        <p:spPr>
          <a:xfrm>
            <a:off x="7345375" y="1280160"/>
            <a:ext cx="4572000" cy="2212848"/>
          </a:xfrm>
          <a:prstGeom prst="rect">
            <a:avLst/>
          </a:prstGeom>
        </p:spPr>
      </p:pic>
      <p:sp>
        <p:nvSpPr>
          <p:cNvPr id="6" name="Rectangle 5"/>
          <p:cNvSpPr/>
          <p:nvPr/>
        </p:nvSpPr>
        <p:spPr>
          <a:xfrm>
            <a:off x="7345375" y="3547872"/>
            <a:ext cx="45720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Figure 1.1: Clinical speech-language assessment in PD | Ref: fig:speech-language-assessment-pd | Source: Adapted from Cao et al. (2025)</a:t>
            </a:r>
          </a:p>
        </p:txBody>
      </p:sp>
      <p:sp>
        <p:nvSpPr>
          <p:cNvPr id="7" name="Rectangle 6"/>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The Opportunity — Voice as a Biomarker</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6430975" cy="5120640"/>
          </a:xfrm>
          <a:prstGeom prst="rect">
            <a:avLst/>
          </a:prstGeom>
          <a:noFill/>
        </p:spPr>
        <p:txBody>
          <a:bodyPr wrap="square">
            <a:spAutoFit/>
          </a:bodyPr>
          <a:lstStyle/>
          <a:p>
            <a:pPr algn="l">
              <a:spcBef>
                <a:spcPts val="600"/>
              </a:spcBef>
              <a:spcAft>
                <a:spcPts val="300"/>
              </a:spcAft>
              <a:defRPr sz="1800" b="0">
                <a:solidFill>
                  <a:srgbClr val="1A1A1A"/>
                </a:solidFill>
                <a:latin typeface="Calibri"/>
              </a:defRPr>
            </a:pPr>
            <a:r>
              <a:t>Voice recordings capture PD-related acoustic changes objectively</a:t>
            </a:r>
          </a:p>
          <a:p>
            <a:pPr>
              <a:spcBef>
                <a:spcPts val="600"/>
              </a:spcBef>
              <a:spcAft>
                <a:spcPts val="300"/>
              </a:spcAft>
              <a:defRPr sz="1800">
                <a:solidFill>
                  <a:srgbClr val="1A1A1A"/>
                </a:solidFill>
                <a:latin typeface="Calibri"/>
              </a:defRPr>
            </a:pPr>
            <a:r>
              <a:t>Can be collected via smartphone — scalable screening potential</a:t>
            </a:r>
          </a:p>
          <a:p>
            <a:pPr>
              <a:spcBef>
                <a:spcPts val="600"/>
              </a:spcBef>
              <a:spcAft>
                <a:spcPts val="300"/>
              </a:spcAft>
              <a:defRPr sz="1800">
                <a:solidFill>
                  <a:srgbClr val="1A1A1A"/>
                </a:solidFill>
                <a:latin typeface="Calibri"/>
              </a:defRPr>
            </a:pPr>
            <a:r>
              <a:t>Acoustic features (jitter, shimmer, MFCCs, F₀) are quantifiable</a:t>
            </a:r>
          </a:p>
          <a:p>
            <a:pPr>
              <a:spcBef>
                <a:spcPts val="600"/>
              </a:spcBef>
              <a:spcAft>
                <a:spcPts val="300"/>
              </a:spcAft>
              <a:defRPr sz="1800">
                <a:solidFill>
                  <a:srgbClr val="1A1A1A"/>
                </a:solidFill>
                <a:latin typeface="Calibri"/>
              </a:defRPr>
            </a:pPr>
            <a:r>
              <a:t>Classical ML can classify PD vs HC from feature vectors</a:t>
            </a:r>
          </a:p>
          <a:p>
            <a:pPr>
              <a:spcBef>
                <a:spcPts val="600"/>
              </a:spcBef>
              <a:spcAft>
                <a:spcPts val="300"/>
              </a:spcAft>
              <a:defRPr sz="1800">
                <a:solidFill>
                  <a:srgbClr val="1A1A1A"/>
                </a:solidFill>
                <a:latin typeface="Calibri"/>
              </a:defRPr>
            </a:pPr>
            <a:r>
              <a:t>Growing literature — but persistent methodological problems</a:t>
            </a:r>
          </a:p>
        </p:txBody>
      </p:sp>
      <p:pic>
        <p:nvPicPr>
          <p:cNvPr id="5" name="Picture 4" descr="speech_signal_hc_vs_pd.png"/>
          <p:cNvPicPr>
            <a:picLocks noChangeAspect="1"/>
          </p:cNvPicPr>
          <p:nvPr/>
        </p:nvPicPr>
        <p:blipFill>
          <a:blip r:embed="rId2"/>
          <a:stretch>
            <a:fillRect/>
          </a:stretch>
        </p:blipFill>
        <p:spPr>
          <a:xfrm>
            <a:off x="6888175" y="1280160"/>
            <a:ext cx="5029200" cy="1869186"/>
          </a:xfrm>
          <a:prstGeom prst="rect">
            <a:avLst/>
          </a:prstGeom>
        </p:spPr>
      </p:pic>
      <p:sp>
        <p:nvSpPr>
          <p:cNvPr id="6" name="Rectangle 5"/>
          <p:cNvSpPr/>
          <p:nvPr/>
        </p:nvSpPr>
        <p:spPr>
          <a:xfrm>
            <a:off x="6888175" y="3204210"/>
            <a:ext cx="50292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Figure 2.1: Speech signal comparison (HC vs PD) | Ref: fig:speech-signal-hc-vs-pd | Source: Adapted from Little et al. (2009)</a:t>
            </a:r>
          </a:p>
        </p:txBody>
      </p:sp>
      <p:sp>
        <p:nvSpPr>
          <p:cNvPr id="7" name="Rectangle 6"/>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Research Questions</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1247120" cy="5120640"/>
          </a:xfrm>
          <a:prstGeom prst="rect">
            <a:avLst/>
          </a:prstGeom>
          <a:noFill/>
        </p:spPr>
        <p:txBody>
          <a:bodyPr wrap="square">
            <a:spAutoFit/>
          </a:bodyPr>
          <a:lstStyle/>
          <a:p>
            <a:pPr algn="l">
              <a:spcBef>
                <a:spcPts val="600"/>
              </a:spcBef>
              <a:spcAft>
                <a:spcPts val="300"/>
              </a:spcAft>
              <a:defRPr sz="1800" b="0">
                <a:solidFill>
                  <a:srgbClr val="1A1A1A"/>
                </a:solidFill>
                <a:latin typeface="Calibri"/>
              </a:defRPr>
            </a:pPr>
            <a:r>
              <a:t>RQ1: How well do classical ML models perform on PD voice classification?</a:t>
            </a:r>
          </a:p>
          <a:p>
            <a:pPr>
              <a:spcBef>
                <a:spcPts val="600"/>
              </a:spcBef>
              <a:spcAft>
                <a:spcPts val="300"/>
              </a:spcAft>
              <a:defRPr sz="1800">
                <a:solidFill>
                  <a:srgbClr val="1A1A1A"/>
                </a:solidFill>
                <a:latin typeface="Calibri"/>
              </a:defRPr>
            </a:pPr>
            <a:r>
              <a:t>RQ2: Does increasing features from 47 → 78 improve performance?</a:t>
            </a:r>
          </a:p>
          <a:p>
            <a:pPr>
              <a:spcBef>
                <a:spcPts val="600"/>
              </a:spcBef>
              <a:spcAft>
                <a:spcPts val="300"/>
              </a:spcAft>
              <a:defRPr sz="1800">
                <a:solidFill>
                  <a:srgbClr val="1A1A1A"/>
                </a:solidFill>
                <a:latin typeface="Calibri"/>
              </a:defRPr>
            </a:pPr>
            <a:r>
              <a:t>RQ3: Does balanced class weighting help with imbalanced data?</a:t>
            </a:r>
          </a:p>
          <a:p>
            <a:pPr>
              <a:spcBef>
                <a:spcPts val="600"/>
              </a:spcBef>
              <a:spcAft>
                <a:spcPts val="300"/>
              </a:spcAft>
              <a:defRPr sz="1800">
                <a:solidFill>
                  <a:srgbClr val="1A1A1A"/>
                </a:solidFill>
                <a:latin typeface="Calibri"/>
              </a:defRPr>
            </a:pPr>
            <a:r>
              <a:t>RQ4: Are there differences between subject-level CV and standard CV?</a:t>
            </a:r>
          </a:p>
          <a:p>
            <a:pPr>
              <a:spcBef>
                <a:spcPts val="600"/>
              </a:spcBef>
              <a:spcAft>
                <a:spcPts val="300"/>
              </a:spcAft>
              <a:defRPr sz="1800">
                <a:solidFill>
                  <a:srgbClr val="1A1A1A"/>
                </a:solidFill>
                <a:latin typeface="Calibri"/>
              </a:defRPr>
            </a:pPr>
            <a:r>
              <a:t>RQ5: Is there a performance difference between read vs spontaneous speech?</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Literature Review — Key Findings</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1247120" cy="5120640"/>
          </a:xfrm>
          <a:prstGeom prst="rect">
            <a:avLst/>
          </a:prstGeom>
          <a:noFill/>
        </p:spPr>
        <p:txBody>
          <a:bodyPr wrap="square">
            <a:spAutoFit/>
          </a:bodyPr>
          <a:lstStyle/>
          <a:p>
            <a:pPr algn="l">
              <a:spcBef>
                <a:spcPts val="600"/>
              </a:spcBef>
              <a:spcAft>
                <a:spcPts val="300"/>
              </a:spcAft>
              <a:defRPr sz="1800" b="0">
                <a:solidFill>
                  <a:srgbClr val="1A1A1A"/>
                </a:solidFill>
                <a:latin typeface="Calibri"/>
              </a:defRPr>
            </a:pPr>
            <a:r>
              <a:t>SVM historically dominant (~91% accuracy — Little et al. 2009)</a:t>
            </a:r>
          </a:p>
          <a:p>
            <a:pPr>
              <a:spcBef>
                <a:spcPts val="600"/>
              </a:spcBef>
              <a:spcAft>
                <a:spcPts val="300"/>
              </a:spcAft>
              <a:defRPr sz="1800">
                <a:solidFill>
                  <a:srgbClr val="1A1A1A"/>
                </a:solidFill>
                <a:latin typeface="Calibri"/>
              </a:defRPr>
            </a:pPr>
            <a:r>
              <a:t>~42% of 2020–2025 studies now use deep learning</a:t>
            </a:r>
          </a:p>
          <a:p>
            <a:pPr>
              <a:spcBef>
                <a:spcPts val="600"/>
              </a:spcBef>
              <a:spcAft>
                <a:spcPts val="300"/>
              </a:spcAft>
              <a:defRPr sz="1800">
                <a:solidFill>
                  <a:srgbClr val="1A1A1A"/>
                </a:solidFill>
                <a:latin typeface="Calibri"/>
              </a:defRPr>
            </a:pPr>
            <a:r>
              <a:t>External validation in &lt; 15% of studies</a:t>
            </a:r>
          </a:p>
          <a:p>
            <a:pPr>
              <a:spcBef>
                <a:spcPts val="600"/>
              </a:spcBef>
              <a:spcAft>
                <a:spcPts val="300"/>
              </a:spcAft>
              <a:defRPr sz="1800">
                <a:solidFill>
                  <a:srgbClr val="1A1A1A"/>
                </a:solidFill>
                <a:latin typeface="Calibri"/>
              </a:defRPr>
            </a:pPr>
            <a:r>
              <a:t>Interpretability (SHAP/LIME) in &lt; 10% of studies</a:t>
            </a:r>
          </a:p>
          <a:p>
            <a:pPr>
              <a:spcBef>
                <a:spcPts val="600"/>
              </a:spcBef>
              <a:spcAft>
                <a:spcPts val="300"/>
              </a:spcAft>
              <a:defRPr sz="1800">
                <a:solidFill>
                  <a:srgbClr val="1A1A1A"/>
                </a:solidFill>
                <a:latin typeface="Calibri"/>
              </a:defRPr>
            </a:pPr>
            <a:r>
              <a:t>94% focus on detection; &lt; 12% on progression monitoring</a:t>
            </a:r>
          </a:p>
          <a:p>
            <a:pPr>
              <a:spcBef>
                <a:spcPts val="600"/>
              </a:spcBef>
              <a:spcAft>
                <a:spcPts val="300"/>
              </a:spcAft>
              <a:defRPr sz="1800">
                <a:solidFill>
                  <a:srgbClr val="1A1A1A"/>
                </a:solidFill>
                <a:latin typeface="Calibri"/>
              </a:defRPr>
            </a:pPr>
            <a:r>
              <a:t>Reporting quality varies widely (Sedigh-Malekroodi 2025, Xavier 2025)</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Research Gap &amp; Thesis Positioning</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2752344"/>
        </p:xfrm>
        <a:graphic>
          <a:graphicData uri="http://schemas.openxmlformats.org/drawingml/2006/table">
            <a:tbl>
              <a:tblPr firstRow="1" bandRow="1">
                <a:tableStyleId>{5C22544A-7EE6-4342-B048-85BDC9FD1C3A}</a:tableStyleId>
              </a:tblPr>
              <a:tblGrid>
                <a:gridCol w="5623560"/>
                <a:gridCol w="5623560"/>
              </a:tblGrid>
              <a:tr h="393192">
                <a:tc>
                  <a:txBody>
                    <a:bodyPr/>
                    <a:lstStyle/>
                    <a:p>
                      <a:pPr algn="ctr">
                        <a:defRPr sz="1400" b="1">
                          <a:solidFill>
                            <a:srgbClr val="FFFFFF"/>
                          </a:solidFill>
                          <a:latin typeface="Calibri"/>
                        </a:defRPr>
                      </a:pPr>
                      <a:r>
                        <a:t>Common Practice</a:t>
                      </a:r>
                    </a:p>
                  </a:txBody>
                  <a:tcPr anchor="ctr">
                    <a:solidFill>
                      <a:srgbClr val="0056A0"/>
                    </a:solidFill>
                  </a:tcPr>
                </a:tc>
                <a:tc>
                  <a:txBody>
                    <a:bodyPr/>
                    <a:lstStyle/>
                    <a:p>
                      <a:pPr algn="ctr">
                        <a:defRPr sz="1400" b="1">
                          <a:solidFill>
                            <a:srgbClr val="FFFFFF"/>
                          </a:solidFill>
                          <a:latin typeface="Calibri"/>
                        </a:defRPr>
                      </a:pPr>
                      <a:r>
                        <a:t>This Thesis</a:t>
                      </a:r>
                    </a:p>
                  </a:txBody>
                  <a:tcPr anchor="ctr">
                    <a:solidFill>
                      <a:srgbClr val="0056A0"/>
                    </a:solidFill>
                  </a:tcPr>
                </a:tc>
              </a:tr>
              <a:tr h="393192">
                <a:tc>
                  <a:txBody>
                    <a:bodyPr/>
                    <a:lstStyle/>
                    <a:p>
                      <a:pPr algn="ctr">
                        <a:defRPr sz="1300">
                          <a:solidFill>
                            <a:srgbClr val="1A1A1A"/>
                          </a:solidFill>
                          <a:latin typeface="Calibri"/>
                        </a:defRPr>
                      </a:pPr>
                      <a:r>
                        <a:t>Random train/test split</a:t>
                      </a:r>
                    </a:p>
                  </a:txBody>
                  <a:tcPr anchor="ctr">
                    <a:solidFill>
                      <a:srgbClr val="F2F2F2"/>
                    </a:solidFill>
                  </a:tcPr>
                </a:tc>
                <a:tc>
                  <a:txBody>
                    <a:bodyPr/>
                    <a:lstStyle/>
                    <a:p>
                      <a:pPr algn="ctr">
                        <a:defRPr sz="1300">
                          <a:solidFill>
                            <a:srgbClr val="1A1A1A"/>
                          </a:solidFill>
                          <a:latin typeface="Calibri"/>
                        </a:defRPr>
                      </a:pPr>
                      <a:r>
                        <a:t>Grouped Stratified 5-Fold CV</a:t>
                      </a:r>
                    </a:p>
                  </a:txBody>
                  <a:tcPr anchor="ctr">
                    <a:solidFill>
                      <a:srgbClr val="F2F2F2"/>
                    </a:solidFill>
                  </a:tcPr>
                </a:tc>
              </a:tr>
              <a:tr h="393192">
                <a:tc>
                  <a:txBody>
                    <a:bodyPr/>
                    <a:lstStyle/>
                    <a:p>
                      <a:pPr algn="ctr">
                        <a:defRPr sz="1300">
                          <a:solidFill>
                            <a:srgbClr val="1A1A1A"/>
                          </a:solidFill>
                          <a:latin typeface="Calibri"/>
                        </a:defRPr>
                      </a:pPr>
                      <a:r>
                        <a:t>Report best result only</a:t>
                      </a:r>
                    </a:p>
                  </a:txBody>
                  <a:tcPr anchor="ctr">
                    <a:solidFill>
                      <a:srgbClr val="FFFFFF"/>
                    </a:solidFill>
                  </a:tcPr>
                </a:tc>
                <a:tc>
                  <a:txBody>
                    <a:bodyPr/>
                    <a:lstStyle/>
                    <a:p>
                      <a:pPr algn="ctr">
                        <a:defRPr sz="1300">
                          <a:solidFill>
                            <a:srgbClr val="1A1A1A"/>
                          </a:solidFill>
                          <a:latin typeface="Calibri"/>
                        </a:defRPr>
                      </a:pPr>
                      <a:r>
                        <a:t>All 300 experimental runs reported</a:t>
                      </a:r>
                    </a:p>
                  </a:txBody>
                  <a:tcPr anchor="ctr">
                    <a:solidFill>
                      <a:srgbClr val="FFFFFF"/>
                    </a:solidFill>
                  </a:tcPr>
                </a:tc>
              </a:tr>
              <a:tr h="393192">
                <a:tc>
                  <a:txBody>
                    <a:bodyPr/>
                    <a:lstStyle/>
                    <a:p>
                      <a:pPr algn="ctr">
                        <a:defRPr sz="1300">
                          <a:solidFill>
                            <a:srgbClr val="1A1A1A"/>
                          </a:solidFill>
                          <a:latin typeface="Calibri"/>
                        </a:defRPr>
                      </a:pPr>
                      <a:r>
                        <a:t>Tuned hyperparameters</a:t>
                      </a:r>
                    </a:p>
                  </a:txBody>
                  <a:tcPr anchor="ctr">
                    <a:solidFill>
                      <a:srgbClr val="F2F2F2"/>
                    </a:solidFill>
                  </a:tcPr>
                </a:tc>
                <a:tc>
                  <a:txBody>
                    <a:bodyPr/>
                    <a:lstStyle/>
                    <a:p>
                      <a:pPr algn="ctr">
                        <a:defRPr sz="1300">
                          <a:solidFill>
                            <a:srgbClr val="1A1A1A"/>
                          </a:solidFill>
                          <a:latin typeface="Calibri"/>
                        </a:defRPr>
                      </a:pPr>
                      <a:r>
                        <a:t>Fixed a priori parameters</a:t>
                      </a:r>
                    </a:p>
                  </a:txBody>
                  <a:tcPr anchor="ctr">
                    <a:solidFill>
                      <a:srgbClr val="F2F2F2"/>
                    </a:solidFill>
                  </a:tcPr>
                </a:tc>
              </a:tr>
              <a:tr h="393192">
                <a:tc>
                  <a:txBody>
                    <a:bodyPr/>
                    <a:lstStyle/>
                    <a:p>
                      <a:pPr algn="ctr">
                        <a:defRPr sz="1300">
                          <a:solidFill>
                            <a:srgbClr val="1A1A1A"/>
                          </a:solidFill>
                          <a:latin typeface="Calibri"/>
                        </a:defRPr>
                      </a:pPr>
                      <a:r>
                        <a:t>Single feature set</a:t>
                      </a:r>
                    </a:p>
                  </a:txBody>
                  <a:tcPr anchor="ctr">
                    <a:solidFill>
                      <a:srgbClr val="FFFFFF"/>
                    </a:solidFill>
                  </a:tcPr>
                </a:tc>
                <a:tc>
                  <a:txBody>
                    <a:bodyPr/>
                    <a:lstStyle/>
                    <a:p>
                      <a:pPr algn="ctr">
                        <a:defRPr sz="1300">
                          <a:solidFill>
                            <a:srgbClr val="1A1A1A"/>
                          </a:solidFill>
                          <a:latin typeface="Calibri"/>
                        </a:defRPr>
                      </a:pPr>
                      <a:r>
                        <a:t>Controlled ablation: 47 vs 78 features</a:t>
                      </a:r>
                    </a:p>
                  </a:txBody>
                  <a:tcPr anchor="ctr">
                    <a:solidFill>
                      <a:srgbClr val="FFFFFF"/>
                    </a:solidFill>
                  </a:tcPr>
                </a:tc>
              </a:tr>
              <a:tr h="393192">
                <a:tc>
                  <a:txBody>
                    <a:bodyPr/>
                    <a:lstStyle/>
                    <a:p>
                      <a:pPr algn="ctr">
                        <a:defRPr sz="1300">
                          <a:solidFill>
                            <a:srgbClr val="1A1A1A"/>
                          </a:solidFill>
                          <a:latin typeface="Calibri"/>
                        </a:defRPr>
                      </a:pPr>
                      <a:r>
                        <a:t>Ignore class imbalance</a:t>
                      </a:r>
                    </a:p>
                  </a:txBody>
                  <a:tcPr anchor="ctr">
                    <a:solidFill>
                      <a:srgbClr val="F2F2F2"/>
                    </a:solidFill>
                  </a:tcPr>
                </a:tc>
                <a:tc>
                  <a:txBody>
                    <a:bodyPr/>
                    <a:lstStyle/>
                    <a:p>
                      <a:pPr algn="ctr">
                        <a:defRPr sz="1300">
                          <a:solidFill>
                            <a:srgbClr val="1A1A1A"/>
                          </a:solidFill>
                          <a:latin typeface="Calibri"/>
                        </a:defRPr>
                      </a:pPr>
                      <a:r>
                        <a:t>Systematic class weighting analysis</a:t>
                      </a:r>
                    </a:p>
                  </a:txBody>
                  <a:tcPr anchor="ctr">
                    <a:solidFill>
                      <a:srgbClr val="F2F2F2"/>
                    </a:solidFill>
                  </a:tcPr>
                </a:tc>
              </a:tr>
              <a:tr h="393192">
                <a:tc>
                  <a:txBody>
                    <a:bodyPr/>
                    <a:lstStyle/>
                    <a:p>
                      <a:pPr algn="ctr">
                        <a:defRPr sz="1300">
                          <a:solidFill>
                            <a:srgbClr val="1A1A1A"/>
                          </a:solidFill>
                          <a:latin typeface="Calibri"/>
                        </a:defRPr>
                      </a:pPr>
                      <a:r>
                        <a:t>Minimal limitation discussion</a:t>
                      </a:r>
                    </a:p>
                  </a:txBody>
                  <a:tcPr anchor="ctr">
                    <a:solidFill>
                      <a:srgbClr val="FFFFFF"/>
                    </a:solidFill>
                  </a:tcPr>
                </a:tc>
                <a:tc>
                  <a:txBody>
                    <a:bodyPr/>
                    <a:lstStyle/>
                    <a:p>
                      <a:pPr algn="ctr">
                        <a:defRPr sz="1300">
                          <a:solidFill>
                            <a:srgbClr val="1A1A1A"/>
                          </a:solidFill>
                          <a:latin typeface="Calibri"/>
                        </a:defRPr>
                      </a:pPr>
                      <a:r>
                        <a:t>Full transparency on all limitations</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Literature gap vs thesis positioning | [custom-placeholder]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Dataset A — MDVR-KCL (Raw Audio)</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3145536"/>
        </p:xfrm>
        <a:graphic>
          <a:graphicData uri="http://schemas.openxmlformats.org/drawingml/2006/table">
            <a:tbl>
              <a:tblPr firstRow="1" bandRow="1">
                <a:tableStyleId>{5C22544A-7EE6-4342-B048-85BDC9FD1C3A}</a:tableStyleId>
              </a:tblPr>
              <a:tblGrid>
                <a:gridCol w="4217670"/>
                <a:gridCol w="7029450"/>
              </a:tblGrid>
              <a:tr h="393192">
                <a:tc>
                  <a:txBody>
                    <a:bodyPr/>
                    <a:lstStyle/>
                    <a:p>
                      <a:pPr algn="ctr">
                        <a:defRPr sz="1400" b="1">
                          <a:solidFill>
                            <a:srgbClr val="FFFFFF"/>
                          </a:solidFill>
                          <a:latin typeface="Calibri"/>
                        </a:defRPr>
                      </a:pPr>
                      <a:r>
                        <a:t>Property</a:t>
                      </a:r>
                    </a:p>
                  </a:txBody>
                  <a:tcPr anchor="ctr">
                    <a:solidFill>
                      <a:srgbClr val="0056A0"/>
                    </a:solidFill>
                  </a:tcPr>
                </a:tc>
                <a:tc>
                  <a:txBody>
                    <a:bodyPr/>
                    <a:lstStyle/>
                    <a:p>
                      <a:pPr algn="ctr">
                        <a:defRPr sz="1400" b="1">
                          <a:solidFill>
                            <a:srgbClr val="FFFFFF"/>
                          </a:solidFill>
                          <a:latin typeface="Calibri"/>
                        </a:defRPr>
                      </a:pPr>
                      <a:r>
                        <a:t>Value</a:t>
                      </a:r>
                    </a:p>
                  </a:txBody>
                  <a:tcPr anchor="ctr">
                    <a:solidFill>
                      <a:srgbClr val="0056A0"/>
                    </a:solidFill>
                  </a:tcPr>
                </a:tc>
              </a:tr>
              <a:tr h="393192">
                <a:tc>
                  <a:txBody>
                    <a:bodyPr/>
                    <a:lstStyle/>
                    <a:p>
                      <a:pPr algn="ctr">
                        <a:defRPr sz="1300">
                          <a:solidFill>
                            <a:srgbClr val="1A1A1A"/>
                          </a:solidFill>
                          <a:latin typeface="Calibri"/>
                        </a:defRPr>
                      </a:pPr>
                      <a:r>
                        <a:t>Source</a:t>
                      </a:r>
                    </a:p>
                  </a:txBody>
                  <a:tcPr anchor="ctr">
                    <a:solidFill>
                      <a:srgbClr val="F2F2F2"/>
                    </a:solidFill>
                  </a:tcPr>
                </a:tc>
                <a:tc>
                  <a:txBody>
                    <a:bodyPr/>
                    <a:lstStyle/>
                    <a:p>
                      <a:pPr algn="ctr">
                        <a:defRPr sz="1300">
                          <a:solidFill>
                            <a:srgbClr val="1A1A1A"/>
                          </a:solidFill>
                          <a:latin typeface="Calibri"/>
                        </a:defRPr>
                      </a:pPr>
                      <a:r>
                        <a:t>King's College London (Zenodo)</a:t>
                      </a:r>
                    </a:p>
                  </a:txBody>
                  <a:tcPr anchor="ctr">
                    <a:solidFill>
                      <a:srgbClr val="F2F2F2"/>
                    </a:solidFill>
                  </a:tcPr>
                </a:tc>
              </a:tr>
              <a:tr h="393192">
                <a:tc>
                  <a:txBody>
                    <a:bodyPr/>
                    <a:lstStyle/>
                    <a:p>
                      <a:pPr algn="ctr">
                        <a:defRPr sz="1300">
                          <a:solidFill>
                            <a:srgbClr val="1A1A1A"/>
                          </a:solidFill>
                          <a:latin typeface="Calibri"/>
                        </a:defRPr>
                      </a:pPr>
                      <a:r>
                        <a:t>Format</a:t>
                      </a:r>
                    </a:p>
                  </a:txBody>
                  <a:tcPr anchor="ctr">
                    <a:solidFill>
                      <a:srgbClr val="FFFFFF"/>
                    </a:solidFill>
                  </a:tcPr>
                </a:tc>
                <a:tc>
                  <a:txBody>
                    <a:bodyPr/>
                    <a:lstStyle/>
                    <a:p>
                      <a:pPr algn="ctr">
                        <a:defRPr sz="1300">
                          <a:solidFill>
                            <a:srgbClr val="1A1A1A"/>
                          </a:solidFill>
                          <a:latin typeface="Calibri"/>
                        </a:defRPr>
                      </a:pPr>
                      <a:r>
                        <a:t>WAV PCM, mono, 16-bit, 44.1 kHz</a:t>
                      </a:r>
                    </a:p>
                  </a:txBody>
                  <a:tcPr anchor="ctr">
                    <a:solidFill>
                      <a:srgbClr val="FFFFFF"/>
                    </a:solidFill>
                  </a:tcPr>
                </a:tc>
              </a:tr>
              <a:tr h="393192">
                <a:tc>
                  <a:txBody>
                    <a:bodyPr/>
                    <a:lstStyle/>
                    <a:p>
                      <a:pPr algn="ctr">
                        <a:defRPr sz="1300">
                          <a:solidFill>
                            <a:srgbClr val="1A1A1A"/>
                          </a:solidFill>
                          <a:latin typeface="Calibri"/>
                        </a:defRPr>
                      </a:pPr>
                      <a:r>
                        <a:t>ReadText Subjects</a:t>
                      </a:r>
                    </a:p>
                  </a:txBody>
                  <a:tcPr anchor="ctr">
                    <a:solidFill>
                      <a:srgbClr val="F2F2F2"/>
                    </a:solidFill>
                  </a:tcPr>
                </a:tc>
                <a:tc>
                  <a:txBody>
                    <a:bodyPr/>
                    <a:lstStyle/>
                    <a:p>
                      <a:pPr algn="ctr">
                        <a:defRPr sz="1300">
                          <a:solidFill>
                            <a:srgbClr val="1A1A1A"/>
                          </a:solidFill>
                          <a:latin typeface="Calibri"/>
                        </a:defRPr>
                      </a:pPr>
                      <a:r>
                        <a:t>37 (21 HC, 16 PD)</a:t>
                      </a:r>
                    </a:p>
                  </a:txBody>
                  <a:tcPr anchor="ctr">
                    <a:solidFill>
                      <a:srgbClr val="F2F2F2"/>
                    </a:solidFill>
                  </a:tcPr>
                </a:tc>
              </a:tr>
              <a:tr h="393192">
                <a:tc>
                  <a:txBody>
                    <a:bodyPr/>
                    <a:lstStyle/>
                    <a:p>
                      <a:pPr algn="ctr">
                        <a:defRPr sz="1300">
                          <a:solidFill>
                            <a:srgbClr val="1A1A1A"/>
                          </a:solidFill>
                          <a:latin typeface="Calibri"/>
                        </a:defRPr>
                      </a:pPr>
                      <a:r>
                        <a:t>SpontaneousDialogue Subjects</a:t>
                      </a:r>
                    </a:p>
                  </a:txBody>
                  <a:tcPr anchor="ctr">
                    <a:solidFill>
                      <a:srgbClr val="FFFFFF"/>
                    </a:solidFill>
                  </a:tcPr>
                </a:tc>
                <a:tc>
                  <a:txBody>
                    <a:bodyPr/>
                    <a:lstStyle/>
                    <a:p>
                      <a:pPr algn="ctr">
                        <a:defRPr sz="1300">
                          <a:solidFill>
                            <a:srgbClr val="1A1A1A"/>
                          </a:solidFill>
                          <a:latin typeface="Calibri"/>
                        </a:defRPr>
                      </a:pPr>
                      <a:r>
                        <a:t>36 (21 HC, 15 PD)</a:t>
                      </a:r>
                    </a:p>
                  </a:txBody>
                  <a:tcPr anchor="ctr">
                    <a:solidFill>
                      <a:srgbClr val="FFFFFF"/>
                    </a:solidFill>
                  </a:tcPr>
                </a:tc>
              </a:tr>
              <a:tr h="393192">
                <a:tc>
                  <a:txBody>
                    <a:bodyPr/>
                    <a:lstStyle/>
                    <a:p>
                      <a:pPr algn="ctr">
                        <a:defRPr sz="1300">
                          <a:solidFill>
                            <a:srgbClr val="1A1A1A"/>
                          </a:solidFill>
                          <a:latin typeface="Calibri"/>
                        </a:defRPr>
                      </a:pPr>
                      <a:r>
                        <a:t>Recording Device</a:t>
                      </a:r>
                    </a:p>
                  </a:txBody>
                  <a:tcPr anchor="ctr">
                    <a:solidFill>
                      <a:srgbClr val="F2F2F2"/>
                    </a:solidFill>
                  </a:tcPr>
                </a:tc>
                <a:tc>
                  <a:txBody>
                    <a:bodyPr/>
                    <a:lstStyle/>
                    <a:p>
                      <a:pPr algn="ctr">
                        <a:defRPr sz="1300">
                          <a:solidFill>
                            <a:srgbClr val="1A1A1A"/>
                          </a:solidFill>
                          <a:latin typeface="Calibri"/>
                        </a:defRPr>
                      </a:pPr>
                      <a:r>
                        <a:t>Smartphone (Moto G4)</a:t>
                      </a:r>
                    </a:p>
                  </a:txBody>
                  <a:tcPr anchor="ctr">
                    <a:solidFill>
                      <a:srgbClr val="F2F2F2"/>
                    </a:solidFill>
                  </a:tcPr>
                </a:tc>
              </a:tr>
              <a:tr h="393192">
                <a:tc>
                  <a:txBody>
                    <a:bodyPr/>
                    <a:lstStyle/>
                    <a:p>
                      <a:pPr algn="ctr">
                        <a:defRPr sz="1300">
                          <a:solidFill>
                            <a:srgbClr val="1A1A1A"/>
                          </a:solidFill>
                          <a:latin typeface="Calibri"/>
                        </a:defRPr>
                      </a:pPr>
                      <a:r>
                        <a:t>Subject IDs</a:t>
                      </a:r>
                    </a:p>
                  </a:txBody>
                  <a:tcPr anchor="ctr">
                    <a:solidFill>
                      <a:srgbClr val="FFFFFF"/>
                    </a:solidFill>
                  </a:tcPr>
                </a:tc>
                <a:tc>
                  <a:txBody>
                    <a:bodyPr/>
                    <a:lstStyle/>
                    <a:p>
                      <a:pPr algn="ctr">
                        <a:defRPr sz="1300">
                          <a:solidFill>
                            <a:srgbClr val="1A1A1A"/>
                          </a:solidFill>
                          <a:latin typeface="Calibri"/>
                        </a:defRPr>
                      </a:pPr>
                      <a:r>
                        <a:t>✓ Available → Grouped CV possible</a:t>
                      </a:r>
                    </a:p>
                  </a:txBody>
                  <a:tcPr anchor="ctr">
                    <a:solidFill>
                      <a:srgbClr val="FFFFFF"/>
                    </a:solidFill>
                  </a:tcPr>
                </a:tc>
              </a:tr>
              <a:tr h="393192">
                <a:tc>
                  <a:txBody>
                    <a:bodyPr/>
                    <a:lstStyle/>
                    <a:p>
                      <a:pPr algn="ctr">
                        <a:defRPr sz="1300">
                          <a:solidFill>
                            <a:srgbClr val="1A1A1A"/>
                          </a:solidFill>
                          <a:latin typeface="Calibri"/>
                        </a:defRPr>
                      </a:pPr>
                      <a:r>
                        <a:t>Class Ratio</a:t>
                      </a:r>
                    </a:p>
                  </a:txBody>
                  <a:tcPr anchor="ctr">
                    <a:solidFill>
                      <a:srgbClr val="F2F2F2"/>
                    </a:solidFill>
                  </a:tcPr>
                </a:tc>
                <a:tc>
                  <a:txBody>
                    <a:bodyPr/>
                    <a:lstStyle/>
                    <a:p>
                      <a:pPr algn="ctr">
                        <a:defRPr sz="1300">
                          <a:solidFill>
                            <a:srgbClr val="1A1A1A"/>
                          </a:solidFill>
                          <a:latin typeface="Calibri"/>
                        </a:defRPr>
                      </a:pPr>
                      <a:r>
                        <a:t>~57:43 (HC:PD) — mild imbalance</a:t>
                      </a:r>
                    </a:p>
                  </a:txBody>
                  <a:tcPr anchor="ctr">
                    <a:solidFill>
                      <a:srgbClr val="F2F2F2"/>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3.1: Dataset A summary | tab:dataset-a-summary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Dataset B &amp; Cross-Dataset Comparison</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2752344"/>
        </p:xfrm>
        <a:graphic>
          <a:graphicData uri="http://schemas.openxmlformats.org/drawingml/2006/table">
            <a:tbl>
              <a:tblPr firstRow="1" bandRow="1">
                <a:tableStyleId>{5C22544A-7EE6-4342-B048-85BDC9FD1C3A}</a:tableStyleId>
              </a:tblPr>
              <a:tblGrid>
                <a:gridCol w="3124200"/>
                <a:gridCol w="4061460"/>
                <a:gridCol w="4061460"/>
              </a:tblGrid>
              <a:tr h="393192">
                <a:tc>
                  <a:txBody>
                    <a:bodyPr/>
                    <a:lstStyle/>
                    <a:p>
                      <a:pPr algn="ctr">
                        <a:defRPr sz="1400" b="1">
                          <a:solidFill>
                            <a:srgbClr val="FFFFFF"/>
                          </a:solidFill>
                          <a:latin typeface="Calibri"/>
                        </a:defRPr>
                      </a:pPr>
                      <a:r>
                        <a:t>Aspect</a:t>
                      </a:r>
                    </a:p>
                  </a:txBody>
                  <a:tcPr anchor="ctr">
                    <a:solidFill>
                      <a:srgbClr val="0056A0"/>
                    </a:solidFill>
                  </a:tcPr>
                </a:tc>
                <a:tc>
                  <a:txBody>
                    <a:bodyPr/>
                    <a:lstStyle/>
                    <a:p>
                      <a:pPr algn="ctr">
                        <a:defRPr sz="1400" b="1">
                          <a:solidFill>
                            <a:srgbClr val="FFFFFF"/>
                          </a:solidFill>
                          <a:latin typeface="Calibri"/>
                        </a:defRPr>
                      </a:pPr>
                      <a:r>
                        <a:t>Dataset A (MDVR-KCL)</a:t>
                      </a:r>
                    </a:p>
                  </a:txBody>
                  <a:tcPr anchor="ctr">
                    <a:solidFill>
                      <a:srgbClr val="0056A0"/>
                    </a:solidFill>
                  </a:tcPr>
                </a:tc>
                <a:tc>
                  <a:txBody>
                    <a:bodyPr/>
                    <a:lstStyle/>
                    <a:p>
                      <a:pPr algn="ctr">
                        <a:defRPr sz="1400" b="1">
                          <a:solidFill>
                            <a:srgbClr val="FFFFFF"/>
                          </a:solidFill>
                          <a:latin typeface="Calibri"/>
                        </a:defRPr>
                      </a:pPr>
                      <a:r>
                        <a:t>Dataset B (PD Speech)</a:t>
                      </a:r>
                    </a:p>
                  </a:txBody>
                  <a:tcPr anchor="ctr">
                    <a:solidFill>
                      <a:srgbClr val="0056A0"/>
                    </a:solidFill>
                  </a:tcPr>
                </a:tc>
              </a:tr>
              <a:tr h="393192">
                <a:tc>
                  <a:txBody>
                    <a:bodyPr/>
                    <a:lstStyle/>
                    <a:p>
                      <a:pPr algn="ctr">
                        <a:defRPr sz="1300">
                          <a:solidFill>
                            <a:srgbClr val="1A1A1A"/>
                          </a:solidFill>
                          <a:latin typeface="Calibri"/>
                        </a:defRPr>
                      </a:pPr>
                      <a:r>
                        <a:t>Input</a:t>
                      </a:r>
                    </a:p>
                  </a:txBody>
                  <a:tcPr anchor="ctr">
                    <a:solidFill>
                      <a:srgbClr val="F2F2F2"/>
                    </a:solidFill>
                  </a:tcPr>
                </a:tc>
                <a:tc>
                  <a:txBody>
                    <a:bodyPr/>
                    <a:lstStyle/>
                    <a:p>
                      <a:pPr algn="ctr">
                        <a:defRPr sz="1300">
                          <a:solidFill>
                            <a:srgbClr val="1A1A1A"/>
                          </a:solidFill>
                          <a:latin typeface="Calibri"/>
                        </a:defRPr>
                      </a:pPr>
                      <a:r>
                        <a:t>Raw audio (WAV)</a:t>
                      </a:r>
                    </a:p>
                  </a:txBody>
                  <a:tcPr anchor="ctr">
                    <a:solidFill>
                      <a:srgbClr val="F2F2F2"/>
                    </a:solidFill>
                  </a:tcPr>
                </a:tc>
                <a:tc>
                  <a:txBody>
                    <a:bodyPr/>
                    <a:lstStyle/>
                    <a:p>
                      <a:pPr algn="ctr">
                        <a:defRPr sz="1300">
                          <a:solidFill>
                            <a:srgbClr val="1A1A1A"/>
                          </a:solidFill>
                          <a:latin typeface="Calibri"/>
                        </a:defRPr>
                      </a:pPr>
                      <a:r>
                        <a:t>Pre-extracted (CSV)</a:t>
                      </a:r>
                    </a:p>
                  </a:txBody>
                  <a:tcPr anchor="ctr">
                    <a:solidFill>
                      <a:srgbClr val="F2F2F2"/>
                    </a:solidFill>
                  </a:tcPr>
                </a:tc>
              </a:tr>
              <a:tr h="393192">
                <a:tc>
                  <a:txBody>
                    <a:bodyPr/>
                    <a:lstStyle/>
                    <a:p>
                      <a:pPr algn="ctr">
                        <a:defRPr sz="1300">
                          <a:solidFill>
                            <a:srgbClr val="1A1A1A"/>
                          </a:solidFill>
                          <a:latin typeface="Calibri"/>
                        </a:defRPr>
                      </a:pPr>
                      <a:r>
                        <a:t>Samples</a:t>
                      </a:r>
                    </a:p>
                  </a:txBody>
                  <a:tcPr anchor="ctr">
                    <a:solidFill>
                      <a:srgbClr val="FFFFFF"/>
                    </a:solidFill>
                  </a:tcPr>
                </a:tc>
                <a:tc>
                  <a:txBody>
                    <a:bodyPr/>
                    <a:lstStyle/>
                    <a:p>
                      <a:pPr algn="ctr">
                        <a:defRPr sz="1300">
                          <a:solidFill>
                            <a:srgbClr val="1A1A1A"/>
                          </a:solidFill>
                          <a:latin typeface="Calibri"/>
                        </a:defRPr>
                      </a:pPr>
                      <a:r>
                        <a:t>37/36 subjects</a:t>
                      </a:r>
                    </a:p>
                  </a:txBody>
                  <a:tcPr anchor="ctr">
                    <a:solidFill>
                      <a:srgbClr val="FFFFFF"/>
                    </a:solidFill>
                  </a:tcPr>
                </a:tc>
                <a:tc>
                  <a:txBody>
                    <a:bodyPr/>
                    <a:lstStyle/>
                    <a:p>
                      <a:pPr algn="ctr">
                        <a:defRPr sz="1300">
                          <a:solidFill>
                            <a:srgbClr val="1A1A1A"/>
                          </a:solidFill>
                          <a:latin typeface="Calibri"/>
                        </a:defRPr>
                      </a:pPr>
                      <a:r>
                        <a:t>756 samples (252 subjects)</a:t>
                      </a:r>
                    </a:p>
                  </a:txBody>
                  <a:tcPr anchor="ctr">
                    <a:solidFill>
                      <a:srgbClr val="FFFFFF"/>
                    </a:solidFill>
                  </a:tcPr>
                </a:tc>
              </a:tr>
              <a:tr h="393192">
                <a:tc>
                  <a:txBody>
                    <a:bodyPr/>
                    <a:lstStyle/>
                    <a:p>
                      <a:pPr algn="ctr">
                        <a:defRPr sz="1300">
                          <a:solidFill>
                            <a:srgbClr val="1A1A1A"/>
                          </a:solidFill>
                          <a:latin typeface="Calibri"/>
                        </a:defRPr>
                      </a:pPr>
                      <a:r>
                        <a:t>Subject IDs</a:t>
                      </a:r>
                    </a:p>
                  </a:txBody>
                  <a:tcPr anchor="ctr">
                    <a:solidFill>
                      <a:srgbClr val="F2F2F2"/>
                    </a:solidFill>
                  </a:tcPr>
                </a:tc>
                <a:tc>
                  <a:txBody>
                    <a:bodyPr/>
                    <a:lstStyle/>
                    <a:p>
                      <a:pPr algn="ctr">
                        <a:defRPr sz="1300">
                          <a:solidFill>
                            <a:srgbClr val="1A1A1A"/>
                          </a:solidFill>
                          <a:latin typeface="Calibri"/>
                        </a:defRPr>
                      </a:pPr>
                      <a:r>
                        <a:t>✓ Available</a:t>
                      </a:r>
                    </a:p>
                  </a:txBody>
                  <a:tcPr anchor="ctr">
                    <a:solidFill>
                      <a:srgbClr val="F2F2F2"/>
                    </a:solidFill>
                  </a:tcPr>
                </a:tc>
                <a:tc>
                  <a:txBody>
                    <a:bodyPr/>
                    <a:lstStyle/>
                    <a:p>
                      <a:pPr algn="ctr">
                        <a:defRPr sz="1300">
                          <a:solidFill>
                            <a:srgbClr val="1A1A1A"/>
                          </a:solidFill>
                          <a:latin typeface="Calibri"/>
                        </a:defRPr>
                      </a:pPr>
                      <a:r>
                        <a:t>✗ Not available</a:t>
                      </a:r>
                    </a:p>
                  </a:txBody>
                  <a:tcPr anchor="ctr">
                    <a:solidFill>
                      <a:srgbClr val="F2F2F2"/>
                    </a:solidFill>
                  </a:tcPr>
                </a:tc>
              </a:tr>
              <a:tr h="393192">
                <a:tc>
                  <a:txBody>
                    <a:bodyPr/>
                    <a:lstStyle/>
                    <a:p>
                      <a:pPr algn="ctr">
                        <a:defRPr sz="1300">
                          <a:solidFill>
                            <a:srgbClr val="1A1A1A"/>
                          </a:solidFill>
                          <a:latin typeface="Calibri"/>
                        </a:defRPr>
                      </a:pPr>
                      <a:r>
                        <a:t>Validation</a:t>
                      </a:r>
                    </a:p>
                  </a:txBody>
                  <a:tcPr anchor="ctr">
                    <a:solidFill>
                      <a:srgbClr val="FFFFFF"/>
                    </a:solidFill>
                  </a:tcPr>
                </a:tc>
                <a:tc>
                  <a:txBody>
                    <a:bodyPr/>
                    <a:lstStyle/>
                    <a:p>
                      <a:pPr algn="ctr">
                        <a:defRPr sz="1300">
                          <a:solidFill>
                            <a:srgbClr val="1A1A1A"/>
                          </a:solidFill>
                          <a:latin typeface="Calibri"/>
                        </a:defRPr>
                      </a:pPr>
                      <a:r>
                        <a:t>Grouped Stratified CV</a:t>
                      </a:r>
                    </a:p>
                  </a:txBody>
                  <a:tcPr anchor="ctr">
                    <a:solidFill>
                      <a:srgbClr val="FFFFFF"/>
                    </a:solidFill>
                  </a:tcPr>
                </a:tc>
                <a:tc>
                  <a:txBody>
                    <a:bodyPr/>
                    <a:lstStyle/>
                    <a:p>
                      <a:pPr algn="ctr">
                        <a:defRPr sz="1300">
                          <a:solidFill>
                            <a:srgbClr val="1A1A1A"/>
                          </a:solidFill>
                          <a:latin typeface="Calibri"/>
                        </a:defRPr>
                      </a:pPr>
                      <a:r>
                        <a:t>Stratified CV</a:t>
                      </a:r>
                    </a:p>
                  </a:txBody>
                  <a:tcPr anchor="ctr">
                    <a:solidFill>
                      <a:srgbClr val="FFFFFF"/>
                    </a:solidFill>
                  </a:tcPr>
                </a:tc>
              </a:tr>
              <a:tr h="393192">
                <a:tc>
                  <a:txBody>
                    <a:bodyPr/>
                    <a:lstStyle/>
                    <a:p>
                      <a:pPr algn="ctr">
                        <a:defRPr sz="1300">
                          <a:solidFill>
                            <a:srgbClr val="1A1A1A"/>
                          </a:solidFill>
                          <a:latin typeface="Calibri"/>
                        </a:defRPr>
                      </a:pPr>
                      <a:r>
                        <a:t>Speech Task</a:t>
                      </a:r>
                    </a:p>
                  </a:txBody>
                  <a:tcPr anchor="ctr">
                    <a:solidFill>
                      <a:srgbClr val="F2F2F2"/>
                    </a:solidFill>
                  </a:tcPr>
                </a:tc>
                <a:tc>
                  <a:txBody>
                    <a:bodyPr/>
                    <a:lstStyle/>
                    <a:p>
                      <a:pPr algn="ctr">
                        <a:defRPr sz="1300">
                          <a:solidFill>
                            <a:srgbClr val="1A1A1A"/>
                          </a:solidFill>
                          <a:latin typeface="Calibri"/>
                        </a:defRPr>
                      </a:pPr>
                      <a:r>
                        <a:t>Read / Spontaneous</a:t>
                      </a:r>
                    </a:p>
                  </a:txBody>
                  <a:tcPr anchor="ctr">
                    <a:solidFill>
                      <a:srgbClr val="F2F2F2"/>
                    </a:solidFill>
                  </a:tcPr>
                </a:tc>
                <a:tc>
                  <a:txBody>
                    <a:bodyPr/>
                    <a:lstStyle/>
                    <a:p>
                      <a:pPr algn="ctr">
                        <a:defRPr sz="1300">
                          <a:solidFill>
                            <a:srgbClr val="1A1A1A"/>
                          </a:solidFill>
                          <a:latin typeface="Calibri"/>
                        </a:defRPr>
                      </a:pPr>
                      <a:r>
                        <a:t>Sustained vowel /a/</a:t>
                      </a:r>
                    </a:p>
                  </a:txBody>
                  <a:tcPr anchor="ctr">
                    <a:solidFill>
                      <a:srgbClr val="F2F2F2"/>
                    </a:solidFill>
                  </a:tcPr>
                </a:tc>
              </a:tr>
              <a:tr h="393192">
                <a:tc>
                  <a:txBody>
                    <a:bodyPr/>
                    <a:lstStyle/>
                    <a:p>
                      <a:pPr algn="ctr">
                        <a:defRPr sz="1300">
                          <a:solidFill>
                            <a:srgbClr val="1A1A1A"/>
                          </a:solidFill>
                          <a:latin typeface="Calibri"/>
                        </a:defRPr>
                      </a:pPr>
                      <a:r>
                        <a:t>Class Balance</a:t>
                      </a:r>
                    </a:p>
                  </a:txBody>
                  <a:tcPr anchor="ctr">
                    <a:solidFill>
                      <a:srgbClr val="FFFFFF"/>
                    </a:solidFill>
                  </a:tcPr>
                </a:tc>
                <a:tc>
                  <a:txBody>
                    <a:bodyPr/>
                    <a:lstStyle/>
                    <a:p>
                      <a:pPr algn="ctr">
                        <a:defRPr sz="1300">
                          <a:solidFill>
                            <a:srgbClr val="1A1A1A"/>
                          </a:solidFill>
                          <a:latin typeface="Calibri"/>
                        </a:defRPr>
                      </a:pPr>
                      <a:r>
                        <a:t>57:43 (HC:PD)</a:t>
                      </a:r>
                    </a:p>
                  </a:txBody>
                  <a:tcPr anchor="ctr">
                    <a:solidFill>
                      <a:srgbClr val="FFFFFF"/>
                    </a:solidFill>
                  </a:tcPr>
                </a:tc>
                <a:tc>
                  <a:txBody>
                    <a:bodyPr/>
                    <a:lstStyle/>
                    <a:p>
                      <a:pPr algn="ctr">
                        <a:defRPr sz="1300">
                          <a:solidFill>
                            <a:srgbClr val="1A1A1A"/>
                          </a:solidFill>
                          <a:latin typeface="Calibri"/>
                        </a:defRPr>
                      </a:pPr>
                      <a:r>
                        <a:t>25:75 (HC:PD)</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3.3: Cross-dataset comparison | tab:cross-dataset-comparison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Experimental Pipeline Overview</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pipeline_overview_thesis.png"/>
          <p:cNvPicPr>
            <a:picLocks noChangeAspect="1"/>
          </p:cNvPicPr>
          <p:nvPr/>
        </p:nvPicPr>
        <p:blipFill>
          <a:blip r:embed="rId2"/>
          <a:stretch>
            <a:fillRect/>
          </a:stretch>
        </p:blipFill>
        <p:spPr>
          <a:xfrm>
            <a:off x="1981047" y="1280160"/>
            <a:ext cx="8229600" cy="2899339"/>
          </a:xfrm>
          <a:prstGeom prst="rect">
            <a:avLst/>
          </a:prstGeom>
        </p:spPr>
      </p:pic>
      <p:sp>
        <p:nvSpPr>
          <p:cNvPr id="5" name="Rectangle 4"/>
          <p:cNvSpPr/>
          <p:nvPr/>
        </p:nvSpPr>
        <p:spPr>
          <a:xfrm>
            <a:off x="1981047" y="4234363"/>
            <a:ext cx="82296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Pipeline A: WAV → Preprocessing → Feature Extraction → ML → Metrics  |  Pipeline B: CSV → ML → Metrics | Ref: fig:pipeline-overview-thesis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Feature Extraction — Baseline (47) vs Extended (78)</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3538728"/>
        </p:xfrm>
        <a:graphic>
          <a:graphicData uri="http://schemas.openxmlformats.org/drawingml/2006/table">
            <a:tbl>
              <a:tblPr firstRow="1" bandRow="1">
                <a:tableStyleId>{5C22544A-7EE6-4342-B048-85BDC9FD1C3A}</a:tableStyleId>
              </a:tblPr>
              <a:tblGrid>
                <a:gridCol w="2811780"/>
                <a:gridCol w="1405890"/>
                <a:gridCol w="7029450"/>
              </a:tblGrid>
              <a:tr h="393192">
                <a:tc>
                  <a:txBody>
                    <a:bodyPr/>
                    <a:lstStyle/>
                    <a:p>
                      <a:pPr algn="ctr">
                        <a:defRPr sz="1400" b="1">
                          <a:solidFill>
                            <a:srgbClr val="FFFFFF"/>
                          </a:solidFill>
                          <a:latin typeface="Calibri"/>
                        </a:defRPr>
                      </a:pPr>
                      <a:r>
                        <a:t>Category</a:t>
                      </a:r>
                    </a:p>
                  </a:txBody>
                  <a:tcPr anchor="ctr">
                    <a:solidFill>
                      <a:srgbClr val="0056A0"/>
                    </a:solidFill>
                  </a:tcPr>
                </a:tc>
                <a:tc>
                  <a:txBody>
                    <a:bodyPr/>
                    <a:lstStyle/>
                    <a:p>
                      <a:pPr algn="ctr">
                        <a:defRPr sz="1400" b="1">
                          <a:solidFill>
                            <a:srgbClr val="FFFFFF"/>
                          </a:solidFill>
                          <a:latin typeface="Calibri"/>
                        </a:defRPr>
                      </a:pPr>
                      <a:r>
                        <a:t>Count</a:t>
                      </a:r>
                    </a:p>
                  </a:txBody>
                  <a:tcPr anchor="ctr">
                    <a:solidFill>
                      <a:srgbClr val="0056A0"/>
                    </a:solidFill>
                  </a:tcPr>
                </a:tc>
                <a:tc>
                  <a:txBody>
                    <a:bodyPr/>
                    <a:lstStyle/>
                    <a:p>
                      <a:pPr algn="ctr">
                        <a:defRPr sz="1400" b="1">
                          <a:solidFill>
                            <a:srgbClr val="FFFFFF"/>
                          </a:solidFill>
                          <a:latin typeface="Calibri"/>
                        </a:defRPr>
                      </a:pPr>
                      <a:r>
                        <a:t>Features</a:t>
                      </a:r>
                    </a:p>
                  </a:txBody>
                  <a:tcPr anchor="ctr">
                    <a:solidFill>
                      <a:srgbClr val="0056A0"/>
                    </a:solidFill>
                  </a:tcPr>
                </a:tc>
              </a:tr>
              <a:tr h="393192">
                <a:tc>
                  <a:txBody>
                    <a:bodyPr/>
                    <a:lstStyle/>
                    <a:p>
                      <a:pPr algn="ctr">
                        <a:defRPr sz="1300">
                          <a:solidFill>
                            <a:srgbClr val="1A1A1A"/>
                          </a:solidFill>
                          <a:latin typeface="Calibri"/>
                        </a:defRPr>
                      </a:pPr>
                      <a:r>
                        <a:t>Prosodic</a:t>
                      </a:r>
                    </a:p>
                  </a:txBody>
                  <a:tcPr anchor="ctr">
                    <a:solidFill>
                      <a:srgbClr val="F2F2F2"/>
                    </a:solidFill>
                  </a:tcPr>
                </a:tc>
                <a:tc>
                  <a:txBody>
                    <a:bodyPr/>
                    <a:lstStyle/>
                    <a:p>
                      <a:pPr algn="ctr">
                        <a:defRPr sz="1300">
                          <a:solidFill>
                            <a:srgbClr val="1A1A1A"/>
                          </a:solidFill>
                          <a:latin typeface="Calibri"/>
                        </a:defRPr>
                      </a:pPr>
                      <a:r>
                        <a:t>21</a:t>
                      </a:r>
                    </a:p>
                  </a:txBody>
                  <a:tcPr anchor="ctr">
                    <a:solidFill>
                      <a:srgbClr val="F2F2F2"/>
                    </a:solidFill>
                  </a:tcPr>
                </a:tc>
                <a:tc>
                  <a:txBody>
                    <a:bodyPr/>
                    <a:lstStyle/>
                    <a:p>
                      <a:pPr algn="ctr">
                        <a:defRPr sz="1300">
                          <a:solidFill>
                            <a:srgbClr val="1A1A1A"/>
                          </a:solidFill>
                          <a:latin typeface="Calibri"/>
                        </a:defRPr>
                      </a:pPr>
                      <a:r>
                        <a:t>F₀ (4), Jitter (3), Shimmer (5), HNR (2), Intensity (3), Formants (6)</a:t>
                      </a:r>
                    </a:p>
                  </a:txBody>
                  <a:tcPr anchor="ctr">
                    <a:solidFill>
                      <a:srgbClr val="F2F2F2"/>
                    </a:solidFill>
                  </a:tcPr>
                </a:tc>
              </a:tr>
              <a:tr h="393192">
                <a:tc>
                  <a:txBody>
                    <a:bodyPr/>
                    <a:lstStyle/>
                    <a:p>
                      <a:pPr algn="ctr">
                        <a:defRPr sz="1300">
                          <a:solidFill>
                            <a:srgbClr val="1A1A1A"/>
                          </a:solidFill>
                          <a:latin typeface="Calibri"/>
                        </a:defRPr>
                      </a:pPr>
                      <a:r>
                        <a:t>MFCC means</a:t>
                      </a:r>
                    </a:p>
                  </a:txBody>
                  <a:tcPr anchor="ctr">
                    <a:solidFill>
                      <a:srgbClr val="FFFFFF"/>
                    </a:solidFill>
                  </a:tcPr>
                </a:tc>
                <a:tc>
                  <a:txBody>
                    <a:bodyPr/>
                    <a:lstStyle/>
                    <a:p>
                      <a:pPr algn="ctr">
                        <a:defRPr sz="1300">
                          <a:solidFill>
                            <a:srgbClr val="1A1A1A"/>
                          </a:solidFill>
                          <a:latin typeface="Calibri"/>
                        </a:defRPr>
                      </a:pPr>
                      <a:r>
                        <a:t>13</a:t>
                      </a:r>
                    </a:p>
                  </a:txBody>
                  <a:tcPr anchor="ctr">
                    <a:solidFill>
                      <a:srgbClr val="FFFFFF"/>
                    </a:solidFill>
                  </a:tcPr>
                </a:tc>
                <a:tc>
                  <a:txBody>
                    <a:bodyPr/>
                    <a:lstStyle/>
                    <a:p>
                      <a:pPr algn="ctr">
                        <a:defRPr sz="1300">
                          <a:solidFill>
                            <a:srgbClr val="1A1A1A"/>
                          </a:solidFill>
                          <a:latin typeface="Calibri"/>
                        </a:defRPr>
                      </a:pPr>
                      <a:r>
                        <a:t>13 cepstral coefficients (baseline spectral)</a:t>
                      </a:r>
                    </a:p>
                  </a:txBody>
                  <a:tcPr anchor="ctr">
                    <a:solidFill>
                      <a:srgbClr val="FFFFFF"/>
                    </a:solidFill>
                  </a:tcPr>
                </a:tc>
              </a:tr>
              <a:tr h="393192">
                <a:tc>
                  <a:txBody>
                    <a:bodyPr/>
                    <a:lstStyle/>
                    <a:p>
                      <a:pPr algn="ctr">
                        <a:defRPr sz="1300">
                          <a:solidFill>
                            <a:srgbClr val="1A1A1A"/>
                          </a:solidFill>
                          <a:latin typeface="Calibri"/>
                        </a:defRPr>
                      </a:pPr>
                      <a:r>
                        <a:t>Δ-MFCC means</a:t>
                      </a:r>
                    </a:p>
                  </a:txBody>
                  <a:tcPr anchor="ctr">
                    <a:solidFill>
                      <a:srgbClr val="F2F2F2"/>
                    </a:solidFill>
                  </a:tcPr>
                </a:tc>
                <a:tc>
                  <a:txBody>
                    <a:bodyPr/>
                    <a:lstStyle/>
                    <a:p>
                      <a:pPr algn="ctr">
                        <a:defRPr sz="1300">
                          <a:solidFill>
                            <a:srgbClr val="1A1A1A"/>
                          </a:solidFill>
                          <a:latin typeface="Calibri"/>
                        </a:defRPr>
                      </a:pPr>
                      <a:r>
                        <a:t>13</a:t>
                      </a:r>
                    </a:p>
                  </a:txBody>
                  <a:tcPr anchor="ctr">
                    <a:solidFill>
                      <a:srgbClr val="F2F2F2"/>
                    </a:solidFill>
                  </a:tcPr>
                </a:tc>
                <a:tc>
                  <a:txBody>
                    <a:bodyPr/>
                    <a:lstStyle/>
                    <a:p>
                      <a:pPr algn="ctr">
                        <a:defRPr sz="1300">
                          <a:solidFill>
                            <a:srgbClr val="1A1A1A"/>
                          </a:solidFill>
                          <a:latin typeface="Calibri"/>
                        </a:defRPr>
                      </a:pPr>
                      <a:r>
                        <a:t>First-order temporal derivatives</a:t>
                      </a:r>
                    </a:p>
                  </a:txBody>
                  <a:tcPr anchor="ctr">
                    <a:solidFill>
                      <a:srgbClr val="F2F2F2"/>
                    </a:solidFill>
                  </a:tcPr>
                </a:tc>
              </a:tr>
              <a:tr h="393192">
                <a:tc>
                  <a:txBody>
                    <a:bodyPr/>
                    <a:lstStyle/>
                    <a:p>
                      <a:pPr algn="ctr">
                        <a:defRPr sz="1300" b="1">
                          <a:solidFill>
                            <a:srgbClr val="E86C00"/>
                          </a:solidFill>
                          <a:latin typeface="Calibri"/>
                        </a:defRPr>
                      </a:pPr>
                      <a:r>
                        <a:t>— Baseline Total —</a:t>
                      </a:r>
                    </a:p>
                  </a:txBody>
                  <a:tcPr anchor="ctr">
                    <a:solidFill>
                      <a:srgbClr val="FFFFFF"/>
                    </a:solidFill>
                  </a:tcPr>
                </a:tc>
                <a:tc>
                  <a:txBody>
                    <a:bodyPr/>
                    <a:lstStyle/>
                    <a:p>
                      <a:pPr algn="ctr">
                        <a:defRPr sz="1300" b="1">
                          <a:solidFill>
                            <a:srgbClr val="E86C00"/>
                          </a:solidFill>
                          <a:latin typeface="Calibri"/>
                        </a:defRPr>
                      </a:pPr>
                      <a:r>
                        <a:t>47</a:t>
                      </a:r>
                    </a:p>
                  </a:txBody>
                  <a:tcPr anchor="ctr">
                    <a:solidFill>
                      <a:srgbClr val="FFFFFF"/>
                    </a:solidFill>
                  </a:tcPr>
                </a:tc>
                <a:tc>
                  <a:txBody>
                    <a:bodyPr/>
                    <a:lstStyle/>
                    <a:p>
                      <a:pPr algn="ctr">
                        <a:defRPr sz="1300">
                          <a:solidFill>
                            <a:srgbClr val="1A1A1A"/>
                          </a:solidFill>
                          <a:latin typeface="Calibri"/>
                        </a:defRPr>
                      </a:pPr>
                      <a:r>
                        <a:t>Prosodic + MFCC + Δ-MFCC</a:t>
                      </a:r>
                    </a:p>
                  </a:txBody>
                  <a:tcPr anchor="ctr">
                    <a:solidFill>
                      <a:srgbClr val="FFFFFF"/>
                    </a:solidFill>
                  </a:tcPr>
                </a:tc>
              </a:tr>
              <a:tr h="393192">
                <a:tc>
                  <a:txBody>
                    <a:bodyPr/>
                    <a:lstStyle/>
                    <a:p>
                      <a:pPr algn="ctr">
                        <a:defRPr sz="1300">
                          <a:solidFill>
                            <a:srgbClr val="1A1A1A"/>
                          </a:solidFill>
                          <a:latin typeface="Calibri"/>
                        </a:defRPr>
                      </a:pPr>
                      <a:r>
                        <a:t>MFCC std</a:t>
                      </a:r>
                    </a:p>
                  </a:txBody>
                  <a:tcPr anchor="ctr">
                    <a:solidFill>
                      <a:srgbClr val="F2F2F2"/>
                    </a:solidFill>
                  </a:tcPr>
                </a:tc>
                <a:tc>
                  <a:txBody>
                    <a:bodyPr/>
                    <a:lstStyle/>
                    <a:p>
                      <a:pPr algn="ctr">
                        <a:defRPr sz="1300">
                          <a:solidFill>
                            <a:srgbClr val="1A1A1A"/>
                          </a:solidFill>
                          <a:latin typeface="Calibri"/>
                        </a:defRPr>
                      </a:pPr>
                      <a:r>
                        <a:t>+13</a:t>
                      </a:r>
                    </a:p>
                  </a:txBody>
                  <a:tcPr anchor="ctr">
                    <a:solidFill>
                      <a:srgbClr val="F2F2F2"/>
                    </a:solidFill>
                  </a:tcPr>
                </a:tc>
                <a:tc>
                  <a:txBody>
                    <a:bodyPr/>
                    <a:lstStyle/>
                    <a:p>
                      <a:pPr algn="ctr">
                        <a:defRPr sz="1300">
                          <a:solidFill>
                            <a:srgbClr val="1A1A1A"/>
                          </a:solidFill>
                          <a:latin typeface="Calibri"/>
                        </a:defRPr>
                      </a:pPr>
                      <a:r>
                        <a:t>Cepstral variability (extended)</a:t>
                      </a:r>
                    </a:p>
                  </a:txBody>
                  <a:tcPr anchor="ctr">
                    <a:solidFill>
                      <a:srgbClr val="F2F2F2"/>
                    </a:solidFill>
                  </a:tcPr>
                </a:tc>
              </a:tr>
              <a:tr h="393192">
                <a:tc>
                  <a:txBody>
                    <a:bodyPr/>
                    <a:lstStyle/>
                    <a:p>
                      <a:pPr algn="ctr">
                        <a:defRPr sz="1300">
                          <a:solidFill>
                            <a:srgbClr val="1A1A1A"/>
                          </a:solidFill>
                          <a:latin typeface="Calibri"/>
                        </a:defRPr>
                      </a:pPr>
                      <a:r>
                        <a:t>ΔΔ-MFCC means</a:t>
                      </a:r>
                    </a:p>
                  </a:txBody>
                  <a:tcPr anchor="ctr">
                    <a:solidFill>
                      <a:srgbClr val="FFFFFF"/>
                    </a:solidFill>
                  </a:tcPr>
                </a:tc>
                <a:tc>
                  <a:txBody>
                    <a:bodyPr/>
                    <a:lstStyle/>
                    <a:p>
                      <a:pPr algn="ctr">
                        <a:defRPr sz="1300">
                          <a:solidFill>
                            <a:srgbClr val="1A1A1A"/>
                          </a:solidFill>
                          <a:latin typeface="Calibri"/>
                        </a:defRPr>
                      </a:pPr>
                      <a:r>
                        <a:t>+13</a:t>
                      </a:r>
                    </a:p>
                  </a:txBody>
                  <a:tcPr anchor="ctr">
                    <a:solidFill>
                      <a:srgbClr val="FFFFFF"/>
                    </a:solidFill>
                  </a:tcPr>
                </a:tc>
                <a:tc>
                  <a:txBody>
                    <a:bodyPr/>
                    <a:lstStyle/>
                    <a:p>
                      <a:pPr algn="ctr">
                        <a:defRPr sz="1300">
                          <a:solidFill>
                            <a:srgbClr val="1A1A1A"/>
                          </a:solidFill>
                          <a:latin typeface="Calibri"/>
                        </a:defRPr>
                      </a:pPr>
                      <a:r>
                        <a:t>Second-order dynamics (extended)</a:t>
                      </a:r>
                    </a:p>
                  </a:txBody>
                  <a:tcPr anchor="ctr">
                    <a:solidFill>
                      <a:srgbClr val="FFFFFF"/>
                    </a:solidFill>
                  </a:tcPr>
                </a:tc>
              </a:tr>
              <a:tr h="393192">
                <a:tc>
                  <a:txBody>
                    <a:bodyPr/>
                    <a:lstStyle/>
                    <a:p>
                      <a:pPr algn="ctr">
                        <a:defRPr sz="1300">
                          <a:solidFill>
                            <a:srgbClr val="1A1A1A"/>
                          </a:solidFill>
                          <a:latin typeface="Calibri"/>
                        </a:defRPr>
                      </a:pPr>
                      <a:r>
                        <a:t>Spectral shape</a:t>
                      </a:r>
                    </a:p>
                  </a:txBody>
                  <a:tcPr anchor="ctr">
                    <a:solidFill>
                      <a:srgbClr val="F2F2F2"/>
                    </a:solidFill>
                  </a:tcPr>
                </a:tc>
                <a:tc>
                  <a:txBody>
                    <a:bodyPr/>
                    <a:lstStyle/>
                    <a:p>
                      <a:pPr algn="ctr">
                        <a:defRPr sz="1300">
                          <a:solidFill>
                            <a:srgbClr val="1A1A1A"/>
                          </a:solidFill>
                          <a:latin typeface="Calibri"/>
                        </a:defRPr>
                      </a:pPr>
                      <a:r>
                        <a:t>+5</a:t>
                      </a:r>
                    </a:p>
                  </a:txBody>
                  <a:tcPr anchor="ctr">
                    <a:solidFill>
                      <a:srgbClr val="F2F2F2"/>
                    </a:solidFill>
                  </a:tcPr>
                </a:tc>
                <a:tc>
                  <a:txBody>
                    <a:bodyPr/>
                    <a:lstStyle/>
                    <a:p>
                      <a:pPr algn="ctr">
                        <a:defRPr sz="1300">
                          <a:solidFill>
                            <a:srgbClr val="1A1A1A"/>
                          </a:solidFill>
                          <a:latin typeface="Calibri"/>
                        </a:defRPr>
                      </a:pPr>
                      <a:r>
                        <a:t>Centroid, bandwidth, rolloff, flatness, ZCR</a:t>
                      </a:r>
                    </a:p>
                  </a:txBody>
                  <a:tcPr anchor="ctr">
                    <a:solidFill>
                      <a:srgbClr val="F2F2F2"/>
                    </a:solidFill>
                  </a:tcPr>
                </a:tc>
              </a:tr>
              <a:tr h="393192">
                <a:tc>
                  <a:txBody>
                    <a:bodyPr/>
                    <a:lstStyle/>
                    <a:p>
                      <a:pPr algn="ctr">
                        <a:defRPr sz="1300" b="1">
                          <a:solidFill>
                            <a:srgbClr val="E86C00"/>
                          </a:solidFill>
                          <a:latin typeface="Calibri"/>
                        </a:defRPr>
                      </a:pPr>
                      <a:r>
                        <a:t>— Extended Total —</a:t>
                      </a:r>
                    </a:p>
                  </a:txBody>
                  <a:tcPr anchor="ctr">
                    <a:solidFill>
                      <a:srgbClr val="FFFFFF"/>
                    </a:solidFill>
                  </a:tcPr>
                </a:tc>
                <a:tc>
                  <a:txBody>
                    <a:bodyPr/>
                    <a:lstStyle/>
                    <a:p>
                      <a:pPr algn="ctr">
                        <a:defRPr sz="1300" b="1">
                          <a:solidFill>
                            <a:srgbClr val="E86C00"/>
                          </a:solidFill>
                          <a:latin typeface="Calibri"/>
                        </a:defRPr>
                      </a:pPr>
                      <a:r>
                        <a:t>78</a:t>
                      </a:r>
                    </a:p>
                  </a:txBody>
                  <a:tcPr anchor="ctr">
                    <a:solidFill>
                      <a:srgbClr val="FFFFFF"/>
                    </a:solidFill>
                  </a:tcPr>
                </a:tc>
                <a:tc>
                  <a:txBody>
                    <a:bodyPr/>
                    <a:lstStyle/>
                    <a:p>
                      <a:pPr algn="ctr">
                        <a:defRPr sz="1300">
                          <a:solidFill>
                            <a:srgbClr val="1A1A1A"/>
                          </a:solidFill>
                          <a:latin typeface="Calibri"/>
                        </a:defRPr>
                      </a:pPr>
                      <a:r>
                        <a:t>Baseline + 31 additional features</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4.4: Feature counts by configuration | tab:feature-counts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Models &amp; Parameters (Fixed A Priori)</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18" cy="2359152"/>
        </p:xfrm>
        <a:graphic>
          <a:graphicData uri="http://schemas.openxmlformats.org/drawingml/2006/table">
            <a:tbl>
              <a:tblPr firstRow="1" bandRow="1">
                <a:tableStyleId>{5C22544A-7EE6-4342-B048-85BDC9FD1C3A}</a:tableStyleId>
              </a:tblPr>
              <a:tblGrid>
                <a:gridCol w="3647714"/>
                <a:gridCol w="3951690"/>
                <a:gridCol w="3647714"/>
              </a:tblGrid>
              <a:tr h="393192">
                <a:tc>
                  <a:txBody>
                    <a:bodyPr/>
                    <a:lstStyle/>
                    <a:p>
                      <a:pPr algn="ctr">
                        <a:defRPr sz="1400" b="1">
                          <a:solidFill>
                            <a:srgbClr val="FFFFFF"/>
                          </a:solidFill>
                          <a:latin typeface="Calibri"/>
                        </a:defRPr>
                      </a:pPr>
                      <a:r>
                        <a:t>Model</a:t>
                      </a:r>
                    </a:p>
                  </a:txBody>
                  <a:tcPr anchor="ctr">
                    <a:solidFill>
                      <a:srgbClr val="0056A0"/>
                    </a:solidFill>
                  </a:tcPr>
                </a:tc>
                <a:tc>
                  <a:txBody>
                    <a:bodyPr/>
                    <a:lstStyle/>
                    <a:p>
                      <a:pPr algn="ctr">
                        <a:defRPr sz="1400" b="1">
                          <a:solidFill>
                            <a:srgbClr val="FFFFFF"/>
                          </a:solidFill>
                          <a:latin typeface="Calibri"/>
                        </a:defRPr>
                      </a:pPr>
                      <a:r>
                        <a:t>Key Parameters</a:t>
                      </a:r>
                    </a:p>
                  </a:txBody>
                  <a:tcPr anchor="ctr">
                    <a:solidFill>
                      <a:srgbClr val="0056A0"/>
                    </a:solidFill>
                  </a:tcPr>
                </a:tc>
                <a:tc>
                  <a:txBody>
                    <a:bodyPr/>
                    <a:lstStyle/>
                    <a:p>
                      <a:pPr algn="ctr">
                        <a:defRPr sz="1400" b="1">
                          <a:solidFill>
                            <a:srgbClr val="FFFFFF"/>
                          </a:solidFill>
                          <a:latin typeface="Calibri"/>
                        </a:defRPr>
                      </a:pPr>
                      <a:r>
                        <a:t>Notes</a:t>
                      </a:r>
                    </a:p>
                  </a:txBody>
                  <a:tcPr anchor="ctr">
                    <a:solidFill>
                      <a:srgbClr val="0056A0"/>
                    </a:solidFill>
                  </a:tcPr>
                </a:tc>
              </a:tr>
              <a:tr h="393192">
                <a:tc>
                  <a:txBody>
                    <a:bodyPr/>
                    <a:lstStyle/>
                    <a:p>
                      <a:pPr algn="ctr">
                        <a:defRPr sz="1300">
                          <a:solidFill>
                            <a:srgbClr val="1A1A1A"/>
                          </a:solidFill>
                          <a:latin typeface="Calibri"/>
                        </a:defRPr>
                      </a:pPr>
                      <a:r>
                        <a:t>Logistic Regression</a:t>
                      </a:r>
                    </a:p>
                  </a:txBody>
                  <a:tcPr anchor="ctr">
                    <a:solidFill>
                      <a:srgbClr val="F2F2F2"/>
                    </a:solidFill>
                  </a:tcPr>
                </a:tc>
                <a:tc>
                  <a:txBody>
                    <a:bodyPr/>
                    <a:lstStyle/>
                    <a:p>
                      <a:pPr algn="ctr">
                        <a:defRPr sz="1300">
                          <a:solidFill>
                            <a:srgbClr val="1A1A1A"/>
                          </a:solidFill>
                          <a:latin typeface="Calibri"/>
                        </a:defRPr>
                      </a:pPr>
                      <a:r>
                        <a:t>C=1.0, L2, lbfgs</a:t>
                      </a:r>
                    </a:p>
                  </a:txBody>
                  <a:tcPr anchor="ctr">
                    <a:solidFill>
                      <a:srgbClr val="F2F2F2"/>
                    </a:solidFill>
                  </a:tcPr>
                </a:tc>
                <a:tc>
                  <a:txBody>
                    <a:bodyPr/>
                    <a:lstStyle/>
                    <a:p>
                      <a:pPr algn="ctr">
                        <a:defRPr sz="1300">
                          <a:solidFill>
                            <a:srgbClr val="1A1A1A"/>
                          </a:solidFill>
                          <a:latin typeface="Calibri"/>
                        </a:defRPr>
                      </a:pPr>
                      <a:r>
                        <a:t>Linear baseline</a:t>
                      </a:r>
                    </a:p>
                  </a:txBody>
                  <a:tcPr anchor="ctr">
                    <a:solidFill>
                      <a:srgbClr val="F2F2F2"/>
                    </a:solidFill>
                  </a:tcPr>
                </a:tc>
              </a:tr>
              <a:tr h="393192">
                <a:tc>
                  <a:txBody>
                    <a:bodyPr/>
                    <a:lstStyle/>
                    <a:p>
                      <a:pPr algn="ctr">
                        <a:defRPr sz="1300">
                          <a:solidFill>
                            <a:srgbClr val="1A1A1A"/>
                          </a:solidFill>
                          <a:latin typeface="Calibri"/>
                        </a:defRPr>
                      </a:pPr>
                      <a:r>
                        <a:t>SVM (RBF kernel)</a:t>
                      </a:r>
                    </a:p>
                  </a:txBody>
                  <a:tcPr anchor="ctr">
                    <a:solidFill>
                      <a:srgbClr val="FFFFFF"/>
                    </a:solidFill>
                  </a:tcPr>
                </a:tc>
                <a:tc>
                  <a:txBody>
                    <a:bodyPr/>
                    <a:lstStyle/>
                    <a:p>
                      <a:pPr algn="ctr">
                        <a:defRPr sz="1300">
                          <a:solidFill>
                            <a:srgbClr val="1A1A1A"/>
                          </a:solidFill>
                          <a:latin typeface="Calibri"/>
                        </a:defRPr>
                      </a:pPr>
                      <a:r>
                        <a:t>C=1.0, γ=scale</a:t>
                      </a:r>
                    </a:p>
                  </a:txBody>
                  <a:tcPr anchor="ctr">
                    <a:solidFill>
                      <a:srgbClr val="FFFFFF"/>
                    </a:solidFill>
                  </a:tcPr>
                </a:tc>
                <a:tc>
                  <a:txBody>
                    <a:bodyPr/>
                    <a:lstStyle/>
                    <a:p>
                      <a:pPr algn="ctr">
                        <a:defRPr sz="1300">
                          <a:solidFill>
                            <a:srgbClr val="1A1A1A"/>
                          </a:solidFill>
                          <a:latin typeface="Calibri"/>
                        </a:defRPr>
                      </a:pPr>
                      <a:r>
                        <a:t>Non-linear, margin-based</a:t>
                      </a:r>
                    </a:p>
                  </a:txBody>
                  <a:tcPr anchor="ctr">
                    <a:solidFill>
                      <a:srgbClr val="FFFFFF"/>
                    </a:solidFill>
                  </a:tcPr>
                </a:tc>
              </a:tr>
              <a:tr h="393192">
                <a:tc>
                  <a:txBody>
                    <a:bodyPr/>
                    <a:lstStyle/>
                    <a:p>
                      <a:pPr algn="ctr">
                        <a:defRPr sz="1300">
                          <a:solidFill>
                            <a:srgbClr val="1A1A1A"/>
                          </a:solidFill>
                          <a:latin typeface="Calibri"/>
                        </a:defRPr>
                      </a:pPr>
                      <a:r>
                        <a:t>Random Forest</a:t>
                      </a:r>
                    </a:p>
                  </a:txBody>
                  <a:tcPr anchor="ctr">
                    <a:solidFill>
                      <a:srgbClr val="F2F2F2"/>
                    </a:solidFill>
                  </a:tcPr>
                </a:tc>
                <a:tc>
                  <a:txBody>
                    <a:bodyPr/>
                    <a:lstStyle/>
                    <a:p>
                      <a:pPr algn="ctr">
                        <a:defRPr sz="1300">
                          <a:solidFill>
                            <a:srgbClr val="1A1A1A"/>
                          </a:solidFill>
                          <a:latin typeface="Calibri"/>
                        </a:defRPr>
                      </a:pPr>
                      <a:r>
                        <a:t>100 trees, depth=10</a:t>
                      </a:r>
                    </a:p>
                  </a:txBody>
                  <a:tcPr anchor="ctr">
                    <a:solidFill>
                      <a:srgbClr val="F2F2F2"/>
                    </a:solidFill>
                  </a:tcPr>
                </a:tc>
                <a:tc>
                  <a:txBody>
                    <a:bodyPr/>
                    <a:lstStyle/>
                    <a:p>
                      <a:pPr algn="ctr">
                        <a:defRPr sz="1300">
                          <a:solidFill>
                            <a:srgbClr val="1A1A1A"/>
                          </a:solidFill>
                          <a:latin typeface="Calibri"/>
                        </a:defRPr>
                      </a:pPr>
                      <a:r>
                        <a:t>Ensemble, robust to noise</a:t>
                      </a:r>
                    </a:p>
                  </a:txBody>
                  <a:tcPr anchor="ctr">
                    <a:solidFill>
                      <a:srgbClr val="F2F2F2"/>
                    </a:solidFill>
                  </a:tcPr>
                </a:tc>
              </a:tr>
              <a:tr h="393192">
                <a:tc>
                  <a:txBody>
                    <a:bodyPr/>
                    <a:lstStyle/>
                    <a:p>
                      <a:pPr algn="ctr">
                        <a:defRPr sz="1300">
                          <a:solidFill>
                            <a:srgbClr val="1A1A1A"/>
                          </a:solidFill>
                          <a:latin typeface="Calibri"/>
                        </a:defRPr>
                      </a:pPr>
                      <a:r>
                        <a:t>Gradient Boosting</a:t>
                      </a:r>
                    </a:p>
                  </a:txBody>
                  <a:tcPr anchor="ctr">
                    <a:solidFill>
                      <a:srgbClr val="FFFFFF"/>
                    </a:solidFill>
                  </a:tcPr>
                </a:tc>
                <a:tc>
                  <a:txBody>
                    <a:bodyPr/>
                    <a:lstStyle/>
                    <a:p>
                      <a:pPr algn="ctr">
                        <a:defRPr sz="1300">
                          <a:solidFill>
                            <a:srgbClr val="1A1A1A"/>
                          </a:solidFill>
                          <a:latin typeface="Calibri"/>
                        </a:defRPr>
                      </a:pPr>
                      <a:r>
                        <a:t>100 trees, lr=0.1, depth=3</a:t>
                      </a:r>
                    </a:p>
                  </a:txBody>
                  <a:tcPr anchor="ctr">
                    <a:solidFill>
                      <a:srgbClr val="FFFFFF"/>
                    </a:solidFill>
                  </a:tcPr>
                </a:tc>
                <a:tc>
                  <a:txBody>
                    <a:bodyPr/>
                    <a:lstStyle/>
                    <a:p>
                      <a:pPr algn="ctr">
                        <a:defRPr sz="1300">
                          <a:solidFill>
                            <a:srgbClr val="1A1A1A"/>
                          </a:solidFill>
                          <a:latin typeface="Calibri"/>
                        </a:defRPr>
                      </a:pPr>
                      <a:r>
                        <a:t>Sequential ensemble</a:t>
                      </a:r>
                    </a:p>
                  </a:txBody>
                  <a:tcPr anchor="ctr">
                    <a:solidFill>
                      <a:srgbClr val="FFFFFF"/>
                    </a:solidFill>
                  </a:tcPr>
                </a:tc>
              </a:tr>
              <a:tr h="393192">
                <a:tc>
                  <a:txBody>
                    <a:bodyPr/>
                    <a:lstStyle/>
                    <a:p>
                      <a:pPr algn="ctr">
                        <a:defRPr sz="1300">
                          <a:solidFill>
                            <a:srgbClr val="1A1A1A"/>
                          </a:solidFill>
                          <a:latin typeface="Calibri"/>
                        </a:defRPr>
                      </a:pPr>
                      <a:r>
                        <a:t>XGBoost</a:t>
                      </a:r>
                    </a:p>
                  </a:txBody>
                  <a:tcPr anchor="ctr">
                    <a:solidFill>
                      <a:srgbClr val="F2F2F2"/>
                    </a:solidFill>
                  </a:tcPr>
                </a:tc>
                <a:tc>
                  <a:txBody>
                    <a:bodyPr/>
                    <a:lstStyle/>
                    <a:p>
                      <a:pPr algn="ctr">
                        <a:defRPr sz="1300">
                          <a:solidFill>
                            <a:srgbClr val="1A1A1A"/>
                          </a:solidFill>
                          <a:latin typeface="Calibri"/>
                        </a:defRPr>
                      </a:pPr>
                      <a:r>
                        <a:t>100 trees, lr=0.1</a:t>
                      </a:r>
                    </a:p>
                  </a:txBody>
                  <a:tcPr anchor="ctr">
                    <a:solidFill>
                      <a:srgbClr val="F2F2F2"/>
                    </a:solidFill>
                  </a:tcPr>
                </a:tc>
                <a:tc>
                  <a:txBody>
                    <a:bodyPr/>
                    <a:lstStyle/>
                    <a:p>
                      <a:pPr algn="ctr">
                        <a:defRPr sz="1300">
                          <a:solidFill>
                            <a:srgbClr val="1A1A1A"/>
                          </a:solidFill>
                          <a:latin typeface="Calibri"/>
                        </a:defRPr>
                      </a:pPr>
                      <a:r>
                        <a:t>Regularized boosting</a:t>
                      </a:r>
                    </a:p>
                  </a:txBody>
                  <a:tcPr anchor="ctr">
                    <a:solidFill>
                      <a:srgbClr val="F2F2F2"/>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4.5: Model specifications | tab:model-specs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Cross-Validation Strategy</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1247120" cy="5120640"/>
          </a:xfrm>
          <a:prstGeom prst="rect">
            <a:avLst/>
          </a:prstGeom>
          <a:noFill/>
        </p:spPr>
        <p:txBody>
          <a:bodyPr wrap="square">
            <a:spAutoFit/>
          </a:bodyPr>
          <a:lstStyle/>
          <a:p>
            <a:pPr algn="l">
              <a:spcBef>
                <a:spcPts val="600"/>
              </a:spcBef>
              <a:spcAft>
                <a:spcPts val="300"/>
              </a:spcAft>
              <a:defRPr sz="1800" b="0">
                <a:solidFill>
                  <a:srgbClr val="1A1A1A"/>
                </a:solidFill>
                <a:latin typeface="Calibri"/>
              </a:defRPr>
            </a:pPr>
            <a:r>
              <a:t>Dataset A: Grouped Stratified 5-Fold CV</a:t>
            </a:r>
          </a:p>
          <a:p>
            <a:pPr lvl="1">
              <a:spcBef>
                <a:spcPts val="200"/>
              </a:spcBef>
              <a:spcAft>
                <a:spcPts val="100"/>
              </a:spcAft>
              <a:defRPr sz="1500">
                <a:solidFill>
                  <a:srgbClr val="666666"/>
                </a:solidFill>
                <a:latin typeface="Calibri"/>
              </a:defRPr>
            </a:pPr>
            <a:r>
              <a:t>All recordings from one subject → same fold</a:t>
            </a:r>
          </a:p>
          <a:p>
            <a:pPr lvl="1">
              <a:spcBef>
                <a:spcPts val="200"/>
              </a:spcBef>
              <a:spcAft>
                <a:spcPts val="100"/>
              </a:spcAft>
              <a:defRPr sz="1500">
                <a:solidFill>
                  <a:srgbClr val="666666"/>
                </a:solidFill>
                <a:latin typeface="Calibri"/>
              </a:defRPr>
            </a:pPr>
            <a:r>
              <a:t>Prevents data leakage — the most important design choice</a:t>
            </a:r>
          </a:p>
          <a:p>
            <a:pPr>
              <a:spcBef>
                <a:spcPts val="600"/>
              </a:spcBef>
              <a:spcAft>
                <a:spcPts val="300"/>
              </a:spcAft>
              <a:defRPr sz="1800">
                <a:solidFill>
                  <a:srgbClr val="1A1A1A"/>
                </a:solidFill>
                <a:latin typeface="Calibri"/>
              </a:defRPr>
            </a:pPr>
            <a:r>
              <a:t>Dataset B: Stratified 5-Fold CV (sample-level)</a:t>
            </a:r>
          </a:p>
          <a:p>
            <a:pPr lvl="1">
              <a:spcBef>
                <a:spcPts val="200"/>
              </a:spcBef>
              <a:spcAft>
                <a:spcPts val="100"/>
              </a:spcAft>
              <a:defRPr sz="1500">
                <a:solidFill>
                  <a:srgbClr val="666666"/>
                </a:solidFill>
                <a:latin typeface="Calibri"/>
              </a:defRPr>
            </a:pPr>
            <a:r>
              <a:t>Subject IDs unavailable → potential within-subject leakage</a:t>
            </a:r>
          </a:p>
          <a:p>
            <a:pPr lvl="1">
              <a:spcBef>
                <a:spcPts val="200"/>
              </a:spcBef>
              <a:spcAft>
                <a:spcPts val="100"/>
              </a:spcAft>
              <a:defRPr sz="1500">
                <a:solidFill>
                  <a:srgbClr val="666666"/>
                </a:solidFill>
                <a:latin typeface="Calibri"/>
              </a:defRPr>
            </a:pPr>
            <a:r>
              <a:t>Results flagged as potentially optimistic</a:t>
            </a:r>
          </a:p>
          <a:p>
            <a:pPr>
              <a:spcBef>
                <a:spcPts val="600"/>
              </a:spcBef>
              <a:spcAft>
                <a:spcPts val="300"/>
              </a:spcAft>
              <a:defRPr sz="1800">
                <a:solidFill>
                  <a:srgbClr val="1A1A1A"/>
                </a:solidFill>
                <a:latin typeface="Calibri"/>
              </a:defRPr>
            </a:pPr>
            <a:r>
              <a:t>All metrics: mean ± std across 5 folds</a:t>
            </a:r>
          </a:p>
          <a:p>
            <a:pPr>
              <a:spcBef>
                <a:spcPts val="600"/>
              </a:spcBef>
              <a:spcAft>
                <a:spcPts val="300"/>
              </a:spcAft>
              <a:defRPr sz="1800">
                <a:solidFill>
                  <a:srgbClr val="1A1A1A"/>
                </a:solidFill>
                <a:latin typeface="Calibri"/>
              </a:defRPr>
            </a:pPr>
            <a:r>
              <a:t>Primary metric: ROC-AUC</a:t>
            </a:r>
          </a:p>
          <a:p>
            <a:pPr>
              <a:spcBef>
                <a:spcPts val="600"/>
              </a:spcBef>
              <a:spcAft>
                <a:spcPts val="300"/>
              </a:spcAft>
              <a:defRPr sz="1800">
                <a:solidFill>
                  <a:srgbClr val="1A1A1A"/>
                </a:solidFill>
                <a:latin typeface="Calibri"/>
              </a:defRPr>
            </a:pPr>
            <a:r>
              <a:t>Secondary: Accuracy, Precision, Recall, F1-Score</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Experimental Design — 2×2×5 Factorial (300 Runs)</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1965960"/>
        </p:xfrm>
        <a:graphic>
          <a:graphicData uri="http://schemas.openxmlformats.org/drawingml/2006/table">
            <a:tbl>
              <a:tblPr firstRow="1" bandRow="1">
                <a:tableStyleId>{5C22544A-7EE6-4342-B048-85BDC9FD1C3A}</a:tableStyleId>
              </a:tblPr>
              <a:tblGrid>
                <a:gridCol w="1874520"/>
                <a:gridCol w="2811780"/>
                <a:gridCol w="1874520"/>
                <a:gridCol w="4686300"/>
              </a:tblGrid>
              <a:tr h="393192">
                <a:tc>
                  <a:txBody>
                    <a:bodyPr/>
                    <a:lstStyle/>
                    <a:p>
                      <a:pPr algn="ctr">
                        <a:defRPr sz="1400" b="1">
                          <a:solidFill>
                            <a:srgbClr val="FFFFFF"/>
                          </a:solidFill>
                          <a:latin typeface="Calibri"/>
                        </a:defRPr>
                      </a:pPr>
                      <a:r>
                        <a:t>Condition</a:t>
                      </a:r>
                    </a:p>
                  </a:txBody>
                  <a:tcPr anchor="ctr">
                    <a:solidFill>
                      <a:srgbClr val="0056A0"/>
                    </a:solidFill>
                  </a:tcPr>
                </a:tc>
                <a:tc>
                  <a:txBody>
                    <a:bodyPr/>
                    <a:lstStyle/>
                    <a:p>
                      <a:pPr algn="ctr">
                        <a:defRPr sz="1400" b="1">
                          <a:solidFill>
                            <a:srgbClr val="FFFFFF"/>
                          </a:solidFill>
                          <a:latin typeface="Calibri"/>
                        </a:defRPr>
                      </a:pPr>
                      <a:r>
                        <a:t>Features</a:t>
                      </a:r>
                    </a:p>
                  </a:txBody>
                  <a:tcPr anchor="ctr">
                    <a:solidFill>
                      <a:srgbClr val="0056A0"/>
                    </a:solidFill>
                  </a:tcPr>
                </a:tc>
                <a:tc>
                  <a:txBody>
                    <a:bodyPr/>
                    <a:lstStyle/>
                    <a:p>
                      <a:pPr algn="ctr">
                        <a:defRPr sz="1400" b="1">
                          <a:solidFill>
                            <a:srgbClr val="FFFFFF"/>
                          </a:solidFill>
                          <a:latin typeface="Calibri"/>
                        </a:defRPr>
                      </a:pPr>
                      <a:r>
                        <a:t>Weighting</a:t>
                      </a:r>
                    </a:p>
                  </a:txBody>
                  <a:tcPr anchor="ctr">
                    <a:solidFill>
                      <a:srgbClr val="0056A0"/>
                    </a:solidFill>
                  </a:tcPr>
                </a:tc>
                <a:tc>
                  <a:txBody>
                    <a:bodyPr/>
                    <a:lstStyle/>
                    <a:p>
                      <a:pPr algn="ctr">
                        <a:defRPr sz="1400" b="1">
                          <a:solidFill>
                            <a:srgbClr val="FFFFFF"/>
                          </a:solidFill>
                          <a:latin typeface="Calibri"/>
                        </a:defRPr>
                      </a:pPr>
                      <a:r>
                        <a:t>Models</a:t>
                      </a:r>
                    </a:p>
                  </a:txBody>
                  <a:tcPr anchor="ctr">
                    <a:solidFill>
                      <a:srgbClr val="0056A0"/>
                    </a:solidFill>
                  </a:tcPr>
                </a:tc>
              </a:tr>
              <a:tr h="393192">
                <a:tc>
                  <a:txBody>
                    <a:bodyPr/>
                    <a:lstStyle/>
                    <a:p>
                      <a:pPr algn="ctr">
                        <a:defRPr sz="1300">
                          <a:solidFill>
                            <a:srgbClr val="1A1A1A"/>
                          </a:solidFill>
                          <a:latin typeface="Calibri"/>
                        </a:defRPr>
                      </a:pPr>
                      <a:r>
                        <a:t>C1</a:t>
                      </a:r>
                    </a:p>
                  </a:txBody>
                  <a:tcPr anchor="ctr">
                    <a:solidFill>
                      <a:srgbClr val="F2F2F2"/>
                    </a:solidFill>
                  </a:tcPr>
                </a:tc>
                <a:tc>
                  <a:txBody>
                    <a:bodyPr/>
                    <a:lstStyle/>
                    <a:p>
                      <a:pPr algn="ctr">
                        <a:defRPr sz="1300">
                          <a:solidFill>
                            <a:srgbClr val="1A1A1A"/>
                          </a:solidFill>
                          <a:latin typeface="Calibri"/>
                        </a:defRPr>
                      </a:pPr>
                      <a:r>
                        <a:t>47 (baseline)</a:t>
                      </a:r>
                    </a:p>
                  </a:txBody>
                  <a:tcPr anchor="ctr">
                    <a:solidFill>
                      <a:srgbClr val="F2F2F2"/>
                    </a:solidFill>
                  </a:tcPr>
                </a:tc>
                <a:tc>
                  <a:txBody>
                    <a:bodyPr/>
                    <a:lstStyle/>
                    <a:p>
                      <a:pPr algn="ctr">
                        <a:defRPr sz="1300">
                          <a:solidFill>
                            <a:srgbClr val="1A1A1A"/>
                          </a:solidFill>
                          <a:latin typeface="Calibri"/>
                        </a:defRPr>
                      </a:pPr>
                      <a:r>
                        <a:t>None</a:t>
                      </a:r>
                    </a:p>
                  </a:txBody>
                  <a:tcPr anchor="ctr">
                    <a:solidFill>
                      <a:srgbClr val="F2F2F2"/>
                    </a:solidFill>
                  </a:tcPr>
                </a:tc>
                <a:tc>
                  <a:txBody>
                    <a:bodyPr/>
                    <a:lstStyle/>
                    <a:p>
                      <a:pPr algn="ctr">
                        <a:defRPr sz="1300">
                          <a:solidFill>
                            <a:srgbClr val="1A1A1A"/>
                          </a:solidFill>
                          <a:latin typeface="Calibri"/>
                        </a:defRPr>
                      </a:pPr>
                      <a:r>
                        <a:t>LR, SVM, RF, GB, XGB</a:t>
                      </a:r>
                    </a:p>
                  </a:txBody>
                  <a:tcPr anchor="ctr">
                    <a:solidFill>
                      <a:srgbClr val="F2F2F2"/>
                    </a:solidFill>
                  </a:tcPr>
                </a:tc>
              </a:tr>
              <a:tr h="393192">
                <a:tc>
                  <a:txBody>
                    <a:bodyPr/>
                    <a:lstStyle/>
                    <a:p>
                      <a:pPr algn="ctr">
                        <a:defRPr sz="1300">
                          <a:solidFill>
                            <a:srgbClr val="1A1A1A"/>
                          </a:solidFill>
                          <a:latin typeface="Calibri"/>
                        </a:defRPr>
                      </a:pPr>
                      <a:r>
                        <a:t>C2</a:t>
                      </a:r>
                    </a:p>
                  </a:txBody>
                  <a:tcPr anchor="ctr">
                    <a:solidFill>
                      <a:srgbClr val="FFFFFF"/>
                    </a:solidFill>
                  </a:tcPr>
                </a:tc>
                <a:tc>
                  <a:txBody>
                    <a:bodyPr/>
                    <a:lstStyle/>
                    <a:p>
                      <a:pPr algn="ctr">
                        <a:defRPr sz="1300">
                          <a:solidFill>
                            <a:srgbClr val="1A1A1A"/>
                          </a:solidFill>
                          <a:latin typeface="Calibri"/>
                        </a:defRPr>
                      </a:pPr>
                      <a:r>
                        <a:t>47 (baseline)</a:t>
                      </a:r>
                    </a:p>
                  </a:txBody>
                  <a:tcPr anchor="ctr">
                    <a:solidFill>
                      <a:srgbClr val="FFFFFF"/>
                    </a:solidFill>
                  </a:tcPr>
                </a:tc>
                <a:tc>
                  <a:txBody>
                    <a:bodyPr/>
                    <a:lstStyle/>
                    <a:p>
                      <a:pPr algn="ctr">
                        <a:defRPr sz="1300">
                          <a:solidFill>
                            <a:srgbClr val="1A1A1A"/>
                          </a:solidFill>
                          <a:latin typeface="Calibri"/>
                        </a:defRPr>
                      </a:pPr>
                      <a:r>
                        <a:t>Balanced</a:t>
                      </a:r>
                    </a:p>
                  </a:txBody>
                  <a:tcPr anchor="ctr">
                    <a:solidFill>
                      <a:srgbClr val="FFFFFF"/>
                    </a:solidFill>
                  </a:tcPr>
                </a:tc>
                <a:tc>
                  <a:txBody>
                    <a:bodyPr/>
                    <a:lstStyle/>
                    <a:p>
                      <a:pPr algn="ctr">
                        <a:defRPr sz="1300">
                          <a:solidFill>
                            <a:srgbClr val="1A1A1A"/>
                          </a:solidFill>
                          <a:latin typeface="Calibri"/>
                        </a:defRPr>
                      </a:pPr>
                      <a:r>
                        <a:t>LR, SVM, RF, GB, XGB</a:t>
                      </a:r>
                    </a:p>
                  </a:txBody>
                  <a:tcPr anchor="ctr">
                    <a:solidFill>
                      <a:srgbClr val="FFFFFF"/>
                    </a:solidFill>
                  </a:tcPr>
                </a:tc>
              </a:tr>
              <a:tr h="393192">
                <a:tc>
                  <a:txBody>
                    <a:bodyPr/>
                    <a:lstStyle/>
                    <a:p>
                      <a:pPr algn="ctr">
                        <a:defRPr sz="1300">
                          <a:solidFill>
                            <a:srgbClr val="1A1A1A"/>
                          </a:solidFill>
                          <a:latin typeface="Calibri"/>
                        </a:defRPr>
                      </a:pPr>
                      <a:r>
                        <a:t>C3</a:t>
                      </a:r>
                    </a:p>
                  </a:txBody>
                  <a:tcPr anchor="ctr">
                    <a:solidFill>
                      <a:srgbClr val="F2F2F2"/>
                    </a:solidFill>
                  </a:tcPr>
                </a:tc>
                <a:tc>
                  <a:txBody>
                    <a:bodyPr/>
                    <a:lstStyle/>
                    <a:p>
                      <a:pPr algn="ctr">
                        <a:defRPr sz="1300">
                          <a:solidFill>
                            <a:srgbClr val="1A1A1A"/>
                          </a:solidFill>
                          <a:latin typeface="Calibri"/>
                        </a:defRPr>
                      </a:pPr>
                      <a:r>
                        <a:t>78 (extended)</a:t>
                      </a:r>
                    </a:p>
                  </a:txBody>
                  <a:tcPr anchor="ctr">
                    <a:solidFill>
                      <a:srgbClr val="F2F2F2"/>
                    </a:solidFill>
                  </a:tcPr>
                </a:tc>
                <a:tc>
                  <a:txBody>
                    <a:bodyPr/>
                    <a:lstStyle/>
                    <a:p>
                      <a:pPr algn="ctr">
                        <a:defRPr sz="1300">
                          <a:solidFill>
                            <a:srgbClr val="1A1A1A"/>
                          </a:solidFill>
                          <a:latin typeface="Calibri"/>
                        </a:defRPr>
                      </a:pPr>
                      <a:r>
                        <a:t>None</a:t>
                      </a:r>
                    </a:p>
                  </a:txBody>
                  <a:tcPr anchor="ctr">
                    <a:solidFill>
                      <a:srgbClr val="F2F2F2"/>
                    </a:solidFill>
                  </a:tcPr>
                </a:tc>
                <a:tc>
                  <a:txBody>
                    <a:bodyPr/>
                    <a:lstStyle/>
                    <a:p>
                      <a:pPr algn="ctr">
                        <a:defRPr sz="1300">
                          <a:solidFill>
                            <a:srgbClr val="1A1A1A"/>
                          </a:solidFill>
                          <a:latin typeface="Calibri"/>
                        </a:defRPr>
                      </a:pPr>
                      <a:r>
                        <a:t>LR, SVM, RF, GB, XGB</a:t>
                      </a:r>
                    </a:p>
                  </a:txBody>
                  <a:tcPr anchor="ctr">
                    <a:solidFill>
                      <a:srgbClr val="F2F2F2"/>
                    </a:solidFill>
                  </a:tcPr>
                </a:tc>
              </a:tr>
              <a:tr h="393192">
                <a:tc>
                  <a:txBody>
                    <a:bodyPr/>
                    <a:lstStyle/>
                    <a:p>
                      <a:pPr algn="ctr">
                        <a:defRPr sz="1300">
                          <a:solidFill>
                            <a:srgbClr val="1A1A1A"/>
                          </a:solidFill>
                          <a:latin typeface="Calibri"/>
                        </a:defRPr>
                      </a:pPr>
                      <a:r>
                        <a:t>C4</a:t>
                      </a:r>
                    </a:p>
                  </a:txBody>
                  <a:tcPr anchor="ctr">
                    <a:solidFill>
                      <a:srgbClr val="FFFFFF"/>
                    </a:solidFill>
                  </a:tcPr>
                </a:tc>
                <a:tc>
                  <a:txBody>
                    <a:bodyPr/>
                    <a:lstStyle/>
                    <a:p>
                      <a:pPr algn="ctr">
                        <a:defRPr sz="1300">
                          <a:solidFill>
                            <a:srgbClr val="1A1A1A"/>
                          </a:solidFill>
                          <a:latin typeface="Calibri"/>
                        </a:defRPr>
                      </a:pPr>
                      <a:r>
                        <a:t>78 (extended)</a:t>
                      </a:r>
                    </a:p>
                  </a:txBody>
                  <a:tcPr anchor="ctr">
                    <a:solidFill>
                      <a:srgbClr val="FFFFFF"/>
                    </a:solidFill>
                  </a:tcPr>
                </a:tc>
                <a:tc>
                  <a:txBody>
                    <a:bodyPr/>
                    <a:lstStyle/>
                    <a:p>
                      <a:pPr algn="ctr">
                        <a:defRPr sz="1300">
                          <a:solidFill>
                            <a:srgbClr val="1A1A1A"/>
                          </a:solidFill>
                          <a:latin typeface="Calibri"/>
                        </a:defRPr>
                      </a:pPr>
                      <a:r>
                        <a:t>Balanced</a:t>
                      </a:r>
                    </a:p>
                  </a:txBody>
                  <a:tcPr anchor="ctr">
                    <a:solidFill>
                      <a:srgbClr val="FFFFFF"/>
                    </a:solidFill>
                  </a:tcPr>
                </a:tc>
                <a:tc>
                  <a:txBody>
                    <a:bodyPr/>
                    <a:lstStyle/>
                    <a:p>
                      <a:pPr algn="ctr">
                        <a:defRPr sz="1300">
                          <a:solidFill>
                            <a:srgbClr val="1A1A1A"/>
                          </a:solidFill>
                          <a:latin typeface="Calibri"/>
                        </a:defRPr>
                      </a:pPr>
                      <a:r>
                        <a:t>LR, SVM, RF, GB, XGB</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5.1: Experimental conditions C1–C4 | tab:conditions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
        <p:nvSpPr>
          <p:cNvPr id="8" name="TextBox 7"/>
          <p:cNvSpPr txBox="1"/>
          <p:nvPr/>
        </p:nvSpPr>
        <p:spPr>
          <a:xfrm>
            <a:off x="457200" y="4572000"/>
            <a:ext cx="11247120" cy="1097280"/>
          </a:xfrm>
          <a:prstGeom prst="rect">
            <a:avLst/>
          </a:prstGeom>
          <a:noFill/>
        </p:spPr>
        <p:txBody>
          <a:bodyPr wrap="square">
            <a:spAutoFit/>
          </a:bodyPr>
          <a:lstStyle/>
          <a:p>
            <a:pPr algn="ctr">
              <a:defRPr sz="1800" b="1">
                <a:solidFill>
                  <a:srgbClr val="E86C00"/>
                </a:solidFill>
                <a:latin typeface="Calibri"/>
              </a:defRPr>
            </a:pPr>
            <a:r>
              <a:t>Total: 4 conditions × 5 models × 3 datasets/tasks × 5 folds = 300 experimental runs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Rectangle 1"/>
          <p:cNvSpPr/>
          <p:nvPr/>
        </p:nvSpPr>
        <p:spPr>
          <a:xfrm>
            <a:off x="914400" y="2926080"/>
            <a:ext cx="103628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1097280"/>
          </a:xfrm>
          <a:prstGeom prst="rect">
            <a:avLst/>
          </a:prstGeom>
          <a:noFill/>
        </p:spPr>
        <p:txBody>
          <a:bodyPr wrap="square">
            <a:spAutoFit/>
          </a:bodyPr>
          <a:lstStyle/>
          <a:p>
            <a:pPr algn="l">
              <a:defRPr sz="4000" b="1">
                <a:solidFill>
                  <a:srgbClr val="FFFFFF"/>
                </a:solidFill>
                <a:latin typeface="Calibri"/>
              </a:defRPr>
            </a:pPr>
            <a:r>
              <a:t>Results</a:t>
            </a:r>
          </a:p>
        </p:txBody>
      </p:sp>
      <p:sp>
        <p:nvSpPr>
          <p:cNvPr id="4" name="TextBox 3"/>
          <p:cNvSpPr txBox="1"/>
          <p:nvPr/>
        </p:nvSpPr>
        <p:spPr>
          <a:xfrm>
            <a:off x="914400" y="3200400"/>
            <a:ext cx="10362895" cy="914400"/>
          </a:xfrm>
          <a:prstGeom prst="rect">
            <a:avLst/>
          </a:prstGeom>
          <a:noFill/>
        </p:spPr>
        <p:txBody>
          <a:bodyPr wrap="square">
            <a:spAutoFit/>
          </a:bodyPr>
          <a:lstStyle/>
          <a:p>
            <a:pPr algn="l">
              <a:defRPr sz="2000" b="0">
                <a:solidFill>
                  <a:srgbClr val="D6E8F7"/>
                </a:solidFill>
                <a:latin typeface="Calibri"/>
              </a:defRPr>
            </a:pPr>
            <a:r>
              <a:t>ROC-AUC · Ablation · Class Weighting · Variance</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Headline Results — Best ROC-AUC per Dataset</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18" cy="1572768"/>
        </p:xfrm>
        <a:graphic>
          <a:graphicData uri="http://schemas.openxmlformats.org/drawingml/2006/table">
            <a:tbl>
              <a:tblPr firstRow="1" bandRow="1">
                <a:tableStyleId>{5C22544A-7EE6-4342-B048-85BDC9FD1C3A}</a:tableStyleId>
              </a:tblPr>
              <a:tblGrid>
                <a:gridCol w="3178533"/>
                <a:gridCol w="2445026"/>
                <a:gridCol w="2445026"/>
                <a:gridCol w="3178533"/>
              </a:tblGrid>
              <a:tr h="393192">
                <a:tc>
                  <a:txBody>
                    <a:bodyPr/>
                    <a:lstStyle/>
                    <a:p>
                      <a:pPr algn="ctr">
                        <a:defRPr sz="1400" b="1">
                          <a:solidFill>
                            <a:srgbClr val="FFFFFF"/>
                          </a:solidFill>
                          <a:latin typeface="Calibri"/>
                        </a:defRPr>
                      </a:pPr>
                      <a:r>
                        <a:t>Dataset / Task</a:t>
                      </a:r>
                    </a:p>
                  </a:txBody>
                  <a:tcPr anchor="ctr">
                    <a:solidFill>
                      <a:srgbClr val="0056A0"/>
                    </a:solidFill>
                  </a:tcPr>
                </a:tc>
                <a:tc>
                  <a:txBody>
                    <a:bodyPr/>
                    <a:lstStyle/>
                    <a:p>
                      <a:pPr algn="ctr">
                        <a:defRPr sz="1400" b="1">
                          <a:solidFill>
                            <a:srgbClr val="FFFFFF"/>
                          </a:solidFill>
                          <a:latin typeface="Calibri"/>
                        </a:defRPr>
                      </a:pPr>
                      <a:r>
                        <a:t>Best Model</a:t>
                      </a:r>
                    </a:p>
                  </a:txBody>
                  <a:tcPr anchor="ctr">
                    <a:solidFill>
                      <a:srgbClr val="0056A0"/>
                    </a:solidFill>
                  </a:tcPr>
                </a:tc>
                <a:tc>
                  <a:txBody>
                    <a:bodyPr/>
                    <a:lstStyle/>
                    <a:p>
                      <a:pPr algn="ctr">
                        <a:defRPr sz="1400" b="1">
                          <a:solidFill>
                            <a:srgbClr val="FFFFFF"/>
                          </a:solidFill>
                          <a:latin typeface="Calibri"/>
                        </a:defRPr>
                      </a:pPr>
                      <a:r>
                        <a:t>ROC-AUC</a:t>
                      </a:r>
                    </a:p>
                  </a:txBody>
                  <a:tcPr anchor="ctr">
                    <a:solidFill>
                      <a:srgbClr val="0056A0"/>
                    </a:solidFill>
                  </a:tcPr>
                </a:tc>
                <a:tc>
                  <a:txBody>
                    <a:bodyPr/>
                    <a:lstStyle/>
                    <a:p>
                      <a:pPr algn="ctr">
                        <a:defRPr sz="1400" b="1">
                          <a:solidFill>
                            <a:srgbClr val="FFFFFF"/>
                          </a:solidFill>
                          <a:latin typeface="Calibri"/>
                        </a:defRPr>
                      </a:pPr>
                      <a:r>
                        <a:t>Condition</a:t>
                      </a:r>
                    </a:p>
                  </a:txBody>
                  <a:tcPr anchor="ctr">
                    <a:solidFill>
                      <a:srgbClr val="0056A0"/>
                    </a:solidFill>
                  </a:tcPr>
                </a:tc>
              </a:tr>
              <a:tr h="393192">
                <a:tc>
                  <a:txBody>
                    <a:bodyPr/>
                    <a:lstStyle/>
                    <a:p>
                      <a:pPr algn="ctr">
                        <a:defRPr sz="1300">
                          <a:solidFill>
                            <a:srgbClr val="1A1A1A"/>
                          </a:solidFill>
                          <a:latin typeface="Calibri"/>
                        </a:defRPr>
                      </a:pPr>
                      <a:r>
                        <a:t>Dataset A (Spontaneous)</a:t>
                      </a:r>
                    </a:p>
                  </a:txBody>
                  <a:tcPr anchor="ctr">
                    <a:solidFill>
                      <a:srgbClr val="F2F2F2"/>
                    </a:solidFill>
                  </a:tcPr>
                </a:tc>
                <a:tc>
                  <a:txBody>
                    <a:bodyPr/>
                    <a:lstStyle/>
                    <a:p>
                      <a:pPr algn="ctr">
                        <a:defRPr sz="1300">
                          <a:solidFill>
                            <a:srgbClr val="1A1A1A"/>
                          </a:solidFill>
                          <a:latin typeface="Calibri"/>
                        </a:defRPr>
                      </a:pPr>
                      <a:r>
                        <a:t>Random Forest</a:t>
                      </a:r>
                    </a:p>
                  </a:txBody>
                  <a:tcPr anchor="ctr">
                    <a:solidFill>
                      <a:srgbClr val="F2F2F2"/>
                    </a:solidFill>
                  </a:tcPr>
                </a:tc>
                <a:tc>
                  <a:txBody>
                    <a:bodyPr/>
                    <a:lstStyle/>
                    <a:p>
                      <a:pPr algn="ctr">
                        <a:defRPr sz="1300" b="1">
                          <a:solidFill>
                            <a:srgbClr val="E86C00"/>
                          </a:solidFill>
                          <a:latin typeface="Calibri"/>
                        </a:defRPr>
                      </a:pPr>
                      <a:r>
                        <a:t>0.857 ± 0.171</a:t>
                      </a:r>
                    </a:p>
                  </a:txBody>
                  <a:tcPr anchor="ctr">
                    <a:solidFill>
                      <a:srgbClr val="F2F2F2"/>
                    </a:solidFill>
                  </a:tcPr>
                </a:tc>
                <a:tc>
                  <a:txBody>
                    <a:bodyPr/>
                    <a:lstStyle/>
                    <a:p>
                      <a:pPr algn="ctr">
                        <a:defRPr sz="1300">
                          <a:solidFill>
                            <a:srgbClr val="1A1A1A"/>
                          </a:solidFill>
                          <a:latin typeface="Calibri"/>
                        </a:defRPr>
                      </a:pPr>
                      <a:r>
                        <a:t>C3 (78, unweighted)</a:t>
                      </a:r>
                    </a:p>
                  </a:txBody>
                  <a:tcPr anchor="ctr">
                    <a:solidFill>
                      <a:srgbClr val="F2F2F2"/>
                    </a:solidFill>
                  </a:tcPr>
                </a:tc>
              </a:tr>
              <a:tr h="393192">
                <a:tc>
                  <a:txBody>
                    <a:bodyPr/>
                    <a:lstStyle/>
                    <a:p>
                      <a:pPr algn="ctr">
                        <a:defRPr sz="1300">
                          <a:solidFill>
                            <a:srgbClr val="1A1A1A"/>
                          </a:solidFill>
                          <a:latin typeface="Calibri"/>
                        </a:defRPr>
                      </a:pPr>
                      <a:r>
                        <a:t>Dataset A (ReadText)</a:t>
                      </a:r>
                    </a:p>
                  </a:txBody>
                  <a:tcPr anchor="ctr">
                    <a:solidFill>
                      <a:srgbClr val="FFFFFF"/>
                    </a:solidFill>
                  </a:tcPr>
                </a:tc>
                <a:tc>
                  <a:txBody>
                    <a:bodyPr/>
                    <a:lstStyle/>
                    <a:p>
                      <a:pPr algn="ctr">
                        <a:defRPr sz="1300">
                          <a:solidFill>
                            <a:srgbClr val="1A1A1A"/>
                          </a:solidFill>
                          <a:latin typeface="Calibri"/>
                        </a:defRPr>
                      </a:pPr>
                      <a:r>
                        <a:t>SVM (RBF)</a:t>
                      </a:r>
                    </a:p>
                  </a:txBody>
                  <a:tcPr anchor="ctr">
                    <a:solidFill>
                      <a:srgbClr val="FFFFFF"/>
                    </a:solidFill>
                  </a:tcPr>
                </a:tc>
                <a:tc>
                  <a:txBody>
                    <a:bodyPr/>
                    <a:lstStyle/>
                    <a:p>
                      <a:pPr algn="ctr">
                        <a:defRPr sz="1300">
                          <a:solidFill>
                            <a:srgbClr val="1A1A1A"/>
                          </a:solidFill>
                          <a:latin typeface="Calibri"/>
                        </a:defRPr>
                      </a:pPr>
                      <a:r>
                        <a:t>0.834 ± 0.153</a:t>
                      </a:r>
                    </a:p>
                  </a:txBody>
                  <a:tcPr anchor="ctr">
                    <a:solidFill>
                      <a:srgbClr val="FFFFFF"/>
                    </a:solidFill>
                  </a:tcPr>
                </a:tc>
                <a:tc>
                  <a:txBody>
                    <a:bodyPr/>
                    <a:lstStyle/>
                    <a:p>
                      <a:pPr algn="ctr">
                        <a:defRPr sz="1300">
                          <a:solidFill>
                            <a:srgbClr val="1A1A1A"/>
                          </a:solidFill>
                          <a:latin typeface="Calibri"/>
                        </a:defRPr>
                      </a:pPr>
                      <a:r>
                        <a:t>C3 (78, unweighted)</a:t>
                      </a:r>
                    </a:p>
                  </a:txBody>
                  <a:tcPr anchor="ctr">
                    <a:solidFill>
                      <a:srgbClr val="FFFFFF"/>
                    </a:solidFill>
                  </a:tcPr>
                </a:tc>
              </a:tr>
              <a:tr h="393192">
                <a:tc>
                  <a:txBody>
                    <a:bodyPr/>
                    <a:lstStyle/>
                    <a:p>
                      <a:pPr algn="ctr">
                        <a:defRPr sz="1300">
                          <a:solidFill>
                            <a:srgbClr val="1A1A1A"/>
                          </a:solidFill>
                          <a:latin typeface="Calibri"/>
                        </a:defRPr>
                      </a:pPr>
                      <a:r>
                        <a:t>Dataset B (PD Speech)</a:t>
                      </a:r>
                    </a:p>
                  </a:txBody>
                  <a:tcPr anchor="ctr">
                    <a:solidFill>
                      <a:srgbClr val="F2F2F2"/>
                    </a:solidFill>
                  </a:tcPr>
                </a:tc>
                <a:tc>
                  <a:txBody>
                    <a:bodyPr/>
                    <a:lstStyle/>
                    <a:p>
                      <a:pPr algn="ctr">
                        <a:defRPr sz="1300">
                          <a:solidFill>
                            <a:srgbClr val="1A1A1A"/>
                          </a:solidFill>
                          <a:latin typeface="Calibri"/>
                        </a:defRPr>
                      </a:pPr>
                      <a:r>
                        <a:t>XGBoost</a:t>
                      </a:r>
                    </a:p>
                  </a:txBody>
                  <a:tcPr anchor="ctr">
                    <a:solidFill>
                      <a:srgbClr val="F2F2F2"/>
                    </a:solidFill>
                  </a:tcPr>
                </a:tc>
                <a:tc>
                  <a:txBody>
                    <a:bodyPr/>
                    <a:lstStyle/>
                    <a:p>
                      <a:pPr algn="ctr">
                        <a:defRPr sz="1300" b="1">
                          <a:solidFill>
                            <a:srgbClr val="E86C00"/>
                          </a:solidFill>
                          <a:latin typeface="Calibri"/>
                        </a:defRPr>
                      </a:pPr>
                      <a:r>
                        <a:t>0.952 ± 0.015</a:t>
                      </a:r>
                    </a:p>
                  </a:txBody>
                  <a:tcPr anchor="ctr">
                    <a:solidFill>
                      <a:srgbClr val="F2F2F2"/>
                    </a:solidFill>
                  </a:tcPr>
                </a:tc>
                <a:tc>
                  <a:txBody>
                    <a:bodyPr/>
                    <a:lstStyle/>
                    <a:p>
                      <a:pPr algn="ctr">
                        <a:defRPr sz="1300">
                          <a:solidFill>
                            <a:srgbClr val="1A1A1A"/>
                          </a:solidFill>
                          <a:latin typeface="Calibri"/>
                        </a:defRPr>
                      </a:pPr>
                      <a:r>
                        <a:t>C1 (47, unweighted)</a:t>
                      </a:r>
                    </a:p>
                  </a:txBody>
                  <a:tcPr anchor="ctr">
                    <a:solidFill>
                      <a:srgbClr val="F2F2F2"/>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6.1: Best ROC-AUC summary | tab:best-results-summary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
        <p:nvSpPr>
          <p:cNvPr id="8" name="TextBox 7"/>
          <p:cNvSpPr txBox="1"/>
          <p:nvPr/>
        </p:nvSpPr>
        <p:spPr>
          <a:xfrm>
            <a:off x="457200" y="4389120"/>
            <a:ext cx="11247120" cy="1371600"/>
          </a:xfrm>
          <a:prstGeom prst="rect">
            <a:avLst/>
          </a:prstGeom>
          <a:noFill/>
        </p:spPr>
        <p:txBody>
          <a:bodyPr wrap="square">
            <a:spAutoFit/>
          </a:bodyPr>
          <a:lstStyle/>
          <a:p>
            <a:pPr algn="l">
              <a:defRPr sz="1700" b="1">
                <a:solidFill>
                  <a:srgbClr val="0056A0"/>
                </a:solidFill>
                <a:latin typeface="Calibri"/>
              </a:defRPr>
            </a:pPr>
            <a:r>
              <a:t>Key: Random Forest is the most consistent performer across all conditions</a:t>
            </a:r>
          </a:p>
          <a:p>
            <a:pPr algn="l">
              <a:spcBef>
                <a:spcPts val="400"/>
              </a:spcBef>
              <a:spcAft>
                <a:spcPts val="200"/>
              </a:spcAft>
              <a:defRPr sz="1500" b="0">
                <a:solidFill>
                  <a:srgbClr val="666666"/>
                </a:solidFill>
                <a:latin typeface="Calibri"/>
              </a:defRPr>
            </a:pPr>
            <a:r>
              <a:t>Dataset B scores substantially higher but with methodological caveats (no grouped CV)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ROC Curves — Dataset A (Extended Features, Grouped 5-Fold CV)</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roc_readtext.png"/>
          <p:cNvPicPr>
            <a:picLocks noChangeAspect="1"/>
          </p:cNvPicPr>
          <p:nvPr/>
        </p:nvPicPr>
        <p:blipFill>
          <a:blip r:embed="rId2"/>
          <a:stretch>
            <a:fillRect/>
          </a:stretch>
        </p:blipFill>
        <p:spPr>
          <a:xfrm>
            <a:off x="365760" y="1280160"/>
            <a:ext cx="5161764" cy="4389120"/>
          </a:xfrm>
          <a:prstGeom prst="rect">
            <a:avLst/>
          </a:prstGeom>
        </p:spPr>
      </p:pic>
      <p:sp>
        <p:nvSpPr>
          <p:cNvPr id="5" name="Rectangle 4"/>
          <p:cNvSpPr/>
          <p:nvPr/>
        </p:nvSpPr>
        <p:spPr>
          <a:xfrm>
            <a:off x="365760" y="5724144"/>
            <a:ext cx="5161764"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(a) ReadText — SVM leads (0.834) | Ref: fig:roc-readtext-main</a:t>
            </a:r>
          </a:p>
        </p:txBody>
      </p:sp>
      <p:pic>
        <p:nvPicPr>
          <p:cNvPr id="6" name="Picture 5" descr="fig_roc_spontaneous.png"/>
          <p:cNvPicPr>
            <a:picLocks noChangeAspect="1"/>
          </p:cNvPicPr>
          <p:nvPr/>
        </p:nvPicPr>
        <p:blipFill>
          <a:blip r:embed="rId3"/>
          <a:stretch>
            <a:fillRect/>
          </a:stretch>
        </p:blipFill>
        <p:spPr>
          <a:xfrm>
            <a:off x="6309360" y="1280160"/>
            <a:ext cx="5161764" cy="4389120"/>
          </a:xfrm>
          <a:prstGeom prst="rect">
            <a:avLst/>
          </a:prstGeom>
        </p:spPr>
      </p:pic>
      <p:sp>
        <p:nvSpPr>
          <p:cNvPr id="7" name="Rectangle 6"/>
          <p:cNvSpPr/>
          <p:nvPr/>
        </p:nvSpPr>
        <p:spPr>
          <a:xfrm>
            <a:off x="6309360" y="5724144"/>
            <a:ext cx="5161764"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(b) SpontaneousDialogue — RF leads (0.857) | Ref: fig:roc-spontaneous-main</a:t>
            </a:r>
          </a:p>
        </p:txBody>
      </p:sp>
      <p:sp>
        <p:nvSpPr>
          <p:cNvPr id="8" name="Rectangle 7"/>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ROC Curve — Dataset B &amp; Confusion Matrices (Best Models)</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roc_dataset_b.png"/>
          <p:cNvPicPr>
            <a:picLocks noChangeAspect="1"/>
          </p:cNvPicPr>
          <p:nvPr/>
        </p:nvPicPr>
        <p:blipFill>
          <a:blip r:embed="rId2"/>
          <a:stretch>
            <a:fillRect/>
          </a:stretch>
        </p:blipFill>
        <p:spPr>
          <a:xfrm>
            <a:off x="274320" y="1280160"/>
            <a:ext cx="3474720" cy="2954603"/>
          </a:xfrm>
          <a:prstGeom prst="rect">
            <a:avLst/>
          </a:prstGeom>
        </p:spPr>
      </p:pic>
      <p:sp>
        <p:nvSpPr>
          <p:cNvPr id="5" name="Rectangle 4"/>
          <p:cNvSpPr/>
          <p:nvPr/>
        </p:nvSpPr>
        <p:spPr>
          <a:xfrm>
            <a:off x="274320" y="4289627"/>
            <a:ext cx="347472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(a) Dataset B — All models &gt; 0.86 | Ref: fig:roc-datasetb-main</a:t>
            </a:r>
          </a:p>
        </p:txBody>
      </p:sp>
      <p:pic>
        <p:nvPicPr>
          <p:cNvPr id="6" name="Picture 5" descr="fig_confusion_readtext.png"/>
          <p:cNvPicPr>
            <a:picLocks noChangeAspect="1"/>
          </p:cNvPicPr>
          <p:nvPr/>
        </p:nvPicPr>
        <p:blipFill>
          <a:blip r:embed="rId3"/>
          <a:stretch>
            <a:fillRect/>
          </a:stretch>
        </p:blipFill>
        <p:spPr>
          <a:xfrm>
            <a:off x="4206240" y="1280160"/>
            <a:ext cx="3474720" cy="679658"/>
          </a:xfrm>
          <a:prstGeom prst="rect">
            <a:avLst/>
          </a:prstGeom>
        </p:spPr>
      </p:pic>
      <p:sp>
        <p:nvSpPr>
          <p:cNvPr id="7" name="Rectangle 6"/>
          <p:cNvSpPr/>
          <p:nvPr/>
        </p:nvSpPr>
        <p:spPr>
          <a:xfrm>
            <a:off x="4206240" y="2014682"/>
            <a:ext cx="347472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(b) CM: ReadText (RF) | Ref: fig:confusion-readtext</a:t>
            </a:r>
          </a:p>
        </p:txBody>
      </p:sp>
      <p:pic>
        <p:nvPicPr>
          <p:cNvPr id="8" name="Picture 7" descr="fig_confusion_spontaneous.png"/>
          <p:cNvPicPr>
            <a:picLocks noChangeAspect="1"/>
          </p:cNvPicPr>
          <p:nvPr/>
        </p:nvPicPr>
        <p:blipFill>
          <a:blip r:embed="rId4"/>
          <a:stretch>
            <a:fillRect/>
          </a:stretch>
        </p:blipFill>
        <p:spPr>
          <a:xfrm>
            <a:off x="8138160" y="1280160"/>
            <a:ext cx="3474720" cy="679658"/>
          </a:xfrm>
          <a:prstGeom prst="rect">
            <a:avLst/>
          </a:prstGeom>
        </p:spPr>
      </p:pic>
      <p:sp>
        <p:nvSpPr>
          <p:cNvPr id="9" name="Rectangle 8"/>
          <p:cNvSpPr/>
          <p:nvPr/>
        </p:nvSpPr>
        <p:spPr>
          <a:xfrm>
            <a:off x="8138160" y="2014682"/>
            <a:ext cx="347472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(c) CM: Spontaneous (RF) | Ref: fig:confusion-spontaneous</a:t>
            </a:r>
          </a:p>
        </p:txBody>
      </p:sp>
      <p:sp>
        <p:nvSpPr>
          <p:cNvPr id="10" name="Rectangle 9"/>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RQ2 — Feature Extension Effect (Δ ROC-AUC: C3 − C1)</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2359152"/>
        </p:xfrm>
        <a:graphic>
          <a:graphicData uri="http://schemas.openxmlformats.org/drawingml/2006/table">
            <a:tbl>
              <a:tblPr firstRow="1" bandRow="1">
                <a:tableStyleId>{5C22544A-7EE6-4342-B048-85BDC9FD1C3A}</a:tableStyleId>
              </a:tblPr>
              <a:tblGrid>
                <a:gridCol w="3374136"/>
                <a:gridCol w="2249424"/>
                <a:gridCol w="2249424"/>
                <a:gridCol w="3374136"/>
              </a:tblGrid>
              <a:tr h="393192">
                <a:tc>
                  <a:txBody>
                    <a:bodyPr/>
                    <a:lstStyle/>
                    <a:p>
                      <a:pPr algn="ctr">
                        <a:defRPr sz="1400" b="1">
                          <a:solidFill>
                            <a:srgbClr val="FFFFFF"/>
                          </a:solidFill>
                          <a:latin typeface="Calibri"/>
                        </a:defRPr>
                      </a:pPr>
                      <a:r>
                        <a:t>Model</a:t>
                      </a:r>
                    </a:p>
                  </a:txBody>
                  <a:tcPr anchor="ctr">
                    <a:solidFill>
                      <a:srgbClr val="0056A0"/>
                    </a:solidFill>
                  </a:tcPr>
                </a:tc>
                <a:tc>
                  <a:txBody>
                    <a:bodyPr/>
                    <a:lstStyle/>
                    <a:p>
                      <a:pPr algn="ctr">
                        <a:defRPr sz="1400" b="1">
                          <a:solidFill>
                            <a:srgbClr val="FFFFFF"/>
                          </a:solidFill>
                          <a:latin typeface="Calibri"/>
                        </a:defRPr>
                      </a:pPr>
                      <a:r>
                        <a:t>ReadText Δ</a:t>
                      </a:r>
                    </a:p>
                  </a:txBody>
                  <a:tcPr anchor="ctr">
                    <a:solidFill>
                      <a:srgbClr val="0056A0"/>
                    </a:solidFill>
                  </a:tcPr>
                </a:tc>
                <a:tc>
                  <a:txBody>
                    <a:bodyPr/>
                    <a:lstStyle/>
                    <a:p>
                      <a:pPr algn="ctr">
                        <a:defRPr sz="1400" b="1">
                          <a:solidFill>
                            <a:srgbClr val="FFFFFF"/>
                          </a:solidFill>
                          <a:latin typeface="Calibri"/>
                        </a:defRPr>
                      </a:pPr>
                      <a:r>
                        <a:t>Spontaneous Δ</a:t>
                      </a:r>
                    </a:p>
                  </a:txBody>
                  <a:tcPr anchor="ctr">
                    <a:solidFill>
                      <a:srgbClr val="0056A0"/>
                    </a:solidFill>
                  </a:tcPr>
                </a:tc>
                <a:tc>
                  <a:txBody>
                    <a:bodyPr/>
                    <a:lstStyle/>
                    <a:p>
                      <a:pPr algn="ctr">
                        <a:defRPr sz="1400" b="1">
                          <a:solidFill>
                            <a:srgbClr val="FFFFFF"/>
                          </a:solidFill>
                          <a:latin typeface="Calibri"/>
                        </a:defRPr>
                      </a:pPr>
                      <a:r>
                        <a:t>Interpretation</a:t>
                      </a:r>
                    </a:p>
                  </a:txBody>
                  <a:tcPr anchor="ctr">
                    <a:solidFill>
                      <a:srgbClr val="0056A0"/>
                    </a:solidFill>
                  </a:tcPr>
                </a:tc>
              </a:tr>
              <a:tr h="393192">
                <a:tc>
                  <a:txBody>
                    <a:bodyPr/>
                    <a:lstStyle/>
                    <a:p>
                      <a:pPr algn="ctr">
                        <a:defRPr sz="1300">
                          <a:solidFill>
                            <a:srgbClr val="1A1A1A"/>
                          </a:solidFill>
                          <a:latin typeface="Calibri"/>
                        </a:defRPr>
                      </a:pPr>
                      <a:r>
                        <a:t>Logistic Regression</a:t>
                      </a:r>
                    </a:p>
                  </a:txBody>
                  <a:tcPr anchor="ctr">
                    <a:solidFill>
                      <a:srgbClr val="F2F2F2"/>
                    </a:solidFill>
                  </a:tcPr>
                </a:tc>
                <a:tc>
                  <a:txBody>
                    <a:bodyPr/>
                    <a:lstStyle/>
                    <a:p>
                      <a:pPr algn="ctr">
                        <a:defRPr sz="1300">
                          <a:solidFill>
                            <a:srgbClr val="1A1A1A"/>
                          </a:solidFill>
                          <a:latin typeface="Calibri"/>
                        </a:defRPr>
                      </a:pPr>
                      <a:r>
                        <a:t>−0.019</a:t>
                      </a:r>
                    </a:p>
                  </a:txBody>
                  <a:tcPr anchor="ctr">
                    <a:solidFill>
                      <a:srgbClr val="F2F2F2"/>
                    </a:solidFill>
                  </a:tcPr>
                </a:tc>
                <a:tc>
                  <a:txBody>
                    <a:bodyPr/>
                    <a:lstStyle/>
                    <a:p>
                      <a:pPr algn="ctr">
                        <a:defRPr sz="1300">
                          <a:solidFill>
                            <a:srgbClr val="1A1A1A"/>
                          </a:solidFill>
                          <a:latin typeface="Calibri"/>
                        </a:defRPr>
                      </a:pPr>
                      <a:r>
                        <a:t>+0.023</a:t>
                      </a:r>
                    </a:p>
                  </a:txBody>
                  <a:tcPr anchor="ctr">
                    <a:solidFill>
                      <a:srgbClr val="F2F2F2"/>
                    </a:solidFill>
                  </a:tcPr>
                </a:tc>
                <a:tc>
                  <a:txBody>
                    <a:bodyPr/>
                    <a:lstStyle/>
                    <a:p>
                      <a:pPr algn="ctr">
                        <a:defRPr sz="1300">
                          <a:solidFill>
                            <a:srgbClr val="1A1A1A"/>
                          </a:solidFill>
                          <a:latin typeface="Calibri"/>
                        </a:defRPr>
                      </a:pPr>
                      <a:r>
                        <a:t>Minimal change</a:t>
                      </a:r>
                    </a:p>
                  </a:txBody>
                  <a:tcPr anchor="ctr">
                    <a:solidFill>
                      <a:srgbClr val="F2F2F2"/>
                    </a:solidFill>
                  </a:tcPr>
                </a:tc>
              </a:tr>
              <a:tr h="393192">
                <a:tc>
                  <a:txBody>
                    <a:bodyPr/>
                    <a:lstStyle/>
                    <a:p>
                      <a:pPr algn="ctr">
                        <a:defRPr sz="1300">
                          <a:solidFill>
                            <a:srgbClr val="1A1A1A"/>
                          </a:solidFill>
                          <a:latin typeface="Calibri"/>
                        </a:defRPr>
                      </a:pPr>
                      <a:r>
                        <a:t>SVM (RBF)</a:t>
                      </a:r>
                    </a:p>
                  </a:txBody>
                  <a:tcPr anchor="ctr">
                    <a:solidFill>
                      <a:srgbClr val="FFFFFF"/>
                    </a:solidFill>
                  </a:tcPr>
                </a:tc>
                <a:tc>
                  <a:txBody>
                    <a:bodyPr/>
                    <a:lstStyle/>
                    <a:p>
                      <a:pPr algn="ctr">
                        <a:defRPr sz="1300" b="1">
                          <a:solidFill>
                            <a:srgbClr val="E86C00"/>
                          </a:solidFill>
                          <a:latin typeface="Calibri"/>
                        </a:defRPr>
                      </a:pPr>
                      <a:r>
                        <a:t>+0.220</a:t>
                      </a:r>
                    </a:p>
                  </a:txBody>
                  <a:tcPr anchor="ctr">
                    <a:solidFill>
                      <a:srgbClr val="FFFFFF"/>
                    </a:solidFill>
                  </a:tcPr>
                </a:tc>
                <a:tc>
                  <a:txBody>
                    <a:bodyPr/>
                    <a:lstStyle/>
                    <a:p>
                      <a:pPr algn="ctr">
                        <a:defRPr sz="1300">
                          <a:solidFill>
                            <a:srgbClr val="1A1A1A"/>
                          </a:solidFill>
                          <a:latin typeface="Calibri"/>
                        </a:defRPr>
                      </a:pPr>
                      <a:r>
                        <a:t>+0.053</a:t>
                      </a:r>
                    </a:p>
                  </a:txBody>
                  <a:tcPr anchor="ctr">
                    <a:solidFill>
                      <a:srgbClr val="FFFFFF"/>
                    </a:solidFill>
                  </a:tcPr>
                </a:tc>
                <a:tc>
                  <a:txBody>
                    <a:bodyPr/>
                    <a:lstStyle/>
                    <a:p>
                      <a:pPr algn="ctr">
                        <a:defRPr sz="1300">
                          <a:solidFill>
                            <a:srgbClr val="1A1A1A"/>
                          </a:solidFill>
                          <a:latin typeface="Calibri"/>
                        </a:defRPr>
                      </a:pPr>
                      <a:r>
                        <a:t>ReadText: dramatic gain</a:t>
                      </a:r>
                    </a:p>
                  </a:txBody>
                  <a:tcPr anchor="ctr">
                    <a:solidFill>
                      <a:srgbClr val="FFFFFF"/>
                    </a:solidFill>
                  </a:tcPr>
                </a:tc>
              </a:tr>
              <a:tr h="393192">
                <a:tc>
                  <a:txBody>
                    <a:bodyPr/>
                    <a:lstStyle/>
                    <a:p>
                      <a:pPr algn="ctr">
                        <a:defRPr sz="1300">
                          <a:solidFill>
                            <a:srgbClr val="1A1A1A"/>
                          </a:solidFill>
                          <a:latin typeface="Calibri"/>
                        </a:defRPr>
                      </a:pPr>
                      <a:r>
                        <a:t>Random Forest</a:t>
                      </a:r>
                    </a:p>
                  </a:txBody>
                  <a:tcPr anchor="ctr">
                    <a:solidFill>
                      <a:srgbClr val="F2F2F2"/>
                    </a:solidFill>
                  </a:tcPr>
                </a:tc>
                <a:tc>
                  <a:txBody>
                    <a:bodyPr/>
                    <a:lstStyle/>
                    <a:p>
                      <a:pPr algn="ctr">
                        <a:defRPr sz="1300" b="1">
                          <a:solidFill>
                            <a:srgbClr val="E86C00"/>
                          </a:solidFill>
                          <a:latin typeface="Calibri"/>
                        </a:defRPr>
                      </a:pPr>
                      <a:r>
                        <a:t>+0.232</a:t>
                      </a:r>
                    </a:p>
                  </a:txBody>
                  <a:tcPr anchor="ctr">
                    <a:solidFill>
                      <a:srgbClr val="F2F2F2"/>
                    </a:solidFill>
                  </a:tcPr>
                </a:tc>
                <a:tc>
                  <a:txBody>
                    <a:bodyPr/>
                    <a:lstStyle/>
                    <a:p>
                      <a:pPr algn="ctr">
                        <a:defRPr sz="1300">
                          <a:solidFill>
                            <a:srgbClr val="1A1A1A"/>
                          </a:solidFill>
                          <a:latin typeface="Calibri"/>
                        </a:defRPr>
                      </a:pPr>
                      <a:r>
                        <a:t>+0.029</a:t>
                      </a:r>
                    </a:p>
                  </a:txBody>
                  <a:tcPr anchor="ctr">
                    <a:solidFill>
                      <a:srgbClr val="F2F2F2"/>
                    </a:solidFill>
                  </a:tcPr>
                </a:tc>
                <a:tc>
                  <a:txBody>
                    <a:bodyPr/>
                    <a:lstStyle/>
                    <a:p>
                      <a:pPr algn="ctr">
                        <a:defRPr sz="1300">
                          <a:solidFill>
                            <a:srgbClr val="1A1A1A"/>
                          </a:solidFill>
                          <a:latin typeface="Calibri"/>
                        </a:defRPr>
                      </a:pPr>
                      <a:r>
                        <a:t>ReadText: dramatic gain</a:t>
                      </a:r>
                    </a:p>
                  </a:txBody>
                  <a:tcPr anchor="ctr">
                    <a:solidFill>
                      <a:srgbClr val="F2F2F2"/>
                    </a:solidFill>
                  </a:tcPr>
                </a:tc>
              </a:tr>
              <a:tr h="393192">
                <a:tc>
                  <a:txBody>
                    <a:bodyPr/>
                    <a:lstStyle/>
                    <a:p>
                      <a:pPr algn="ctr">
                        <a:defRPr sz="1300">
                          <a:solidFill>
                            <a:srgbClr val="1A1A1A"/>
                          </a:solidFill>
                          <a:latin typeface="Calibri"/>
                        </a:defRPr>
                      </a:pPr>
                      <a:r>
                        <a:t>Gradient Boosting</a:t>
                      </a:r>
                    </a:p>
                  </a:txBody>
                  <a:tcPr anchor="ctr">
                    <a:solidFill>
                      <a:srgbClr val="FFFFFF"/>
                    </a:solidFill>
                  </a:tcPr>
                </a:tc>
                <a:tc>
                  <a:txBody>
                    <a:bodyPr/>
                    <a:lstStyle/>
                    <a:p>
                      <a:pPr algn="ctr">
                        <a:defRPr sz="1300" b="1">
                          <a:solidFill>
                            <a:srgbClr val="E86C00"/>
                          </a:solidFill>
                          <a:latin typeface="Calibri"/>
                        </a:defRPr>
                      </a:pPr>
                      <a:r>
                        <a:t>+0.224</a:t>
                      </a:r>
                    </a:p>
                  </a:txBody>
                  <a:tcPr anchor="ctr">
                    <a:solidFill>
                      <a:srgbClr val="FFFFFF"/>
                    </a:solidFill>
                  </a:tcPr>
                </a:tc>
                <a:tc>
                  <a:txBody>
                    <a:bodyPr/>
                    <a:lstStyle/>
                    <a:p>
                      <a:pPr algn="ctr">
                        <a:defRPr sz="1300">
                          <a:solidFill>
                            <a:srgbClr val="1A1A1A"/>
                          </a:solidFill>
                          <a:latin typeface="Calibri"/>
                        </a:defRPr>
                      </a:pPr>
                      <a:r>
                        <a:t>+0.023</a:t>
                      </a:r>
                    </a:p>
                  </a:txBody>
                  <a:tcPr anchor="ctr">
                    <a:solidFill>
                      <a:srgbClr val="FFFFFF"/>
                    </a:solidFill>
                  </a:tcPr>
                </a:tc>
                <a:tc>
                  <a:txBody>
                    <a:bodyPr/>
                    <a:lstStyle/>
                    <a:p>
                      <a:pPr algn="ctr">
                        <a:defRPr sz="1300">
                          <a:solidFill>
                            <a:srgbClr val="1A1A1A"/>
                          </a:solidFill>
                          <a:latin typeface="Calibri"/>
                        </a:defRPr>
                      </a:pPr>
                      <a:r>
                        <a:t>ReadText: dramatic gain</a:t>
                      </a:r>
                    </a:p>
                  </a:txBody>
                  <a:tcPr anchor="ctr">
                    <a:solidFill>
                      <a:srgbClr val="FFFFFF"/>
                    </a:solidFill>
                  </a:tcPr>
                </a:tc>
              </a:tr>
              <a:tr h="393192">
                <a:tc>
                  <a:txBody>
                    <a:bodyPr/>
                    <a:lstStyle/>
                    <a:p>
                      <a:pPr algn="ctr">
                        <a:defRPr sz="1300">
                          <a:solidFill>
                            <a:srgbClr val="1A1A1A"/>
                          </a:solidFill>
                          <a:latin typeface="Calibri"/>
                        </a:defRPr>
                      </a:pPr>
                      <a:r>
                        <a:t>XGBoost</a:t>
                      </a:r>
                    </a:p>
                  </a:txBody>
                  <a:tcPr anchor="ctr">
                    <a:solidFill>
                      <a:srgbClr val="F2F2F2"/>
                    </a:solidFill>
                  </a:tcPr>
                </a:tc>
                <a:tc>
                  <a:txBody>
                    <a:bodyPr/>
                    <a:lstStyle/>
                    <a:p>
                      <a:pPr algn="ctr">
                        <a:defRPr sz="1300">
                          <a:solidFill>
                            <a:srgbClr val="1A1A1A"/>
                          </a:solidFill>
                          <a:latin typeface="Calibri"/>
                        </a:defRPr>
                      </a:pPr>
                      <a:r>
                        <a:t>+0.166</a:t>
                      </a:r>
                    </a:p>
                  </a:txBody>
                  <a:tcPr anchor="ctr">
                    <a:solidFill>
                      <a:srgbClr val="F2F2F2"/>
                    </a:solidFill>
                  </a:tcPr>
                </a:tc>
                <a:tc>
                  <a:txBody>
                    <a:bodyPr/>
                    <a:lstStyle/>
                    <a:p>
                      <a:pPr algn="ctr">
                        <a:defRPr sz="1300">
                          <a:solidFill>
                            <a:srgbClr val="1A1A1A"/>
                          </a:solidFill>
                          <a:latin typeface="Calibri"/>
                        </a:defRPr>
                      </a:pPr>
                      <a:r>
                        <a:t>−0.036</a:t>
                      </a:r>
                    </a:p>
                  </a:txBody>
                  <a:tcPr anchor="ctr">
                    <a:solidFill>
                      <a:srgbClr val="F2F2F2"/>
                    </a:solidFill>
                  </a:tcPr>
                </a:tc>
                <a:tc>
                  <a:txBody>
                    <a:bodyPr/>
                    <a:lstStyle/>
                    <a:p>
                      <a:pPr algn="ctr">
                        <a:defRPr sz="1300">
                          <a:solidFill>
                            <a:srgbClr val="1A1A1A"/>
                          </a:solidFill>
                          <a:latin typeface="Calibri"/>
                        </a:defRPr>
                      </a:pPr>
                      <a:r>
                        <a:t>Mixed</a:t>
                      </a:r>
                    </a:p>
                  </a:txBody>
                  <a:tcPr anchor="ctr">
                    <a:solidFill>
                      <a:srgbClr val="F2F2F2"/>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6.3: Feature ablation effect | tab:ablation-main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
        <p:nvSpPr>
          <p:cNvPr id="8" name="TextBox 7"/>
          <p:cNvSpPr txBox="1"/>
          <p:nvPr/>
        </p:nvSpPr>
        <p:spPr>
          <a:xfrm>
            <a:off x="457200" y="5303520"/>
            <a:ext cx="11247120" cy="914400"/>
          </a:xfrm>
          <a:prstGeom prst="rect">
            <a:avLst/>
          </a:prstGeom>
          <a:noFill/>
        </p:spPr>
        <p:txBody>
          <a:bodyPr wrap="square">
            <a:spAutoFit/>
          </a:bodyPr>
          <a:lstStyle/>
          <a:p>
            <a:pPr algn="l">
              <a:defRPr sz="1600" b="1">
                <a:solidFill>
                  <a:srgbClr val="E86C00"/>
                </a:solidFill>
                <a:latin typeface="Calibri"/>
              </a:defRPr>
            </a:pPr>
            <a:r>
              <a:t>Finding: Feature extension is task-dependent, not universal — up to +23.2 pp on ReadText, marginal on Spontaneous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RQ3 — Class Weighting Effect (Random Forest, Dataset A)</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1965960"/>
        </p:xfrm>
        <a:graphic>
          <a:graphicData uri="http://schemas.openxmlformats.org/drawingml/2006/table">
            <a:tbl>
              <a:tblPr firstRow="1" bandRow="1">
                <a:tableStyleId>{5C22544A-7EE6-4342-B048-85BDC9FD1C3A}</a:tableStyleId>
              </a:tblPr>
              <a:tblGrid>
                <a:gridCol w="4217670"/>
                <a:gridCol w="4217670"/>
                <a:gridCol w="2811780"/>
              </a:tblGrid>
              <a:tr h="393192">
                <a:tc>
                  <a:txBody>
                    <a:bodyPr/>
                    <a:lstStyle/>
                    <a:p>
                      <a:pPr algn="ctr">
                        <a:defRPr sz="1400" b="1">
                          <a:solidFill>
                            <a:srgbClr val="FFFFFF"/>
                          </a:solidFill>
                          <a:latin typeface="Calibri"/>
                        </a:defRPr>
                      </a:pPr>
                      <a:r>
                        <a:t>Task / Features</a:t>
                      </a:r>
                    </a:p>
                  </a:txBody>
                  <a:tcPr anchor="ctr">
                    <a:solidFill>
                      <a:srgbClr val="0056A0"/>
                    </a:solidFill>
                  </a:tcPr>
                </a:tc>
                <a:tc>
                  <a:txBody>
                    <a:bodyPr/>
                    <a:lstStyle/>
                    <a:p>
                      <a:pPr algn="ctr">
                        <a:defRPr sz="1400" b="1">
                          <a:solidFill>
                            <a:srgbClr val="FFFFFF"/>
                          </a:solidFill>
                          <a:latin typeface="Calibri"/>
                        </a:defRPr>
                      </a:pPr>
                      <a:r>
                        <a:t>Δ ROC-AUC (Weighted − Unweighted)</a:t>
                      </a:r>
                    </a:p>
                  </a:txBody>
                  <a:tcPr anchor="ctr">
                    <a:solidFill>
                      <a:srgbClr val="0056A0"/>
                    </a:solidFill>
                  </a:tcPr>
                </a:tc>
                <a:tc>
                  <a:txBody>
                    <a:bodyPr/>
                    <a:lstStyle/>
                    <a:p>
                      <a:pPr algn="ctr">
                        <a:defRPr sz="1400" b="1">
                          <a:solidFill>
                            <a:srgbClr val="FFFFFF"/>
                          </a:solidFill>
                          <a:latin typeface="Calibri"/>
                        </a:defRPr>
                      </a:pPr>
                      <a:r>
                        <a:t>Verdict</a:t>
                      </a:r>
                    </a:p>
                  </a:txBody>
                  <a:tcPr anchor="ctr">
                    <a:solidFill>
                      <a:srgbClr val="0056A0"/>
                    </a:solidFill>
                  </a:tcPr>
                </a:tc>
              </a:tr>
              <a:tr h="393192">
                <a:tc>
                  <a:txBody>
                    <a:bodyPr/>
                    <a:lstStyle/>
                    <a:p>
                      <a:pPr algn="ctr">
                        <a:defRPr sz="1300">
                          <a:solidFill>
                            <a:srgbClr val="1A1A1A"/>
                          </a:solidFill>
                          <a:latin typeface="Calibri"/>
                        </a:defRPr>
                      </a:pPr>
                      <a:r>
                        <a:t>ReadText / Baseline (47)</a:t>
                      </a:r>
                    </a:p>
                  </a:txBody>
                  <a:tcPr anchor="ctr">
                    <a:solidFill>
                      <a:srgbClr val="F2F2F2"/>
                    </a:solidFill>
                  </a:tcPr>
                </a:tc>
                <a:tc>
                  <a:txBody>
                    <a:bodyPr/>
                    <a:lstStyle/>
                    <a:p>
                      <a:pPr algn="ctr">
                        <a:defRPr sz="1300" b="1">
                          <a:solidFill>
                            <a:srgbClr val="E86C00"/>
                          </a:solidFill>
                          <a:latin typeface="Calibri"/>
                        </a:defRPr>
                      </a:pPr>
                      <a:r>
                        <a:t>+0.097</a:t>
                      </a:r>
                    </a:p>
                  </a:txBody>
                  <a:tcPr anchor="ctr">
                    <a:solidFill>
                      <a:srgbClr val="F2F2F2"/>
                    </a:solidFill>
                  </a:tcPr>
                </a:tc>
                <a:tc>
                  <a:txBody>
                    <a:bodyPr/>
                    <a:lstStyle/>
                    <a:p>
                      <a:pPr algn="ctr">
                        <a:defRPr sz="1300">
                          <a:solidFill>
                            <a:srgbClr val="1A1A1A"/>
                          </a:solidFill>
                          <a:latin typeface="Calibri"/>
                        </a:defRPr>
                      </a:pPr>
                      <a:r>
                        <a:t>Only positive case</a:t>
                      </a:r>
                    </a:p>
                  </a:txBody>
                  <a:tcPr anchor="ctr">
                    <a:solidFill>
                      <a:srgbClr val="F2F2F2"/>
                    </a:solidFill>
                  </a:tcPr>
                </a:tc>
              </a:tr>
              <a:tr h="393192">
                <a:tc>
                  <a:txBody>
                    <a:bodyPr/>
                    <a:lstStyle/>
                    <a:p>
                      <a:pPr algn="ctr">
                        <a:defRPr sz="1300">
                          <a:solidFill>
                            <a:srgbClr val="1A1A1A"/>
                          </a:solidFill>
                          <a:latin typeface="Calibri"/>
                        </a:defRPr>
                      </a:pPr>
                      <a:r>
                        <a:t>ReadText / Extended (78)</a:t>
                      </a:r>
                    </a:p>
                  </a:txBody>
                  <a:tcPr anchor="ctr">
                    <a:solidFill>
                      <a:srgbClr val="FFFFFF"/>
                    </a:solidFill>
                  </a:tcPr>
                </a:tc>
                <a:tc>
                  <a:txBody>
                    <a:bodyPr/>
                    <a:lstStyle/>
                    <a:p>
                      <a:pPr algn="ctr">
                        <a:defRPr sz="1300">
                          <a:solidFill>
                            <a:srgbClr val="1A1A1A"/>
                          </a:solidFill>
                          <a:latin typeface="Calibri"/>
                        </a:defRPr>
                      </a:pPr>
                      <a:r>
                        <a:t>−0.017</a:t>
                      </a:r>
                    </a:p>
                  </a:txBody>
                  <a:tcPr anchor="ctr">
                    <a:solidFill>
                      <a:srgbClr val="FFFFFF"/>
                    </a:solidFill>
                  </a:tcPr>
                </a:tc>
                <a:tc>
                  <a:txBody>
                    <a:bodyPr/>
                    <a:lstStyle/>
                    <a:p>
                      <a:pPr algn="ctr">
                        <a:defRPr sz="1300">
                          <a:solidFill>
                            <a:srgbClr val="1A1A1A"/>
                          </a:solidFill>
                          <a:latin typeface="Calibri"/>
                        </a:defRPr>
                      </a:pPr>
                      <a:r>
                        <a:t>Slightly harmful</a:t>
                      </a:r>
                    </a:p>
                  </a:txBody>
                  <a:tcPr anchor="ctr">
                    <a:solidFill>
                      <a:srgbClr val="FFFFFF"/>
                    </a:solidFill>
                  </a:tcPr>
                </a:tc>
              </a:tr>
              <a:tr h="393192">
                <a:tc>
                  <a:txBody>
                    <a:bodyPr/>
                    <a:lstStyle/>
                    <a:p>
                      <a:pPr algn="ctr">
                        <a:defRPr sz="1300">
                          <a:solidFill>
                            <a:srgbClr val="1A1A1A"/>
                          </a:solidFill>
                          <a:latin typeface="Calibri"/>
                        </a:defRPr>
                      </a:pPr>
                      <a:r>
                        <a:t>Spontaneous / Baseline (47)</a:t>
                      </a:r>
                    </a:p>
                  </a:txBody>
                  <a:tcPr anchor="ctr">
                    <a:solidFill>
                      <a:srgbClr val="F2F2F2"/>
                    </a:solidFill>
                  </a:tcPr>
                </a:tc>
                <a:tc>
                  <a:txBody>
                    <a:bodyPr/>
                    <a:lstStyle/>
                    <a:p>
                      <a:pPr algn="ctr">
                        <a:defRPr sz="1300">
                          <a:solidFill>
                            <a:srgbClr val="1A1A1A"/>
                          </a:solidFill>
                          <a:latin typeface="Calibri"/>
                        </a:defRPr>
                      </a:pPr>
                      <a:r>
                        <a:t>−0.001</a:t>
                      </a:r>
                    </a:p>
                  </a:txBody>
                  <a:tcPr anchor="ctr">
                    <a:solidFill>
                      <a:srgbClr val="F2F2F2"/>
                    </a:solidFill>
                  </a:tcPr>
                </a:tc>
                <a:tc>
                  <a:txBody>
                    <a:bodyPr/>
                    <a:lstStyle/>
                    <a:p>
                      <a:pPr algn="ctr">
                        <a:defRPr sz="1300">
                          <a:solidFill>
                            <a:srgbClr val="1A1A1A"/>
                          </a:solidFill>
                          <a:latin typeface="Calibri"/>
                        </a:defRPr>
                      </a:pPr>
                      <a:r>
                        <a:t>No effect</a:t>
                      </a:r>
                    </a:p>
                  </a:txBody>
                  <a:tcPr anchor="ctr">
                    <a:solidFill>
                      <a:srgbClr val="F2F2F2"/>
                    </a:solidFill>
                  </a:tcPr>
                </a:tc>
              </a:tr>
              <a:tr h="393192">
                <a:tc>
                  <a:txBody>
                    <a:bodyPr/>
                    <a:lstStyle/>
                    <a:p>
                      <a:pPr algn="ctr">
                        <a:defRPr sz="1300">
                          <a:solidFill>
                            <a:srgbClr val="1A1A1A"/>
                          </a:solidFill>
                          <a:latin typeface="Calibri"/>
                        </a:defRPr>
                      </a:pPr>
                      <a:r>
                        <a:t>Spontaneous / Extended (78)</a:t>
                      </a:r>
                    </a:p>
                  </a:txBody>
                  <a:tcPr anchor="ctr">
                    <a:solidFill>
                      <a:srgbClr val="FFFFFF"/>
                    </a:solidFill>
                  </a:tcPr>
                </a:tc>
                <a:tc>
                  <a:txBody>
                    <a:bodyPr/>
                    <a:lstStyle/>
                    <a:p>
                      <a:pPr algn="ctr">
                        <a:defRPr sz="1300">
                          <a:solidFill>
                            <a:srgbClr val="1A1A1A"/>
                          </a:solidFill>
                          <a:latin typeface="Calibri"/>
                        </a:defRPr>
                      </a:pPr>
                      <a:r>
                        <a:t>−0.034</a:t>
                      </a:r>
                    </a:p>
                  </a:txBody>
                  <a:tcPr anchor="ctr">
                    <a:solidFill>
                      <a:srgbClr val="FFFFFF"/>
                    </a:solidFill>
                  </a:tcPr>
                </a:tc>
                <a:tc>
                  <a:txBody>
                    <a:bodyPr/>
                    <a:lstStyle/>
                    <a:p>
                      <a:pPr algn="ctr">
                        <a:defRPr sz="1300">
                          <a:solidFill>
                            <a:srgbClr val="1A1A1A"/>
                          </a:solidFill>
                          <a:latin typeface="Calibri"/>
                        </a:defRPr>
                      </a:pPr>
                      <a:r>
                        <a:t>Slightly harmful</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6.4: Class weighting effect | tab:weighting-main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
        <p:nvSpPr>
          <p:cNvPr id="8" name="TextBox 7"/>
          <p:cNvSpPr txBox="1"/>
          <p:nvPr/>
        </p:nvSpPr>
        <p:spPr>
          <a:xfrm>
            <a:off x="457200" y="4754880"/>
            <a:ext cx="11247120" cy="1371600"/>
          </a:xfrm>
          <a:prstGeom prst="rect">
            <a:avLst/>
          </a:prstGeom>
          <a:noFill/>
        </p:spPr>
        <p:txBody>
          <a:bodyPr wrap="square">
            <a:spAutoFit/>
          </a:bodyPr>
          <a:lstStyle/>
          <a:p>
            <a:pPr algn="l">
              <a:defRPr sz="1600" b="1">
                <a:solidFill>
                  <a:srgbClr val="E86C00"/>
                </a:solidFill>
                <a:latin typeface="Calibri"/>
              </a:defRPr>
            </a:pPr>
            <a:r>
              <a:t>Conclusion: At ~1.3:1 class imbalance, balanced weighting is unnecessary</a:t>
            </a:r>
          </a:p>
          <a:p>
            <a:pPr algn="l">
              <a:spcBef>
                <a:spcPts val="400"/>
              </a:spcBef>
              <a:spcAft>
                <a:spcPts val="200"/>
              </a:spcAft>
              <a:defRPr sz="1400" b="0">
                <a:solidFill>
                  <a:srgbClr val="666666"/>
                </a:solidFill>
                <a:latin typeface="Calibri"/>
              </a:defRPr>
            </a:pPr>
            <a:r>
              <a:t>Other models (LR, SVM, GB, XGBoost): no benefit or slightly negative effect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RQ4 — Cross-Dataset Comparison &amp; Variance</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18" cy="1965960"/>
        </p:xfrm>
        <a:graphic>
          <a:graphicData uri="http://schemas.openxmlformats.org/drawingml/2006/table">
            <a:tbl>
              <a:tblPr firstRow="1" bandRow="1">
                <a:tableStyleId>{5C22544A-7EE6-4342-B048-85BDC9FD1C3A}</a:tableStyleId>
              </a:tblPr>
              <a:tblGrid>
                <a:gridCol w="3551722"/>
                <a:gridCol w="3847698"/>
                <a:gridCol w="3847698"/>
              </a:tblGrid>
              <a:tr h="393192">
                <a:tc>
                  <a:txBody>
                    <a:bodyPr/>
                    <a:lstStyle/>
                    <a:p>
                      <a:pPr algn="ctr">
                        <a:defRPr sz="1400" b="1">
                          <a:solidFill>
                            <a:srgbClr val="FFFFFF"/>
                          </a:solidFill>
                          <a:latin typeface="Calibri"/>
                        </a:defRPr>
                      </a:pPr>
                      <a:r>
                        <a:t>Metric</a:t>
                      </a:r>
                    </a:p>
                  </a:txBody>
                  <a:tcPr anchor="ctr">
                    <a:solidFill>
                      <a:srgbClr val="0056A0"/>
                    </a:solidFill>
                  </a:tcPr>
                </a:tc>
                <a:tc>
                  <a:txBody>
                    <a:bodyPr/>
                    <a:lstStyle/>
                    <a:p>
                      <a:pPr algn="ctr">
                        <a:defRPr sz="1400" b="1">
                          <a:solidFill>
                            <a:srgbClr val="FFFFFF"/>
                          </a:solidFill>
                          <a:latin typeface="Calibri"/>
                        </a:defRPr>
                      </a:pPr>
                      <a:r>
                        <a:t>Dataset A (MDVR-KCL)</a:t>
                      </a:r>
                    </a:p>
                  </a:txBody>
                  <a:tcPr anchor="ctr">
                    <a:solidFill>
                      <a:srgbClr val="0056A0"/>
                    </a:solidFill>
                  </a:tcPr>
                </a:tc>
                <a:tc>
                  <a:txBody>
                    <a:bodyPr/>
                    <a:lstStyle/>
                    <a:p>
                      <a:pPr algn="ctr">
                        <a:defRPr sz="1400" b="1">
                          <a:solidFill>
                            <a:srgbClr val="FFFFFF"/>
                          </a:solidFill>
                          <a:latin typeface="Calibri"/>
                        </a:defRPr>
                      </a:pPr>
                      <a:r>
                        <a:t>Dataset B (PD Speech)</a:t>
                      </a:r>
                    </a:p>
                  </a:txBody>
                  <a:tcPr anchor="ctr">
                    <a:solidFill>
                      <a:srgbClr val="0056A0"/>
                    </a:solidFill>
                  </a:tcPr>
                </a:tc>
              </a:tr>
              <a:tr h="393192">
                <a:tc>
                  <a:txBody>
                    <a:bodyPr/>
                    <a:lstStyle/>
                    <a:p>
                      <a:pPr algn="ctr">
                        <a:defRPr sz="1300">
                          <a:solidFill>
                            <a:srgbClr val="1A1A1A"/>
                          </a:solidFill>
                          <a:latin typeface="Calibri"/>
                        </a:defRPr>
                      </a:pPr>
                      <a:r>
                        <a:t>Best ROC-AUC</a:t>
                      </a:r>
                    </a:p>
                  </a:txBody>
                  <a:tcPr anchor="ctr">
                    <a:solidFill>
                      <a:srgbClr val="F2F2F2"/>
                    </a:solidFill>
                  </a:tcPr>
                </a:tc>
                <a:tc>
                  <a:txBody>
                    <a:bodyPr/>
                    <a:lstStyle/>
                    <a:p>
                      <a:pPr algn="ctr">
                        <a:defRPr sz="1300">
                          <a:solidFill>
                            <a:srgbClr val="1A1A1A"/>
                          </a:solidFill>
                          <a:latin typeface="Calibri"/>
                        </a:defRPr>
                      </a:pPr>
                      <a:r>
                        <a:t>0.857 ± 0.171</a:t>
                      </a:r>
                    </a:p>
                  </a:txBody>
                  <a:tcPr anchor="ctr">
                    <a:solidFill>
                      <a:srgbClr val="F2F2F2"/>
                    </a:solidFill>
                  </a:tcPr>
                </a:tc>
                <a:tc>
                  <a:txBody>
                    <a:bodyPr/>
                    <a:lstStyle/>
                    <a:p>
                      <a:pPr algn="ctr">
                        <a:defRPr sz="1300">
                          <a:solidFill>
                            <a:srgbClr val="1A1A1A"/>
                          </a:solidFill>
                          <a:latin typeface="Calibri"/>
                        </a:defRPr>
                      </a:pPr>
                      <a:r>
                        <a:t>0.952 ± 0.015</a:t>
                      </a:r>
                    </a:p>
                  </a:txBody>
                  <a:tcPr anchor="ctr">
                    <a:solidFill>
                      <a:srgbClr val="F2F2F2"/>
                    </a:solidFill>
                  </a:tcPr>
                </a:tc>
              </a:tr>
              <a:tr h="393192">
                <a:tc>
                  <a:txBody>
                    <a:bodyPr/>
                    <a:lstStyle/>
                    <a:p>
                      <a:pPr algn="ctr">
                        <a:defRPr sz="1300">
                          <a:solidFill>
                            <a:srgbClr val="1A1A1A"/>
                          </a:solidFill>
                          <a:latin typeface="Calibri"/>
                        </a:defRPr>
                      </a:pPr>
                      <a:r>
                        <a:t>ROC-AUC std range</a:t>
                      </a:r>
                    </a:p>
                  </a:txBody>
                  <a:tcPr anchor="ctr">
                    <a:solidFill>
                      <a:srgbClr val="FFFFFF"/>
                    </a:solidFill>
                  </a:tcPr>
                </a:tc>
                <a:tc>
                  <a:txBody>
                    <a:bodyPr/>
                    <a:lstStyle/>
                    <a:p>
                      <a:pPr algn="ctr">
                        <a:defRPr sz="1300">
                          <a:solidFill>
                            <a:srgbClr val="1A1A1A"/>
                          </a:solidFill>
                          <a:latin typeface="Calibri"/>
                        </a:defRPr>
                      </a:pPr>
                      <a:r>
                        <a:t>±0.15 – 0.30</a:t>
                      </a:r>
                    </a:p>
                  </a:txBody>
                  <a:tcPr anchor="ctr">
                    <a:solidFill>
                      <a:srgbClr val="FFFFFF"/>
                    </a:solidFill>
                  </a:tcPr>
                </a:tc>
                <a:tc>
                  <a:txBody>
                    <a:bodyPr/>
                    <a:lstStyle/>
                    <a:p>
                      <a:pPr algn="ctr">
                        <a:defRPr sz="1300">
                          <a:solidFill>
                            <a:srgbClr val="1A1A1A"/>
                          </a:solidFill>
                          <a:latin typeface="Calibri"/>
                        </a:defRPr>
                      </a:pPr>
                      <a:r>
                        <a:t>±0.01 – 0.03</a:t>
                      </a:r>
                    </a:p>
                  </a:txBody>
                  <a:tcPr anchor="ctr">
                    <a:solidFill>
                      <a:srgbClr val="FFFFFF"/>
                    </a:solidFill>
                  </a:tcPr>
                </a:tc>
              </a:tr>
              <a:tr h="393192">
                <a:tc>
                  <a:txBody>
                    <a:bodyPr/>
                    <a:lstStyle/>
                    <a:p>
                      <a:pPr algn="ctr">
                        <a:defRPr sz="1300">
                          <a:solidFill>
                            <a:srgbClr val="1A1A1A"/>
                          </a:solidFill>
                          <a:latin typeface="Calibri"/>
                        </a:defRPr>
                      </a:pPr>
                      <a:r>
                        <a:t>Accuracy std range</a:t>
                      </a:r>
                    </a:p>
                  </a:txBody>
                  <a:tcPr anchor="ctr">
                    <a:solidFill>
                      <a:srgbClr val="F2F2F2"/>
                    </a:solidFill>
                  </a:tcPr>
                </a:tc>
                <a:tc>
                  <a:txBody>
                    <a:bodyPr/>
                    <a:lstStyle/>
                    <a:p>
                      <a:pPr algn="ctr">
                        <a:defRPr sz="1300">
                          <a:solidFill>
                            <a:srgbClr val="1A1A1A"/>
                          </a:solidFill>
                          <a:latin typeface="Calibri"/>
                        </a:defRPr>
                      </a:pPr>
                      <a:r>
                        <a:t>±0.14 – 0.18</a:t>
                      </a:r>
                    </a:p>
                  </a:txBody>
                  <a:tcPr anchor="ctr">
                    <a:solidFill>
                      <a:srgbClr val="F2F2F2"/>
                    </a:solidFill>
                  </a:tcPr>
                </a:tc>
                <a:tc>
                  <a:txBody>
                    <a:bodyPr/>
                    <a:lstStyle/>
                    <a:p>
                      <a:pPr algn="ctr">
                        <a:defRPr sz="1300">
                          <a:solidFill>
                            <a:srgbClr val="1A1A1A"/>
                          </a:solidFill>
                          <a:latin typeface="Calibri"/>
                        </a:defRPr>
                      </a:pPr>
                      <a:r>
                        <a:t>±0.008 – 0.024</a:t>
                      </a:r>
                    </a:p>
                  </a:txBody>
                  <a:tcPr anchor="ctr">
                    <a:solidFill>
                      <a:srgbClr val="F2F2F2"/>
                    </a:solidFill>
                  </a:tcPr>
                </a:tc>
              </a:tr>
              <a:tr h="393192">
                <a:tc>
                  <a:txBody>
                    <a:bodyPr/>
                    <a:lstStyle/>
                    <a:p>
                      <a:pPr algn="ctr">
                        <a:defRPr sz="1300">
                          <a:solidFill>
                            <a:srgbClr val="1A1A1A"/>
                          </a:solidFill>
                          <a:latin typeface="Calibri"/>
                        </a:defRPr>
                      </a:pPr>
                      <a:r>
                        <a:t>F1 std range</a:t>
                      </a:r>
                    </a:p>
                  </a:txBody>
                  <a:tcPr anchor="ctr">
                    <a:solidFill>
                      <a:srgbClr val="FFFFFF"/>
                    </a:solidFill>
                  </a:tcPr>
                </a:tc>
                <a:tc>
                  <a:txBody>
                    <a:bodyPr/>
                    <a:lstStyle/>
                    <a:p>
                      <a:pPr algn="ctr">
                        <a:defRPr sz="1300">
                          <a:solidFill>
                            <a:srgbClr val="1A1A1A"/>
                          </a:solidFill>
                          <a:latin typeface="Calibri"/>
                        </a:defRPr>
                      </a:pPr>
                      <a:r>
                        <a:t>±0.21 – 0.39</a:t>
                      </a:r>
                    </a:p>
                  </a:txBody>
                  <a:tcPr anchor="ctr">
                    <a:solidFill>
                      <a:srgbClr val="FFFFFF"/>
                    </a:solidFill>
                  </a:tcPr>
                </a:tc>
                <a:tc>
                  <a:txBody>
                    <a:bodyPr/>
                    <a:lstStyle/>
                    <a:p>
                      <a:pPr algn="ctr">
                        <a:defRPr sz="1300">
                          <a:solidFill>
                            <a:srgbClr val="1A1A1A"/>
                          </a:solidFill>
                          <a:latin typeface="Calibri"/>
                        </a:defRPr>
                      </a:pPr>
                      <a:r>
                        <a:t>±0.006 – 0.015</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6.5: Variance comparison | tab:variance-summary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
        <p:nvSpPr>
          <p:cNvPr id="8" name="TextBox 7"/>
          <p:cNvSpPr txBox="1"/>
          <p:nvPr/>
        </p:nvSpPr>
        <p:spPr>
          <a:xfrm>
            <a:off x="457200" y="4572000"/>
            <a:ext cx="11247120" cy="1828800"/>
          </a:xfrm>
          <a:prstGeom prst="rect">
            <a:avLst/>
          </a:prstGeom>
          <a:noFill/>
        </p:spPr>
        <p:txBody>
          <a:bodyPr wrap="square">
            <a:spAutoFit/>
          </a:bodyPr>
          <a:lstStyle/>
          <a:p>
            <a:pPr algn="l">
              <a:defRPr sz="1500" b="1">
                <a:solidFill>
                  <a:srgbClr val="C62828"/>
                </a:solidFill>
                <a:latin typeface="Calibri"/>
              </a:defRPr>
            </a:pPr>
            <a:r>
              <a:t>Confounders: sample size (37 vs 756), CV strategy, speech task, feature set, class balance</a:t>
            </a:r>
          </a:p>
          <a:p>
            <a:pPr algn="l">
              <a:spcBef>
                <a:spcPts val="400"/>
              </a:spcBef>
              <a:spcAft>
                <a:spcPts val="200"/>
              </a:spcAft>
              <a:defRPr sz="1400" b="0">
                <a:solidFill>
                  <a:srgbClr val="666666"/>
                </a:solidFill>
                <a:latin typeface="Calibri"/>
              </a:defRPr>
            </a:pPr>
            <a:r>
              <a:t>Dataset A's high variance is honest — ~7 subjects per fold with grouped CV</a:t>
            </a:r>
          </a:p>
          <a:p>
            <a:pPr algn="l">
              <a:spcBef>
                <a:spcPts val="400"/>
              </a:spcBef>
              <a:spcAft>
                <a:spcPts val="200"/>
              </a:spcAft>
              <a:defRPr sz="1400" b="0">
                <a:solidFill>
                  <a:srgbClr val="666666"/>
                </a:solidFill>
                <a:latin typeface="Calibri"/>
              </a:defRPr>
            </a:pPr>
            <a:r>
              <a:t>Dataset B results flagged as potentially optimistic (no grouped CV possible)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Feature Importance — Category-Level Aggregation (RF, Dataset A)</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imp_readtext_cats.png"/>
          <p:cNvPicPr>
            <a:picLocks noChangeAspect="1"/>
          </p:cNvPicPr>
          <p:nvPr/>
        </p:nvPicPr>
        <p:blipFill>
          <a:blip r:embed="rId2"/>
          <a:stretch>
            <a:fillRect/>
          </a:stretch>
        </p:blipFill>
        <p:spPr>
          <a:xfrm>
            <a:off x="365760" y="1280160"/>
            <a:ext cx="5303520" cy="3162058"/>
          </a:xfrm>
          <a:prstGeom prst="rect">
            <a:avLst/>
          </a:prstGeom>
        </p:spPr>
      </p:pic>
      <p:sp>
        <p:nvSpPr>
          <p:cNvPr id="5" name="Rectangle 4"/>
          <p:cNvSpPr/>
          <p:nvPr/>
        </p:nvSpPr>
        <p:spPr>
          <a:xfrm>
            <a:off x="365760" y="4497082"/>
            <a:ext cx="530352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(a) ReadText — MFCCs + pitch dominate | Ref: fig:imp-categories-main</a:t>
            </a:r>
          </a:p>
        </p:txBody>
      </p:sp>
      <p:pic>
        <p:nvPicPr>
          <p:cNvPr id="6" name="Picture 5" descr="fig_imp_spontaneous_cats.png"/>
          <p:cNvPicPr>
            <a:picLocks noChangeAspect="1"/>
          </p:cNvPicPr>
          <p:nvPr/>
        </p:nvPicPr>
        <p:blipFill>
          <a:blip r:embed="rId3"/>
          <a:stretch>
            <a:fillRect/>
          </a:stretch>
        </p:blipFill>
        <p:spPr>
          <a:xfrm>
            <a:off x="6309360" y="1280160"/>
            <a:ext cx="5303520" cy="3162058"/>
          </a:xfrm>
          <a:prstGeom prst="rect">
            <a:avLst/>
          </a:prstGeom>
        </p:spPr>
      </p:pic>
      <p:sp>
        <p:nvSpPr>
          <p:cNvPr id="7" name="Rectangle 6"/>
          <p:cNvSpPr/>
          <p:nvPr/>
        </p:nvSpPr>
        <p:spPr>
          <a:xfrm>
            <a:off x="6309360" y="4497082"/>
            <a:ext cx="530352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(b) SpontaneousDialogue — MFCCs + shimmer dominate | Ref: fig:imp-categories-main</a:t>
            </a:r>
          </a:p>
        </p:txBody>
      </p:sp>
      <p:sp>
        <p:nvSpPr>
          <p:cNvPr id="8" name="Rectangle 7"/>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Permutation Importance Heatmaps (Model-Agnostic)</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heatmap_readtext_permutation.png"/>
          <p:cNvPicPr>
            <a:picLocks noChangeAspect="1"/>
          </p:cNvPicPr>
          <p:nvPr/>
        </p:nvPicPr>
        <p:blipFill>
          <a:blip r:embed="rId2"/>
          <a:stretch>
            <a:fillRect/>
          </a:stretch>
        </p:blipFill>
        <p:spPr>
          <a:xfrm>
            <a:off x="365760" y="1280160"/>
            <a:ext cx="4186454" cy="4389120"/>
          </a:xfrm>
          <a:prstGeom prst="rect">
            <a:avLst/>
          </a:prstGeom>
        </p:spPr>
      </p:pic>
      <p:sp>
        <p:nvSpPr>
          <p:cNvPr id="5" name="Rectangle 4"/>
          <p:cNvSpPr/>
          <p:nvPr/>
        </p:nvSpPr>
        <p:spPr>
          <a:xfrm>
            <a:off x="365760" y="5724144"/>
            <a:ext cx="4186454"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(a) ReadText — Feature × Model | Ref: fig:heatmap-readtext-permutation-main</a:t>
            </a:r>
          </a:p>
        </p:txBody>
      </p:sp>
      <p:pic>
        <p:nvPicPr>
          <p:cNvPr id="6" name="Picture 5" descr="fig_heatmap_spontaneous_permutation.png"/>
          <p:cNvPicPr>
            <a:picLocks noChangeAspect="1"/>
          </p:cNvPicPr>
          <p:nvPr/>
        </p:nvPicPr>
        <p:blipFill>
          <a:blip r:embed="rId3"/>
          <a:stretch>
            <a:fillRect/>
          </a:stretch>
        </p:blipFill>
        <p:spPr>
          <a:xfrm>
            <a:off x="6309360" y="1280160"/>
            <a:ext cx="4186454" cy="4389120"/>
          </a:xfrm>
          <a:prstGeom prst="rect">
            <a:avLst/>
          </a:prstGeom>
        </p:spPr>
      </p:pic>
      <p:sp>
        <p:nvSpPr>
          <p:cNvPr id="7" name="Rectangle 6"/>
          <p:cNvSpPr/>
          <p:nvPr/>
        </p:nvSpPr>
        <p:spPr>
          <a:xfrm>
            <a:off x="6309360" y="5724144"/>
            <a:ext cx="4186454"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(b) SpontaneousDialogue — Feature × Model | Ref: fig:heatmap-spontaneous-permutation-main</a:t>
            </a:r>
          </a:p>
        </p:txBody>
      </p:sp>
      <p:sp>
        <p:nvSpPr>
          <p:cNvPr id="8" name="Rectangle 7"/>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Limitations — Honest Self-Assessment</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20" cy="2752344"/>
        </p:xfrm>
        <a:graphic>
          <a:graphicData uri="http://schemas.openxmlformats.org/drawingml/2006/table">
            <a:tbl>
              <a:tblPr firstRow="1" bandRow="1">
                <a:tableStyleId>{5C22544A-7EE6-4342-B048-85BDC9FD1C3A}</a:tableStyleId>
              </a:tblPr>
              <a:tblGrid>
                <a:gridCol w="3655314"/>
                <a:gridCol w="3374136"/>
                <a:gridCol w="4217670"/>
              </a:tblGrid>
              <a:tr h="393192">
                <a:tc>
                  <a:txBody>
                    <a:bodyPr/>
                    <a:lstStyle/>
                    <a:p>
                      <a:pPr algn="ctr">
                        <a:defRPr sz="1400" b="1">
                          <a:solidFill>
                            <a:srgbClr val="FFFFFF"/>
                          </a:solidFill>
                          <a:latin typeface="Calibri"/>
                        </a:defRPr>
                      </a:pPr>
                      <a:r>
                        <a:t>Limitation</a:t>
                      </a:r>
                    </a:p>
                  </a:txBody>
                  <a:tcPr anchor="ctr">
                    <a:solidFill>
                      <a:srgbClr val="0056A0"/>
                    </a:solidFill>
                  </a:tcPr>
                </a:tc>
                <a:tc>
                  <a:txBody>
                    <a:bodyPr/>
                    <a:lstStyle/>
                    <a:p>
                      <a:pPr algn="ctr">
                        <a:defRPr sz="1400" b="1">
                          <a:solidFill>
                            <a:srgbClr val="FFFFFF"/>
                          </a:solidFill>
                          <a:latin typeface="Calibri"/>
                        </a:defRPr>
                      </a:pPr>
                      <a:r>
                        <a:t>Impact</a:t>
                      </a:r>
                    </a:p>
                  </a:txBody>
                  <a:tcPr anchor="ctr">
                    <a:solidFill>
                      <a:srgbClr val="0056A0"/>
                    </a:solidFill>
                  </a:tcPr>
                </a:tc>
                <a:tc>
                  <a:txBody>
                    <a:bodyPr/>
                    <a:lstStyle/>
                    <a:p>
                      <a:pPr algn="ctr">
                        <a:defRPr sz="1400" b="1">
                          <a:solidFill>
                            <a:srgbClr val="FFFFFF"/>
                          </a:solidFill>
                          <a:latin typeface="Calibri"/>
                        </a:defRPr>
                      </a:pPr>
                      <a:r>
                        <a:t>Mitigation</a:t>
                      </a:r>
                    </a:p>
                  </a:txBody>
                  <a:tcPr anchor="ctr">
                    <a:solidFill>
                      <a:srgbClr val="0056A0"/>
                    </a:solidFill>
                  </a:tcPr>
                </a:tc>
              </a:tr>
              <a:tr h="393192">
                <a:tc>
                  <a:txBody>
                    <a:bodyPr/>
                    <a:lstStyle/>
                    <a:p>
                      <a:pPr algn="ctr">
                        <a:defRPr sz="1300">
                          <a:solidFill>
                            <a:srgbClr val="1A1A1A"/>
                          </a:solidFill>
                          <a:latin typeface="Calibri"/>
                        </a:defRPr>
                      </a:pPr>
                      <a:r>
                        <a:t>Small sample (n=37, Dataset A)</a:t>
                      </a:r>
                    </a:p>
                  </a:txBody>
                  <a:tcPr anchor="ctr">
                    <a:solidFill>
                      <a:srgbClr val="F2F2F2"/>
                    </a:solidFill>
                  </a:tcPr>
                </a:tc>
                <a:tc>
                  <a:txBody>
                    <a:bodyPr/>
                    <a:lstStyle/>
                    <a:p>
                      <a:pPr algn="ctr">
                        <a:defRPr sz="1300">
                          <a:solidFill>
                            <a:srgbClr val="1A1A1A"/>
                          </a:solidFill>
                          <a:latin typeface="Calibri"/>
                        </a:defRPr>
                      </a:pPr>
                      <a:r>
                        <a:t>High variance, limited power</a:t>
                      </a:r>
                    </a:p>
                  </a:txBody>
                  <a:tcPr anchor="ctr">
                    <a:solidFill>
                      <a:srgbClr val="F2F2F2"/>
                    </a:solidFill>
                  </a:tcPr>
                </a:tc>
                <a:tc>
                  <a:txBody>
                    <a:bodyPr/>
                    <a:lstStyle/>
                    <a:p>
                      <a:pPr algn="ctr">
                        <a:defRPr sz="1300">
                          <a:solidFill>
                            <a:srgbClr val="1A1A1A"/>
                          </a:solidFill>
                          <a:latin typeface="Calibri"/>
                        </a:defRPr>
                      </a:pPr>
                      <a:r>
                        <a:t>Grouped CV is more honest than inflated n</a:t>
                      </a:r>
                    </a:p>
                  </a:txBody>
                  <a:tcPr anchor="ctr">
                    <a:solidFill>
                      <a:srgbClr val="F2F2F2"/>
                    </a:solidFill>
                  </a:tcPr>
                </a:tc>
              </a:tr>
              <a:tr h="393192">
                <a:tc>
                  <a:txBody>
                    <a:bodyPr/>
                    <a:lstStyle/>
                    <a:p>
                      <a:pPr algn="ctr">
                        <a:defRPr sz="1300">
                          <a:solidFill>
                            <a:srgbClr val="1A1A1A"/>
                          </a:solidFill>
                          <a:latin typeface="Calibri"/>
                        </a:defRPr>
                      </a:pPr>
                      <a:r>
                        <a:t>No subject IDs (Dataset B)</a:t>
                      </a:r>
                    </a:p>
                  </a:txBody>
                  <a:tcPr anchor="ctr">
                    <a:solidFill>
                      <a:srgbClr val="FFFFFF"/>
                    </a:solidFill>
                  </a:tcPr>
                </a:tc>
                <a:tc>
                  <a:txBody>
                    <a:bodyPr/>
                    <a:lstStyle/>
                    <a:p>
                      <a:pPr algn="ctr">
                        <a:defRPr sz="1300">
                          <a:solidFill>
                            <a:srgbClr val="1A1A1A"/>
                          </a:solidFill>
                          <a:latin typeface="Calibri"/>
                        </a:defRPr>
                      </a:pPr>
                      <a:r>
                        <a:t>Potential leakage/optimism</a:t>
                      </a:r>
                    </a:p>
                  </a:txBody>
                  <a:tcPr anchor="ctr">
                    <a:solidFill>
                      <a:srgbClr val="FFFFFF"/>
                    </a:solidFill>
                  </a:tcPr>
                </a:tc>
                <a:tc>
                  <a:txBody>
                    <a:bodyPr/>
                    <a:lstStyle/>
                    <a:p>
                      <a:pPr algn="ctr">
                        <a:defRPr sz="1300">
                          <a:solidFill>
                            <a:srgbClr val="1A1A1A"/>
                          </a:solidFill>
                          <a:latin typeface="Calibri"/>
                        </a:defRPr>
                      </a:pPr>
                      <a:r>
                        <a:t>Clearly flagged throughout thesis</a:t>
                      </a:r>
                    </a:p>
                  </a:txBody>
                  <a:tcPr anchor="ctr">
                    <a:solidFill>
                      <a:srgbClr val="FFFFFF"/>
                    </a:solidFill>
                  </a:tcPr>
                </a:tc>
              </a:tr>
              <a:tr h="393192">
                <a:tc>
                  <a:txBody>
                    <a:bodyPr/>
                    <a:lstStyle/>
                    <a:p>
                      <a:pPr algn="ctr">
                        <a:defRPr sz="1300">
                          <a:solidFill>
                            <a:srgbClr val="1A1A1A"/>
                          </a:solidFill>
                          <a:latin typeface="Calibri"/>
                        </a:defRPr>
                      </a:pPr>
                      <a:r>
                        <a:t>No hyperparameter tuning</a:t>
                      </a:r>
                    </a:p>
                  </a:txBody>
                  <a:tcPr anchor="ctr">
                    <a:solidFill>
                      <a:srgbClr val="F2F2F2"/>
                    </a:solidFill>
                  </a:tcPr>
                </a:tc>
                <a:tc>
                  <a:txBody>
                    <a:bodyPr/>
                    <a:lstStyle/>
                    <a:p>
                      <a:pPr algn="ctr">
                        <a:defRPr sz="1300">
                          <a:solidFill>
                            <a:srgbClr val="1A1A1A"/>
                          </a:solidFill>
                          <a:latin typeface="Calibri"/>
                        </a:defRPr>
                      </a:pPr>
                      <a:r>
                        <a:t>May underestimate potential</a:t>
                      </a:r>
                    </a:p>
                  </a:txBody>
                  <a:tcPr anchor="ctr">
                    <a:solidFill>
                      <a:srgbClr val="F2F2F2"/>
                    </a:solidFill>
                  </a:tcPr>
                </a:tc>
                <a:tc>
                  <a:txBody>
                    <a:bodyPr/>
                    <a:lstStyle/>
                    <a:p>
                      <a:pPr algn="ctr">
                        <a:defRPr sz="1300">
                          <a:solidFill>
                            <a:srgbClr val="1A1A1A"/>
                          </a:solidFill>
                          <a:latin typeface="Calibri"/>
                        </a:defRPr>
                      </a:pPr>
                      <a:r>
                        <a:t>At n=37, nested CV unreliable (Varma 2006)</a:t>
                      </a:r>
                    </a:p>
                  </a:txBody>
                  <a:tcPr anchor="ctr">
                    <a:solidFill>
                      <a:srgbClr val="F2F2F2"/>
                    </a:solidFill>
                  </a:tcPr>
                </a:tc>
              </a:tr>
              <a:tr h="393192">
                <a:tc>
                  <a:txBody>
                    <a:bodyPr/>
                    <a:lstStyle/>
                    <a:p>
                      <a:pPr algn="ctr">
                        <a:defRPr sz="1300">
                          <a:solidFill>
                            <a:srgbClr val="1A1A1A"/>
                          </a:solidFill>
                          <a:latin typeface="Calibri"/>
                        </a:defRPr>
                      </a:pPr>
                      <a:r>
                        <a:t>No external validation</a:t>
                      </a:r>
                    </a:p>
                  </a:txBody>
                  <a:tcPr anchor="ctr">
                    <a:solidFill>
                      <a:srgbClr val="FFFFFF"/>
                    </a:solidFill>
                  </a:tcPr>
                </a:tc>
                <a:tc>
                  <a:txBody>
                    <a:bodyPr/>
                    <a:lstStyle/>
                    <a:p>
                      <a:pPr algn="ctr">
                        <a:defRPr sz="1300">
                          <a:solidFill>
                            <a:srgbClr val="1A1A1A"/>
                          </a:solidFill>
                          <a:latin typeface="Calibri"/>
                        </a:defRPr>
                      </a:pPr>
                      <a:r>
                        <a:t>Unknown generalization</a:t>
                      </a:r>
                    </a:p>
                  </a:txBody>
                  <a:tcPr anchor="ctr">
                    <a:solidFill>
                      <a:srgbClr val="FFFFFF"/>
                    </a:solidFill>
                  </a:tcPr>
                </a:tc>
                <a:tc>
                  <a:txBody>
                    <a:bodyPr/>
                    <a:lstStyle/>
                    <a:p>
                      <a:pPr algn="ctr">
                        <a:defRPr sz="1300">
                          <a:solidFill>
                            <a:srgbClr val="1A1A1A"/>
                          </a:solidFill>
                          <a:latin typeface="Calibri"/>
                        </a:defRPr>
                      </a:pPr>
                      <a:r>
                        <a:t>Explicitly listed as future work</a:t>
                      </a:r>
                    </a:p>
                  </a:txBody>
                  <a:tcPr anchor="ctr">
                    <a:solidFill>
                      <a:srgbClr val="FFFFFF"/>
                    </a:solidFill>
                  </a:tcPr>
                </a:tc>
              </a:tr>
              <a:tr h="393192">
                <a:tc>
                  <a:txBody>
                    <a:bodyPr/>
                    <a:lstStyle/>
                    <a:p>
                      <a:pPr algn="ctr">
                        <a:defRPr sz="1300">
                          <a:solidFill>
                            <a:srgbClr val="1A1A1A"/>
                          </a:solidFill>
                          <a:latin typeface="Calibri"/>
                        </a:defRPr>
                      </a:pPr>
                      <a:r>
                        <a:t>Classical ML only</a:t>
                      </a:r>
                    </a:p>
                  </a:txBody>
                  <a:tcPr anchor="ctr">
                    <a:solidFill>
                      <a:srgbClr val="F2F2F2"/>
                    </a:solidFill>
                  </a:tcPr>
                </a:tc>
                <a:tc>
                  <a:txBody>
                    <a:bodyPr/>
                    <a:lstStyle/>
                    <a:p>
                      <a:pPr algn="ctr">
                        <a:defRPr sz="1300">
                          <a:solidFill>
                            <a:srgbClr val="1A1A1A"/>
                          </a:solidFill>
                          <a:latin typeface="Calibri"/>
                        </a:defRPr>
                      </a:pPr>
                      <a:r>
                        <a:t>DL excluded by design</a:t>
                      </a:r>
                    </a:p>
                  </a:txBody>
                  <a:tcPr anchor="ctr">
                    <a:solidFill>
                      <a:srgbClr val="F2F2F2"/>
                    </a:solidFill>
                  </a:tcPr>
                </a:tc>
                <a:tc>
                  <a:txBody>
                    <a:bodyPr/>
                    <a:lstStyle/>
                    <a:p>
                      <a:pPr algn="ctr">
                        <a:defRPr sz="1300">
                          <a:solidFill>
                            <a:srgbClr val="1A1A1A"/>
                          </a:solidFill>
                          <a:latin typeface="Calibri"/>
                        </a:defRPr>
                      </a:pPr>
                      <a:r>
                        <a:t>Data too small for DL; provides baseline</a:t>
                      </a:r>
                    </a:p>
                  </a:txBody>
                  <a:tcPr anchor="ctr">
                    <a:solidFill>
                      <a:srgbClr val="F2F2F2"/>
                    </a:solidFill>
                  </a:tcPr>
                </a:tc>
              </a:tr>
              <a:tr h="393192">
                <a:tc>
                  <a:txBody>
                    <a:bodyPr/>
                    <a:lstStyle/>
                    <a:p>
                      <a:pPr algn="ctr">
                        <a:defRPr sz="1300">
                          <a:solidFill>
                            <a:srgbClr val="1A1A1A"/>
                          </a:solidFill>
                          <a:latin typeface="Calibri"/>
                        </a:defRPr>
                      </a:pPr>
                      <a:r>
                        <a:t>Single recording device</a:t>
                      </a:r>
                    </a:p>
                  </a:txBody>
                  <a:tcPr anchor="ctr">
                    <a:solidFill>
                      <a:srgbClr val="FFFFFF"/>
                    </a:solidFill>
                  </a:tcPr>
                </a:tc>
                <a:tc>
                  <a:txBody>
                    <a:bodyPr/>
                    <a:lstStyle/>
                    <a:p>
                      <a:pPr algn="ctr">
                        <a:defRPr sz="1300">
                          <a:solidFill>
                            <a:srgbClr val="1A1A1A"/>
                          </a:solidFill>
                          <a:latin typeface="Calibri"/>
                        </a:defRPr>
                      </a:pPr>
                      <a:r>
                        <a:t>Unknown cross-device robustness</a:t>
                      </a:r>
                    </a:p>
                  </a:txBody>
                  <a:tcPr anchor="ctr">
                    <a:solidFill>
                      <a:srgbClr val="FFFFFF"/>
                    </a:solidFill>
                  </a:tcPr>
                </a:tc>
                <a:tc>
                  <a:txBody>
                    <a:bodyPr/>
                    <a:lstStyle/>
                    <a:p>
                      <a:pPr algn="ctr">
                        <a:defRPr sz="1300">
                          <a:solidFill>
                            <a:srgbClr val="1A1A1A"/>
                          </a:solidFill>
                          <a:latin typeface="Calibri"/>
                        </a:defRPr>
                      </a:pPr>
                      <a:r>
                        <a:t>Standard research protocol</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8.2: Validity threats and mitigation | tab:validity-threats-summary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2800" b="1">
                <a:solidFill>
                  <a:srgbClr val="FFFFFF"/>
                </a:solidFill>
                <a:latin typeface="Calibri"/>
              </a:defRPr>
            </a:pPr>
            <a:r>
              <a:t>Contributions &amp; Conclusion</a:t>
            </a:r>
          </a:p>
        </p:txBody>
      </p:sp>
      <p:sp>
        <p:nvSpPr>
          <p:cNvPr id="3" name="TextBox 2"/>
          <p:cNvSpPr txBox="1"/>
          <p:nvPr/>
        </p:nvSpPr>
        <p:spPr>
          <a:xfrm>
            <a:off x="457200" y="1280160"/>
            <a:ext cx="5486400" cy="5029200"/>
          </a:xfrm>
          <a:prstGeom prst="rect">
            <a:avLst/>
          </a:prstGeom>
          <a:noFill/>
        </p:spPr>
        <p:txBody>
          <a:bodyPr wrap="square">
            <a:spAutoFit/>
          </a:bodyPr>
          <a:lstStyle/>
          <a:p>
            <a:pPr algn="l">
              <a:defRPr sz="2000" b="1">
                <a:solidFill>
                  <a:srgbClr val="0056A0"/>
                </a:solidFill>
                <a:latin typeface="Calibri"/>
              </a:defRPr>
            </a:pPr>
            <a:r>
              <a:t>Contributions</a:t>
            </a:r>
          </a:p>
          <a:p>
            <a:pPr algn="l">
              <a:spcBef>
                <a:spcPts val="800"/>
              </a:spcBef>
              <a:spcAft>
                <a:spcPts val="200"/>
              </a:spcAft>
              <a:defRPr sz="1500" b="0">
                <a:solidFill>
                  <a:srgbClr val="1A1A1A"/>
                </a:solidFill>
                <a:latin typeface="Calibri"/>
              </a:defRPr>
            </a:pPr>
            <a:r>
              <a:t>C1: Rigorous grouped CV preventing subject leakage</a:t>
            </a:r>
          </a:p>
          <a:p>
            <a:pPr algn="l">
              <a:spcBef>
                <a:spcPts val="800"/>
              </a:spcBef>
              <a:spcAft>
                <a:spcPts val="200"/>
              </a:spcAft>
              <a:defRPr sz="1500" b="0">
                <a:solidFill>
                  <a:srgbClr val="1A1A1A"/>
                </a:solidFill>
                <a:latin typeface="Calibri"/>
              </a:defRPr>
            </a:pPr>
            <a:r>
              <a:t>C2: Controlled feature ablation (47 vs 78) under identical conditions</a:t>
            </a:r>
          </a:p>
          <a:p>
            <a:pPr algn="l">
              <a:spcBef>
                <a:spcPts val="800"/>
              </a:spcBef>
              <a:spcAft>
                <a:spcPts val="200"/>
              </a:spcAft>
              <a:defRPr sz="1500" b="0">
                <a:solidFill>
                  <a:srgbClr val="1A1A1A"/>
                </a:solidFill>
                <a:latin typeface="Calibri"/>
              </a:defRPr>
            </a:pPr>
            <a:r>
              <a:t>C3: Full reproducibility — fixed seed, default params, open pipeline</a:t>
            </a:r>
          </a:p>
          <a:p>
            <a:pPr algn="l">
              <a:spcBef>
                <a:spcPts val="800"/>
              </a:spcBef>
              <a:spcAft>
                <a:spcPts val="200"/>
              </a:spcAft>
              <a:defRPr sz="1500" b="0">
                <a:solidFill>
                  <a:srgbClr val="1A1A1A"/>
                </a:solidFill>
                <a:latin typeface="Calibri"/>
              </a:defRPr>
            </a:pPr>
            <a:r>
              <a:t>C4: Permutation-based feature importance with cross-task analysis</a:t>
            </a:r>
          </a:p>
        </p:txBody>
      </p:sp>
      <p:sp>
        <p:nvSpPr>
          <p:cNvPr id="4" name="TextBox 3"/>
          <p:cNvSpPr txBox="1"/>
          <p:nvPr/>
        </p:nvSpPr>
        <p:spPr>
          <a:xfrm>
            <a:off x="6217920" y="1280160"/>
            <a:ext cx="5486400" cy="5029200"/>
          </a:xfrm>
          <a:prstGeom prst="rect">
            <a:avLst/>
          </a:prstGeom>
          <a:noFill/>
        </p:spPr>
        <p:txBody>
          <a:bodyPr wrap="square">
            <a:spAutoFit/>
          </a:bodyPr>
          <a:lstStyle/>
          <a:p>
            <a:pPr algn="l">
              <a:defRPr sz="2000" b="1">
                <a:solidFill>
                  <a:srgbClr val="0056A0"/>
                </a:solidFill>
                <a:latin typeface="Calibri"/>
              </a:defRPr>
            </a:pPr>
            <a:r>
              <a:t>Research Question Answers</a:t>
            </a:r>
          </a:p>
          <a:p>
            <a:pPr algn="l">
              <a:spcBef>
                <a:spcPts val="800"/>
              </a:spcBef>
              <a:spcAft>
                <a:spcPts val="200"/>
              </a:spcAft>
              <a:defRPr sz="1400" b="0">
                <a:solidFill>
                  <a:srgbClr val="1A1A1A"/>
                </a:solidFill>
                <a:latin typeface="Calibri"/>
              </a:defRPr>
            </a:pPr>
            <a:r>
              <a:t>RQ1: Classical ML is feasible (ROC-AUC 0.857)</a:t>
            </a:r>
          </a:p>
          <a:p>
            <a:pPr algn="l">
              <a:spcBef>
                <a:spcPts val="800"/>
              </a:spcBef>
              <a:spcAft>
                <a:spcPts val="200"/>
              </a:spcAft>
              <a:defRPr sz="1400" b="0">
                <a:solidFill>
                  <a:srgbClr val="1A1A1A"/>
                </a:solidFill>
                <a:latin typeface="Calibri"/>
              </a:defRPr>
            </a:pPr>
            <a:r>
              <a:t>RQ2: Feature extension is task-dependent (+23 pp ReadText)</a:t>
            </a:r>
          </a:p>
          <a:p>
            <a:pPr algn="l">
              <a:spcBef>
                <a:spcPts val="800"/>
              </a:spcBef>
              <a:spcAft>
                <a:spcPts val="200"/>
              </a:spcAft>
              <a:defRPr sz="1400" b="0">
                <a:solidFill>
                  <a:srgbClr val="1A1A1A"/>
                </a:solidFill>
                <a:latin typeface="Calibri"/>
              </a:defRPr>
            </a:pPr>
            <a:r>
              <a:t>RQ3: Class weighting provides no consistent benefit</a:t>
            </a:r>
          </a:p>
          <a:p>
            <a:pPr algn="l">
              <a:spcBef>
                <a:spcPts val="800"/>
              </a:spcBef>
              <a:spcAft>
                <a:spcPts val="200"/>
              </a:spcAft>
              <a:defRPr sz="1400" b="0">
                <a:solidFill>
                  <a:srgbClr val="1A1A1A"/>
                </a:solidFill>
                <a:latin typeface="Calibri"/>
              </a:defRPr>
            </a:pPr>
            <a:r>
              <a:t>RQ4: Cross-dataset differences confounded</a:t>
            </a:r>
          </a:p>
          <a:p>
            <a:pPr algn="l">
              <a:spcBef>
                <a:spcPts val="800"/>
              </a:spcBef>
              <a:spcAft>
                <a:spcPts val="200"/>
              </a:spcAft>
              <a:defRPr sz="1400" b="0">
                <a:solidFill>
                  <a:srgbClr val="1A1A1A"/>
                </a:solidFill>
                <a:latin typeface="Calibri"/>
              </a:defRPr>
            </a:pPr>
            <a:r>
              <a:t>RQ5: Spontaneous speech slightly stronger but task-specific</a:t>
            </a:r>
          </a:p>
        </p:txBody>
      </p:sp>
      <p:sp>
        <p:nvSpPr>
          <p:cNvPr id="5" name="TextBox 4"/>
          <p:cNvSpPr txBox="1"/>
          <p:nvPr/>
        </p:nvSpPr>
        <p:spPr>
          <a:xfrm>
            <a:off x="457200" y="5760720"/>
            <a:ext cx="11247120" cy="731520"/>
          </a:xfrm>
          <a:prstGeom prst="rect">
            <a:avLst/>
          </a:prstGeom>
          <a:noFill/>
        </p:spPr>
        <p:txBody>
          <a:bodyPr wrap="square">
            <a:spAutoFit/>
          </a:bodyPr>
          <a:lstStyle/>
          <a:p>
            <a:pPr algn="ctr">
              <a:defRPr sz="1600" b="1">
                <a:solidFill>
                  <a:srgbClr val="E86C00"/>
                </a:solidFill>
                <a:latin typeface="Calibri"/>
              </a:defRPr>
            </a:pPr>
            <a:r>
              <a:t>"Voice-based PD classification is scientifically substantiated but not yet ready for clinical use."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TextBox 1"/>
          <p:cNvSpPr txBox="1"/>
          <p:nvPr/>
        </p:nvSpPr>
        <p:spPr>
          <a:xfrm>
            <a:off x="914400" y="457200"/>
            <a:ext cx="10362895" cy="731520"/>
          </a:xfrm>
          <a:prstGeom prst="rect">
            <a:avLst/>
          </a:prstGeom>
          <a:noFill/>
        </p:spPr>
        <p:txBody>
          <a:bodyPr wrap="square">
            <a:spAutoFit/>
          </a:bodyPr>
          <a:lstStyle/>
          <a:p>
            <a:pPr algn="l">
              <a:defRPr sz="3200" b="1">
                <a:solidFill>
                  <a:srgbClr val="FFFFFF"/>
                </a:solidFill>
                <a:latin typeface="Calibri"/>
              </a:defRPr>
            </a:pPr>
            <a:r>
              <a:t>Future Work</a:t>
            </a:r>
          </a:p>
        </p:txBody>
      </p:sp>
      <p:sp>
        <p:nvSpPr>
          <p:cNvPr id="3" name="Rectangle 2"/>
          <p:cNvSpPr/>
          <p:nvPr/>
        </p:nvSpPr>
        <p:spPr>
          <a:xfrm>
            <a:off x="914400" y="1188720"/>
            <a:ext cx="103628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3474720" cy="457200"/>
          </a:xfrm>
          <a:prstGeom prst="rect">
            <a:avLst/>
          </a:prstGeom>
          <a:noFill/>
        </p:spPr>
        <p:txBody>
          <a:bodyPr wrap="square">
            <a:spAutoFit/>
          </a:bodyPr>
          <a:lstStyle/>
          <a:p>
            <a:pPr algn="l">
              <a:defRPr sz="2000" b="1">
                <a:solidFill>
                  <a:srgbClr val="E86C00"/>
                </a:solidFill>
                <a:latin typeface="Calibri"/>
              </a:defRPr>
            </a:pPr>
            <a:r>
              <a:t>Short-term</a:t>
            </a:r>
          </a:p>
        </p:txBody>
      </p:sp>
      <p:sp>
        <p:nvSpPr>
          <p:cNvPr id="5" name="TextBox 4"/>
          <p:cNvSpPr txBox="1"/>
          <p:nvPr/>
        </p:nvSpPr>
        <p:spPr>
          <a:xfrm>
            <a:off x="457200" y="2103120"/>
            <a:ext cx="3474720" cy="2286000"/>
          </a:xfrm>
          <a:prstGeom prst="rect">
            <a:avLst/>
          </a:prstGeom>
          <a:noFill/>
        </p:spPr>
        <p:txBody>
          <a:bodyPr wrap="square">
            <a:spAutoFit/>
          </a:bodyPr>
          <a:lstStyle/>
          <a:p>
            <a:pPr algn="l">
              <a:spcAft>
                <a:spcPts val="800"/>
              </a:spcAft>
              <a:defRPr sz="1500" b="0">
                <a:solidFill>
                  <a:srgbClr val="FFFFFF"/>
                </a:solidFill>
                <a:latin typeface="Calibri"/>
              </a:defRPr>
            </a:pPr>
            <a:r>
              <a:t>• Nested CV for hyperparameter tuning</a:t>
            </a:r>
          </a:p>
          <a:p>
            <a:pPr algn="l">
              <a:spcBef>
                <a:spcPts val="600"/>
              </a:spcBef>
              <a:spcAft>
                <a:spcPts val="200"/>
              </a:spcAft>
              <a:defRPr sz="1500" b="0">
                <a:solidFill>
                  <a:srgbClr val="FFFFFF"/>
                </a:solidFill>
                <a:latin typeface="Calibri"/>
              </a:defRPr>
            </a:pPr>
            <a:r>
              <a:t>• Feature selection (RFE, L1)</a:t>
            </a:r>
          </a:p>
          <a:p>
            <a:pPr algn="l">
              <a:spcBef>
                <a:spcPts val="600"/>
              </a:spcBef>
              <a:spcAft>
                <a:spcPts val="200"/>
              </a:spcAft>
              <a:defRPr sz="1500" b="0">
                <a:solidFill>
                  <a:srgbClr val="FFFFFF"/>
                </a:solidFill>
                <a:latin typeface="Calibri"/>
              </a:defRPr>
            </a:pPr>
            <a:r>
              <a:t>• Multi-task fusion (Read + Spontaneous)</a:t>
            </a:r>
          </a:p>
        </p:txBody>
      </p:sp>
      <p:sp>
        <p:nvSpPr>
          <p:cNvPr id="6" name="TextBox 5"/>
          <p:cNvSpPr txBox="1"/>
          <p:nvPr/>
        </p:nvSpPr>
        <p:spPr>
          <a:xfrm>
            <a:off x="4389120" y="1463040"/>
            <a:ext cx="3474720" cy="457200"/>
          </a:xfrm>
          <a:prstGeom prst="rect">
            <a:avLst/>
          </a:prstGeom>
          <a:noFill/>
        </p:spPr>
        <p:txBody>
          <a:bodyPr wrap="square">
            <a:spAutoFit/>
          </a:bodyPr>
          <a:lstStyle/>
          <a:p>
            <a:pPr algn="l">
              <a:defRPr sz="2000" b="1">
                <a:solidFill>
                  <a:srgbClr val="E86C00"/>
                </a:solidFill>
                <a:latin typeface="Calibri"/>
              </a:defRPr>
            </a:pPr>
            <a:r>
              <a:t>Medium-term</a:t>
            </a:r>
          </a:p>
        </p:txBody>
      </p:sp>
      <p:sp>
        <p:nvSpPr>
          <p:cNvPr id="7" name="TextBox 6"/>
          <p:cNvSpPr txBox="1"/>
          <p:nvPr/>
        </p:nvSpPr>
        <p:spPr>
          <a:xfrm>
            <a:off x="4389120" y="2103120"/>
            <a:ext cx="3474720" cy="2286000"/>
          </a:xfrm>
          <a:prstGeom prst="rect">
            <a:avLst/>
          </a:prstGeom>
          <a:noFill/>
        </p:spPr>
        <p:txBody>
          <a:bodyPr wrap="square">
            <a:spAutoFit/>
          </a:bodyPr>
          <a:lstStyle/>
          <a:p>
            <a:pPr algn="l">
              <a:spcAft>
                <a:spcPts val="800"/>
              </a:spcAft>
              <a:defRPr sz="1500" b="0">
                <a:solidFill>
                  <a:srgbClr val="FFFFFF"/>
                </a:solidFill>
                <a:latin typeface="Calibri"/>
              </a:defRPr>
            </a:pPr>
            <a:r>
              <a:t>• External validation on independent cohorts</a:t>
            </a:r>
          </a:p>
          <a:p>
            <a:pPr algn="l">
              <a:spcBef>
                <a:spcPts val="600"/>
              </a:spcBef>
              <a:spcAft>
                <a:spcPts val="200"/>
              </a:spcAft>
              <a:defRPr sz="1500" b="0">
                <a:solidFill>
                  <a:srgbClr val="FFFFFF"/>
                </a:solidFill>
                <a:latin typeface="Calibri"/>
              </a:defRPr>
            </a:pPr>
            <a:r>
              <a:t>• Deep learning comparison (with regularization)</a:t>
            </a:r>
          </a:p>
          <a:p>
            <a:pPr algn="l">
              <a:spcBef>
                <a:spcPts val="600"/>
              </a:spcBef>
              <a:spcAft>
                <a:spcPts val="200"/>
              </a:spcAft>
              <a:defRPr sz="1500" b="0">
                <a:solidFill>
                  <a:srgbClr val="FFFFFF"/>
                </a:solidFill>
                <a:latin typeface="Calibri"/>
              </a:defRPr>
            </a:pPr>
            <a:r>
              <a:t>• Longitudinal disease progression tracking</a:t>
            </a:r>
          </a:p>
        </p:txBody>
      </p:sp>
      <p:sp>
        <p:nvSpPr>
          <p:cNvPr id="8" name="TextBox 7"/>
          <p:cNvSpPr txBox="1"/>
          <p:nvPr/>
        </p:nvSpPr>
        <p:spPr>
          <a:xfrm>
            <a:off x="8321040" y="1463040"/>
            <a:ext cx="3474720" cy="457200"/>
          </a:xfrm>
          <a:prstGeom prst="rect">
            <a:avLst/>
          </a:prstGeom>
          <a:noFill/>
        </p:spPr>
        <p:txBody>
          <a:bodyPr wrap="square">
            <a:spAutoFit/>
          </a:bodyPr>
          <a:lstStyle/>
          <a:p>
            <a:pPr algn="l">
              <a:defRPr sz="2000" b="1">
                <a:solidFill>
                  <a:srgbClr val="E86C00"/>
                </a:solidFill>
                <a:latin typeface="Calibri"/>
              </a:defRPr>
            </a:pPr>
            <a:r>
              <a:t>Long-term</a:t>
            </a:r>
          </a:p>
        </p:txBody>
      </p:sp>
      <p:sp>
        <p:nvSpPr>
          <p:cNvPr id="9" name="TextBox 8"/>
          <p:cNvSpPr txBox="1"/>
          <p:nvPr/>
        </p:nvSpPr>
        <p:spPr>
          <a:xfrm>
            <a:off x="8321040" y="2103120"/>
            <a:ext cx="3474720" cy="2286000"/>
          </a:xfrm>
          <a:prstGeom prst="rect">
            <a:avLst/>
          </a:prstGeom>
          <a:noFill/>
        </p:spPr>
        <p:txBody>
          <a:bodyPr wrap="square">
            <a:spAutoFit/>
          </a:bodyPr>
          <a:lstStyle/>
          <a:p>
            <a:pPr algn="l">
              <a:spcAft>
                <a:spcPts val="800"/>
              </a:spcAft>
              <a:defRPr sz="1500" b="0">
                <a:solidFill>
                  <a:srgbClr val="FFFFFF"/>
                </a:solidFill>
                <a:latin typeface="Calibri"/>
              </a:defRPr>
            </a:pPr>
            <a:r>
              <a:t>• Smartphone-based screening integration</a:t>
            </a:r>
          </a:p>
          <a:p>
            <a:pPr algn="l">
              <a:spcBef>
                <a:spcPts val="600"/>
              </a:spcBef>
              <a:spcAft>
                <a:spcPts val="200"/>
              </a:spcAft>
              <a:defRPr sz="1500" b="0">
                <a:solidFill>
                  <a:srgbClr val="FFFFFF"/>
                </a:solidFill>
                <a:latin typeface="Calibri"/>
              </a:defRPr>
            </a:pPr>
            <a:r>
              <a:t>• Multi-modal fusion (voice + gait + tremor)</a:t>
            </a:r>
          </a:p>
          <a:p>
            <a:pPr algn="l">
              <a:spcBef>
                <a:spcPts val="600"/>
              </a:spcBef>
              <a:spcAft>
                <a:spcPts val="200"/>
              </a:spcAft>
              <a:defRPr sz="1500" b="0">
                <a:solidFill>
                  <a:srgbClr val="FFFFFF"/>
                </a:solidFill>
                <a:latin typeface="Calibri"/>
              </a:defRPr>
            </a:pPr>
            <a:r>
              <a:t>• Formal clinical validation</a:t>
            </a:r>
          </a:p>
        </p:txBody>
      </p:sp>
      <p:sp>
        <p:nvSpPr>
          <p:cNvPr id="10" name="TextBox 9"/>
          <p:cNvSpPr txBox="1"/>
          <p:nvPr/>
        </p:nvSpPr>
        <p:spPr>
          <a:xfrm>
            <a:off x="914400" y="4846320"/>
            <a:ext cx="10362895" cy="731520"/>
          </a:xfrm>
          <a:prstGeom prst="rect">
            <a:avLst/>
          </a:prstGeom>
          <a:noFill/>
        </p:spPr>
        <p:txBody>
          <a:bodyPr wrap="square">
            <a:spAutoFit/>
          </a:bodyPr>
          <a:lstStyle/>
          <a:p>
            <a:pPr algn="ctr">
              <a:defRPr sz="3600" b="1">
                <a:solidFill>
                  <a:srgbClr val="FFFFFF"/>
                </a:solidFill>
                <a:latin typeface="Calibri"/>
              </a:defRPr>
            </a:pPr>
            <a:r>
              <a:t>Thank You</a:t>
            </a:r>
          </a:p>
        </p:txBody>
      </p:sp>
      <p:sp>
        <p:nvSpPr>
          <p:cNvPr id="11" name="Rectangle 10"/>
          <p:cNvSpPr/>
          <p:nvPr/>
        </p:nvSpPr>
        <p:spPr>
          <a:xfrm>
            <a:off x="3657600" y="5577840"/>
            <a:ext cx="48764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760720"/>
            <a:ext cx="10362895" cy="457200"/>
          </a:xfrm>
          <a:prstGeom prst="rect">
            <a:avLst/>
          </a:prstGeom>
          <a:noFill/>
        </p:spPr>
        <p:txBody>
          <a:bodyPr wrap="square">
            <a:spAutoFit/>
          </a:bodyPr>
          <a:lstStyle/>
          <a:p>
            <a:pPr algn="ctr">
              <a:defRPr sz="2400" b="0">
                <a:solidFill>
                  <a:srgbClr val="D6E8F7"/>
                </a:solidFill>
                <a:latin typeface="Calibri"/>
              </a:defRPr>
            </a:pPr>
            <a:r>
              <a:t>Questions?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Full Results — C4: Extended + Weighted (Dataset A)</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16" cy="4325112"/>
        </p:xfrm>
        <a:graphic>
          <a:graphicData uri="http://schemas.openxmlformats.org/drawingml/2006/table">
            <a:tbl>
              <a:tblPr firstRow="1" bandRow="1">
                <a:tableStyleId>{5C22544A-7EE6-4342-B048-85BDC9FD1C3A}</a:tableStyleId>
              </a:tblPr>
              <a:tblGrid>
                <a:gridCol w="1205048"/>
                <a:gridCol w="1205048"/>
                <a:gridCol w="1807572"/>
                <a:gridCol w="1807572"/>
                <a:gridCol w="1606731"/>
                <a:gridCol w="1606731"/>
                <a:gridCol w="2008414"/>
              </a:tblGrid>
              <a:tr h="393192">
                <a:tc>
                  <a:txBody>
                    <a:bodyPr/>
                    <a:lstStyle/>
                    <a:p>
                      <a:pPr algn="ctr">
                        <a:defRPr sz="1400" b="1">
                          <a:solidFill>
                            <a:srgbClr val="FFFFFF"/>
                          </a:solidFill>
                          <a:latin typeface="Calibri"/>
                        </a:defRPr>
                      </a:pPr>
                      <a:r>
                        <a:t>Model</a:t>
                      </a:r>
                    </a:p>
                  </a:txBody>
                  <a:tcPr anchor="ctr">
                    <a:solidFill>
                      <a:srgbClr val="0056A0"/>
                    </a:solidFill>
                  </a:tcPr>
                </a:tc>
                <a:tc>
                  <a:txBody>
                    <a:bodyPr/>
                    <a:lstStyle/>
                    <a:p>
                      <a:pPr algn="ctr">
                        <a:defRPr sz="1400" b="1">
                          <a:solidFill>
                            <a:srgbClr val="FFFFFF"/>
                          </a:solidFill>
                          <a:latin typeface="Calibri"/>
                        </a:defRPr>
                      </a:pPr>
                      <a:r>
                        <a:t>Task</a:t>
                      </a:r>
                    </a:p>
                  </a:txBody>
                  <a:tcPr anchor="ctr">
                    <a:solidFill>
                      <a:srgbClr val="0056A0"/>
                    </a:solidFill>
                  </a:tcPr>
                </a:tc>
                <a:tc>
                  <a:txBody>
                    <a:bodyPr/>
                    <a:lstStyle/>
                    <a:p>
                      <a:pPr algn="ctr">
                        <a:defRPr sz="1400" b="1">
                          <a:solidFill>
                            <a:srgbClr val="FFFFFF"/>
                          </a:solidFill>
                          <a:latin typeface="Calibri"/>
                        </a:defRPr>
                      </a:pPr>
                      <a:r>
                        <a:t>Accuracy</a:t>
                      </a:r>
                    </a:p>
                  </a:txBody>
                  <a:tcPr anchor="ctr">
                    <a:solidFill>
                      <a:srgbClr val="0056A0"/>
                    </a:solidFill>
                  </a:tcPr>
                </a:tc>
                <a:tc>
                  <a:txBody>
                    <a:bodyPr/>
                    <a:lstStyle/>
                    <a:p>
                      <a:pPr algn="ctr">
                        <a:defRPr sz="1400" b="1">
                          <a:solidFill>
                            <a:srgbClr val="FFFFFF"/>
                          </a:solidFill>
                          <a:latin typeface="Calibri"/>
                        </a:defRPr>
                      </a:pPr>
                      <a:r>
                        <a:t>Precision</a:t>
                      </a:r>
                    </a:p>
                  </a:txBody>
                  <a:tcPr anchor="ctr">
                    <a:solidFill>
                      <a:srgbClr val="0056A0"/>
                    </a:solidFill>
                  </a:tcPr>
                </a:tc>
                <a:tc>
                  <a:txBody>
                    <a:bodyPr/>
                    <a:lstStyle/>
                    <a:p>
                      <a:pPr algn="ctr">
                        <a:defRPr sz="1400" b="1">
                          <a:solidFill>
                            <a:srgbClr val="FFFFFF"/>
                          </a:solidFill>
                          <a:latin typeface="Calibri"/>
                        </a:defRPr>
                      </a:pPr>
                      <a:r>
                        <a:t>Recall</a:t>
                      </a:r>
                    </a:p>
                  </a:txBody>
                  <a:tcPr anchor="ctr">
                    <a:solidFill>
                      <a:srgbClr val="0056A0"/>
                    </a:solidFill>
                  </a:tcPr>
                </a:tc>
                <a:tc>
                  <a:txBody>
                    <a:bodyPr/>
                    <a:lstStyle/>
                    <a:p>
                      <a:pPr algn="ctr">
                        <a:defRPr sz="1400" b="1">
                          <a:solidFill>
                            <a:srgbClr val="FFFFFF"/>
                          </a:solidFill>
                          <a:latin typeface="Calibri"/>
                        </a:defRPr>
                      </a:pPr>
                      <a:r>
                        <a:t>F1</a:t>
                      </a:r>
                    </a:p>
                  </a:txBody>
                  <a:tcPr anchor="ctr">
                    <a:solidFill>
                      <a:srgbClr val="0056A0"/>
                    </a:solidFill>
                  </a:tcPr>
                </a:tc>
                <a:tc>
                  <a:txBody>
                    <a:bodyPr/>
                    <a:lstStyle/>
                    <a:p>
                      <a:pPr algn="ctr">
                        <a:defRPr sz="1400" b="1">
                          <a:solidFill>
                            <a:srgbClr val="FFFFFF"/>
                          </a:solidFill>
                          <a:latin typeface="Calibri"/>
                        </a:defRPr>
                      </a:pPr>
                      <a:r>
                        <a:t>ROC-AUC</a:t>
                      </a:r>
                    </a:p>
                  </a:txBody>
                  <a:tcPr anchor="ctr">
                    <a:solidFill>
                      <a:srgbClr val="0056A0"/>
                    </a:solidFill>
                  </a:tcPr>
                </a:tc>
              </a:tr>
              <a:tr h="393192">
                <a:tc>
                  <a:txBody>
                    <a:bodyPr/>
                    <a:lstStyle/>
                    <a:p>
                      <a:pPr algn="ctr">
                        <a:defRPr sz="1300">
                          <a:solidFill>
                            <a:srgbClr val="1A1A1A"/>
                          </a:solidFill>
                          <a:latin typeface="Calibri"/>
                        </a:defRPr>
                      </a:pPr>
                      <a:r>
                        <a:t>LR</a:t>
                      </a:r>
                    </a:p>
                  </a:txBody>
                  <a:tcPr anchor="ctr">
                    <a:solidFill>
                      <a:srgbClr val="F2F2F2"/>
                    </a:solidFill>
                  </a:tcPr>
                </a:tc>
                <a:tc>
                  <a:txBody>
                    <a:bodyPr/>
                    <a:lstStyle/>
                    <a:p>
                      <a:pPr algn="ctr">
                        <a:defRPr sz="1300">
                          <a:solidFill>
                            <a:srgbClr val="1A1A1A"/>
                          </a:solidFill>
                          <a:latin typeface="Calibri"/>
                        </a:defRPr>
                      </a:pPr>
                      <a:r>
                        <a:t>ReadText</a:t>
                      </a:r>
                    </a:p>
                  </a:txBody>
                  <a:tcPr anchor="ctr">
                    <a:solidFill>
                      <a:srgbClr val="F2F2F2"/>
                    </a:solidFill>
                  </a:tcPr>
                </a:tc>
                <a:tc>
                  <a:txBody>
                    <a:bodyPr/>
                    <a:lstStyle/>
                    <a:p>
                      <a:pPr algn="ctr">
                        <a:defRPr sz="1300">
                          <a:solidFill>
                            <a:srgbClr val="1A1A1A"/>
                          </a:solidFill>
                          <a:latin typeface="Calibri"/>
                        </a:defRPr>
                      </a:pPr>
                      <a:r>
                        <a:t>73.2 ± 14.6</a:t>
                      </a:r>
                    </a:p>
                  </a:txBody>
                  <a:tcPr anchor="ctr">
                    <a:solidFill>
                      <a:srgbClr val="F2F2F2"/>
                    </a:solidFill>
                  </a:tcPr>
                </a:tc>
                <a:tc>
                  <a:txBody>
                    <a:bodyPr/>
                    <a:lstStyle/>
                    <a:p>
                      <a:pPr algn="ctr">
                        <a:defRPr sz="1300">
                          <a:solidFill>
                            <a:srgbClr val="1A1A1A"/>
                          </a:solidFill>
                          <a:latin typeface="Calibri"/>
                        </a:defRPr>
                      </a:pPr>
                      <a:r>
                        <a:t>0.63 ± 0.20</a:t>
                      </a:r>
                    </a:p>
                  </a:txBody>
                  <a:tcPr anchor="ctr">
                    <a:solidFill>
                      <a:srgbClr val="F2F2F2"/>
                    </a:solidFill>
                  </a:tcPr>
                </a:tc>
                <a:tc>
                  <a:txBody>
                    <a:bodyPr/>
                    <a:lstStyle/>
                    <a:p>
                      <a:pPr algn="ctr">
                        <a:defRPr sz="1300">
                          <a:solidFill>
                            <a:srgbClr val="1A1A1A"/>
                          </a:solidFill>
                          <a:latin typeface="Calibri"/>
                        </a:defRPr>
                      </a:pPr>
                      <a:r>
                        <a:t>0.78 ± 0.25</a:t>
                      </a:r>
                    </a:p>
                  </a:txBody>
                  <a:tcPr anchor="ctr">
                    <a:solidFill>
                      <a:srgbClr val="F2F2F2"/>
                    </a:solidFill>
                  </a:tcPr>
                </a:tc>
                <a:tc>
                  <a:txBody>
                    <a:bodyPr/>
                    <a:lstStyle/>
                    <a:p>
                      <a:pPr algn="ctr">
                        <a:defRPr sz="1300">
                          <a:solidFill>
                            <a:srgbClr val="1A1A1A"/>
                          </a:solidFill>
                          <a:latin typeface="Calibri"/>
                        </a:defRPr>
                      </a:pPr>
                      <a:r>
                        <a:t>0.67 ± 0.19</a:t>
                      </a:r>
                    </a:p>
                  </a:txBody>
                  <a:tcPr anchor="ctr">
                    <a:solidFill>
                      <a:srgbClr val="F2F2F2"/>
                    </a:solidFill>
                  </a:tcPr>
                </a:tc>
                <a:tc>
                  <a:txBody>
                    <a:bodyPr/>
                    <a:lstStyle/>
                    <a:p>
                      <a:pPr algn="ctr">
                        <a:defRPr sz="1300">
                          <a:solidFill>
                            <a:srgbClr val="1A1A1A"/>
                          </a:solidFill>
                          <a:latin typeface="Calibri"/>
                        </a:defRPr>
                      </a:pPr>
                      <a:r>
                        <a:t>0.698 ± 0.132</a:t>
                      </a:r>
                    </a:p>
                  </a:txBody>
                  <a:tcPr anchor="ctr">
                    <a:solidFill>
                      <a:srgbClr val="F2F2F2"/>
                    </a:solidFill>
                  </a:tcPr>
                </a:tc>
              </a:tr>
              <a:tr h="393192">
                <a:tc>
                  <a:txBody>
                    <a:bodyPr/>
                    <a:lstStyle/>
                    <a:p>
                      <a:pPr algn="ctr">
                        <a:defRPr sz="1300">
                          <a:solidFill>
                            <a:srgbClr val="1A1A1A"/>
                          </a:solidFill>
                          <a:latin typeface="Calibri"/>
                        </a:defRPr>
                      </a:pPr>
                      <a:r>
                        <a:t>SVM</a:t>
                      </a:r>
                    </a:p>
                  </a:txBody>
                  <a:tcPr anchor="ctr">
                    <a:solidFill>
                      <a:srgbClr val="FFFFFF"/>
                    </a:solidFill>
                  </a:tcPr>
                </a:tc>
                <a:tc>
                  <a:txBody>
                    <a:bodyPr/>
                    <a:lstStyle/>
                    <a:p>
                      <a:pPr algn="ctr">
                        <a:defRPr sz="1300">
                          <a:solidFill>
                            <a:srgbClr val="1A1A1A"/>
                          </a:solidFill>
                          <a:latin typeface="Calibri"/>
                        </a:defRPr>
                      </a:pPr>
                      <a:r>
                        <a:t>ReadText</a:t>
                      </a:r>
                    </a:p>
                  </a:txBody>
                  <a:tcPr anchor="ctr">
                    <a:solidFill>
                      <a:srgbClr val="FFFFFF"/>
                    </a:solidFill>
                  </a:tcPr>
                </a:tc>
                <a:tc>
                  <a:txBody>
                    <a:bodyPr/>
                    <a:lstStyle/>
                    <a:p>
                      <a:pPr algn="ctr">
                        <a:defRPr sz="1300">
                          <a:solidFill>
                            <a:srgbClr val="1A1A1A"/>
                          </a:solidFill>
                          <a:latin typeface="Calibri"/>
                        </a:defRPr>
                      </a:pPr>
                      <a:r>
                        <a:t>78.6 ± 10.8</a:t>
                      </a:r>
                    </a:p>
                  </a:txBody>
                  <a:tcPr anchor="ctr">
                    <a:solidFill>
                      <a:srgbClr val="FFFFFF"/>
                    </a:solidFill>
                  </a:tcPr>
                </a:tc>
                <a:tc>
                  <a:txBody>
                    <a:bodyPr/>
                    <a:lstStyle/>
                    <a:p>
                      <a:pPr algn="ctr">
                        <a:defRPr sz="1300">
                          <a:solidFill>
                            <a:srgbClr val="1A1A1A"/>
                          </a:solidFill>
                          <a:latin typeface="Calibri"/>
                        </a:defRPr>
                      </a:pPr>
                      <a:r>
                        <a:t>0.73 ± 0.15</a:t>
                      </a:r>
                    </a:p>
                  </a:txBody>
                  <a:tcPr anchor="ctr">
                    <a:solidFill>
                      <a:srgbClr val="FFFFFF"/>
                    </a:solidFill>
                  </a:tcPr>
                </a:tc>
                <a:tc>
                  <a:txBody>
                    <a:bodyPr/>
                    <a:lstStyle/>
                    <a:p>
                      <a:pPr algn="ctr">
                        <a:defRPr sz="1300">
                          <a:solidFill>
                            <a:srgbClr val="1A1A1A"/>
                          </a:solidFill>
                          <a:latin typeface="Calibri"/>
                        </a:defRPr>
                      </a:pPr>
                      <a:r>
                        <a:t>0.75 ± 0.25</a:t>
                      </a:r>
                    </a:p>
                  </a:txBody>
                  <a:tcPr anchor="ctr">
                    <a:solidFill>
                      <a:srgbClr val="FFFFFF"/>
                    </a:solidFill>
                  </a:tcPr>
                </a:tc>
                <a:tc>
                  <a:txBody>
                    <a:bodyPr/>
                    <a:lstStyle/>
                    <a:p>
                      <a:pPr algn="ctr">
                        <a:defRPr sz="1300">
                          <a:solidFill>
                            <a:srgbClr val="1A1A1A"/>
                          </a:solidFill>
                          <a:latin typeface="Calibri"/>
                        </a:defRPr>
                      </a:pPr>
                      <a:r>
                        <a:t>0.72 ± 0.16</a:t>
                      </a:r>
                    </a:p>
                  </a:txBody>
                  <a:tcPr anchor="ctr">
                    <a:solidFill>
                      <a:srgbClr val="FFFFFF"/>
                    </a:solidFill>
                  </a:tcPr>
                </a:tc>
                <a:tc>
                  <a:txBody>
                    <a:bodyPr/>
                    <a:lstStyle/>
                    <a:p>
                      <a:pPr algn="ctr">
                        <a:defRPr sz="1300">
                          <a:solidFill>
                            <a:srgbClr val="1A1A1A"/>
                          </a:solidFill>
                          <a:latin typeface="Calibri"/>
                        </a:defRPr>
                      </a:pPr>
                      <a:r>
                        <a:t>0.834 ± 0.153</a:t>
                      </a:r>
                    </a:p>
                  </a:txBody>
                  <a:tcPr anchor="ctr">
                    <a:solidFill>
                      <a:srgbClr val="FFFFFF"/>
                    </a:solidFill>
                  </a:tcPr>
                </a:tc>
              </a:tr>
              <a:tr h="393192">
                <a:tc>
                  <a:txBody>
                    <a:bodyPr/>
                    <a:lstStyle/>
                    <a:p>
                      <a:pPr algn="ctr">
                        <a:defRPr sz="1300">
                          <a:solidFill>
                            <a:srgbClr val="1A1A1A"/>
                          </a:solidFill>
                          <a:latin typeface="Calibri"/>
                        </a:defRPr>
                      </a:pPr>
                      <a:r>
                        <a:t>RF</a:t>
                      </a:r>
                    </a:p>
                  </a:txBody>
                  <a:tcPr anchor="ctr">
                    <a:solidFill>
                      <a:srgbClr val="F2F2F2"/>
                    </a:solidFill>
                  </a:tcPr>
                </a:tc>
                <a:tc>
                  <a:txBody>
                    <a:bodyPr/>
                    <a:lstStyle/>
                    <a:p>
                      <a:pPr algn="ctr">
                        <a:defRPr sz="1300">
                          <a:solidFill>
                            <a:srgbClr val="1A1A1A"/>
                          </a:solidFill>
                          <a:latin typeface="Calibri"/>
                        </a:defRPr>
                      </a:pPr>
                      <a:r>
                        <a:t>ReadText</a:t>
                      </a:r>
                    </a:p>
                  </a:txBody>
                  <a:tcPr anchor="ctr">
                    <a:solidFill>
                      <a:srgbClr val="F2F2F2"/>
                    </a:solidFill>
                  </a:tcPr>
                </a:tc>
                <a:tc>
                  <a:txBody>
                    <a:bodyPr/>
                    <a:lstStyle/>
                    <a:p>
                      <a:pPr algn="ctr">
                        <a:defRPr sz="1300">
                          <a:solidFill>
                            <a:srgbClr val="1A1A1A"/>
                          </a:solidFill>
                          <a:latin typeface="Calibri"/>
                        </a:defRPr>
                      </a:pPr>
                      <a:r>
                        <a:t>81.8 ± 14.0</a:t>
                      </a:r>
                    </a:p>
                  </a:txBody>
                  <a:tcPr anchor="ctr">
                    <a:solidFill>
                      <a:srgbClr val="F2F2F2"/>
                    </a:solidFill>
                  </a:tcPr>
                </a:tc>
                <a:tc>
                  <a:txBody>
                    <a:bodyPr/>
                    <a:lstStyle/>
                    <a:p>
                      <a:pPr algn="ctr">
                        <a:defRPr sz="1300">
                          <a:solidFill>
                            <a:srgbClr val="1A1A1A"/>
                          </a:solidFill>
                          <a:latin typeface="Calibri"/>
                        </a:defRPr>
                      </a:pPr>
                      <a:r>
                        <a:t>0.77 ± 0.18</a:t>
                      </a:r>
                    </a:p>
                  </a:txBody>
                  <a:tcPr anchor="ctr">
                    <a:solidFill>
                      <a:srgbClr val="F2F2F2"/>
                    </a:solidFill>
                  </a:tcPr>
                </a:tc>
                <a:tc>
                  <a:txBody>
                    <a:bodyPr/>
                    <a:lstStyle/>
                    <a:p>
                      <a:pPr algn="ctr">
                        <a:defRPr sz="1300">
                          <a:solidFill>
                            <a:srgbClr val="1A1A1A"/>
                          </a:solidFill>
                          <a:latin typeface="Calibri"/>
                        </a:defRPr>
                      </a:pPr>
                      <a:r>
                        <a:t>0.75 ± 0.25</a:t>
                      </a:r>
                    </a:p>
                  </a:txBody>
                  <a:tcPr anchor="ctr">
                    <a:solidFill>
                      <a:srgbClr val="F2F2F2"/>
                    </a:solidFill>
                  </a:tcPr>
                </a:tc>
                <a:tc>
                  <a:txBody>
                    <a:bodyPr/>
                    <a:lstStyle/>
                    <a:p>
                      <a:pPr algn="ctr">
                        <a:defRPr sz="1300">
                          <a:solidFill>
                            <a:srgbClr val="1A1A1A"/>
                          </a:solidFill>
                          <a:latin typeface="Calibri"/>
                        </a:defRPr>
                      </a:pPr>
                      <a:r>
                        <a:t>0.73 ± 0.21</a:t>
                      </a:r>
                    </a:p>
                  </a:txBody>
                  <a:tcPr anchor="ctr">
                    <a:solidFill>
                      <a:srgbClr val="F2F2F2"/>
                    </a:solidFill>
                  </a:tcPr>
                </a:tc>
                <a:tc>
                  <a:txBody>
                    <a:bodyPr/>
                    <a:lstStyle/>
                    <a:p>
                      <a:pPr algn="ctr">
                        <a:defRPr sz="1300">
                          <a:solidFill>
                            <a:srgbClr val="1A1A1A"/>
                          </a:solidFill>
                          <a:latin typeface="Calibri"/>
                        </a:defRPr>
                      </a:pPr>
                      <a:r>
                        <a:t>0.805 ± 0.182</a:t>
                      </a:r>
                    </a:p>
                  </a:txBody>
                  <a:tcPr anchor="ctr">
                    <a:solidFill>
                      <a:srgbClr val="F2F2F2"/>
                    </a:solidFill>
                  </a:tcPr>
                </a:tc>
              </a:tr>
              <a:tr h="393192">
                <a:tc>
                  <a:txBody>
                    <a:bodyPr/>
                    <a:lstStyle/>
                    <a:p>
                      <a:pPr algn="ctr">
                        <a:defRPr sz="1300">
                          <a:solidFill>
                            <a:srgbClr val="1A1A1A"/>
                          </a:solidFill>
                          <a:latin typeface="Calibri"/>
                        </a:defRPr>
                      </a:pPr>
                      <a:r>
                        <a:t>GB</a:t>
                      </a:r>
                    </a:p>
                  </a:txBody>
                  <a:tcPr anchor="ctr">
                    <a:solidFill>
                      <a:srgbClr val="FFFFFF"/>
                    </a:solidFill>
                  </a:tcPr>
                </a:tc>
                <a:tc>
                  <a:txBody>
                    <a:bodyPr/>
                    <a:lstStyle/>
                    <a:p>
                      <a:pPr algn="ctr">
                        <a:defRPr sz="1300">
                          <a:solidFill>
                            <a:srgbClr val="1A1A1A"/>
                          </a:solidFill>
                          <a:latin typeface="Calibri"/>
                        </a:defRPr>
                      </a:pPr>
                      <a:r>
                        <a:t>ReadText</a:t>
                      </a:r>
                    </a:p>
                  </a:txBody>
                  <a:tcPr anchor="ctr">
                    <a:solidFill>
                      <a:srgbClr val="FFFFFF"/>
                    </a:solidFill>
                  </a:tcPr>
                </a:tc>
                <a:tc>
                  <a:txBody>
                    <a:bodyPr/>
                    <a:lstStyle/>
                    <a:p>
                      <a:pPr algn="ctr">
                        <a:defRPr sz="1300">
                          <a:solidFill>
                            <a:srgbClr val="1A1A1A"/>
                          </a:solidFill>
                          <a:latin typeface="Calibri"/>
                        </a:defRPr>
                      </a:pPr>
                      <a:r>
                        <a:t>71.1 ± 14.8</a:t>
                      </a:r>
                    </a:p>
                  </a:txBody>
                  <a:tcPr anchor="ctr">
                    <a:solidFill>
                      <a:srgbClr val="FFFFFF"/>
                    </a:solidFill>
                  </a:tcPr>
                </a:tc>
                <a:tc>
                  <a:txBody>
                    <a:bodyPr/>
                    <a:lstStyle/>
                    <a:p>
                      <a:pPr algn="ctr">
                        <a:defRPr sz="1300">
                          <a:solidFill>
                            <a:srgbClr val="1A1A1A"/>
                          </a:solidFill>
                          <a:latin typeface="Calibri"/>
                        </a:defRPr>
                      </a:pPr>
                      <a:r>
                        <a:t>0.59 ± 0.18</a:t>
                      </a:r>
                    </a:p>
                  </a:txBody>
                  <a:tcPr anchor="ctr">
                    <a:solidFill>
                      <a:srgbClr val="FFFFFF"/>
                    </a:solidFill>
                  </a:tcPr>
                </a:tc>
                <a:tc>
                  <a:txBody>
                    <a:bodyPr/>
                    <a:lstStyle/>
                    <a:p>
                      <a:pPr algn="ctr">
                        <a:defRPr sz="1300">
                          <a:solidFill>
                            <a:srgbClr val="1A1A1A"/>
                          </a:solidFill>
                          <a:latin typeface="Calibri"/>
                        </a:defRPr>
                      </a:pPr>
                      <a:r>
                        <a:t>0.78 ± 0.25</a:t>
                      </a:r>
                    </a:p>
                  </a:txBody>
                  <a:tcPr anchor="ctr">
                    <a:solidFill>
                      <a:srgbClr val="FFFFFF"/>
                    </a:solidFill>
                  </a:tcPr>
                </a:tc>
                <a:tc>
                  <a:txBody>
                    <a:bodyPr/>
                    <a:lstStyle/>
                    <a:p>
                      <a:pPr algn="ctr">
                        <a:defRPr sz="1300">
                          <a:solidFill>
                            <a:srgbClr val="1A1A1A"/>
                          </a:solidFill>
                          <a:latin typeface="Calibri"/>
                        </a:defRPr>
                      </a:pPr>
                      <a:r>
                        <a:t>0.65 ± 0.18</a:t>
                      </a:r>
                    </a:p>
                  </a:txBody>
                  <a:tcPr anchor="ctr">
                    <a:solidFill>
                      <a:srgbClr val="FFFFFF"/>
                    </a:solidFill>
                  </a:tcPr>
                </a:tc>
                <a:tc>
                  <a:txBody>
                    <a:bodyPr/>
                    <a:lstStyle/>
                    <a:p>
                      <a:pPr algn="ctr">
                        <a:defRPr sz="1300">
                          <a:solidFill>
                            <a:srgbClr val="1A1A1A"/>
                          </a:solidFill>
                          <a:latin typeface="Calibri"/>
                        </a:defRPr>
                      </a:pPr>
                      <a:r>
                        <a:t>0.724 ± 0.214</a:t>
                      </a:r>
                    </a:p>
                  </a:txBody>
                  <a:tcPr anchor="ctr">
                    <a:solidFill>
                      <a:srgbClr val="FFFFFF"/>
                    </a:solidFill>
                  </a:tcPr>
                </a:tc>
              </a:tr>
              <a:tr h="393192">
                <a:tc>
                  <a:txBody>
                    <a:bodyPr/>
                    <a:lstStyle/>
                    <a:p>
                      <a:pPr algn="ctr">
                        <a:defRPr sz="1300">
                          <a:solidFill>
                            <a:srgbClr val="1A1A1A"/>
                          </a:solidFill>
                          <a:latin typeface="Calibri"/>
                        </a:defRPr>
                      </a:pPr>
                      <a:r>
                        <a:t>XGB</a:t>
                      </a:r>
                    </a:p>
                  </a:txBody>
                  <a:tcPr anchor="ctr">
                    <a:solidFill>
                      <a:srgbClr val="F2F2F2"/>
                    </a:solidFill>
                  </a:tcPr>
                </a:tc>
                <a:tc>
                  <a:txBody>
                    <a:bodyPr/>
                    <a:lstStyle/>
                    <a:p>
                      <a:pPr algn="ctr">
                        <a:defRPr sz="1300">
                          <a:solidFill>
                            <a:srgbClr val="1A1A1A"/>
                          </a:solidFill>
                          <a:latin typeface="Calibri"/>
                        </a:defRPr>
                      </a:pPr>
                      <a:r>
                        <a:t>ReadText</a:t>
                      </a:r>
                    </a:p>
                  </a:txBody>
                  <a:tcPr anchor="ctr">
                    <a:solidFill>
                      <a:srgbClr val="F2F2F2"/>
                    </a:solidFill>
                  </a:tcPr>
                </a:tc>
                <a:tc>
                  <a:txBody>
                    <a:bodyPr/>
                    <a:lstStyle/>
                    <a:p>
                      <a:pPr algn="ctr">
                        <a:defRPr sz="1300">
                          <a:solidFill>
                            <a:srgbClr val="1A1A1A"/>
                          </a:solidFill>
                          <a:latin typeface="Calibri"/>
                        </a:defRPr>
                      </a:pPr>
                      <a:r>
                        <a:t>77.1 ± 13.1</a:t>
                      </a:r>
                    </a:p>
                  </a:txBody>
                  <a:tcPr anchor="ctr">
                    <a:solidFill>
                      <a:srgbClr val="F2F2F2"/>
                    </a:solidFill>
                  </a:tcPr>
                </a:tc>
                <a:tc>
                  <a:txBody>
                    <a:bodyPr/>
                    <a:lstStyle/>
                    <a:p>
                      <a:pPr algn="ctr">
                        <a:defRPr sz="1300">
                          <a:solidFill>
                            <a:srgbClr val="1A1A1A"/>
                          </a:solidFill>
                          <a:latin typeface="Calibri"/>
                        </a:defRPr>
                      </a:pPr>
                      <a:r>
                        <a:t>0.67 ± 0.18</a:t>
                      </a:r>
                    </a:p>
                  </a:txBody>
                  <a:tcPr anchor="ctr">
                    <a:solidFill>
                      <a:srgbClr val="F2F2F2"/>
                    </a:solidFill>
                  </a:tcPr>
                </a:tc>
                <a:tc>
                  <a:txBody>
                    <a:bodyPr/>
                    <a:lstStyle/>
                    <a:p>
                      <a:pPr algn="ctr">
                        <a:defRPr sz="1300">
                          <a:solidFill>
                            <a:srgbClr val="1A1A1A"/>
                          </a:solidFill>
                          <a:latin typeface="Calibri"/>
                        </a:defRPr>
                      </a:pPr>
                      <a:r>
                        <a:t>0.78 ± 0.25</a:t>
                      </a:r>
                    </a:p>
                  </a:txBody>
                  <a:tcPr anchor="ctr">
                    <a:solidFill>
                      <a:srgbClr val="F2F2F2"/>
                    </a:solidFill>
                  </a:tcPr>
                </a:tc>
                <a:tc>
                  <a:txBody>
                    <a:bodyPr/>
                    <a:lstStyle/>
                    <a:p>
                      <a:pPr algn="ctr">
                        <a:defRPr sz="1300">
                          <a:solidFill>
                            <a:srgbClr val="1A1A1A"/>
                          </a:solidFill>
                          <a:latin typeface="Calibri"/>
                        </a:defRPr>
                      </a:pPr>
                      <a:r>
                        <a:t>0.70 ± 0.18</a:t>
                      </a:r>
                    </a:p>
                  </a:txBody>
                  <a:tcPr anchor="ctr">
                    <a:solidFill>
                      <a:srgbClr val="F2F2F2"/>
                    </a:solidFill>
                  </a:tcPr>
                </a:tc>
                <a:tc>
                  <a:txBody>
                    <a:bodyPr/>
                    <a:lstStyle/>
                    <a:p>
                      <a:pPr algn="ctr">
                        <a:defRPr sz="1300">
                          <a:solidFill>
                            <a:srgbClr val="1A1A1A"/>
                          </a:solidFill>
                          <a:latin typeface="Calibri"/>
                        </a:defRPr>
                      </a:pPr>
                      <a:r>
                        <a:t>0.794 ± 0.186</a:t>
                      </a:r>
                    </a:p>
                  </a:txBody>
                  <a:tcPr anchor="ctr">
                    <a:solidFill>
                      <a:srgbClr val="F2F2F2"/>
                    </a:solidFill>
                  </a:tcPr>
                </a:tc>
              </a:tr>
              <a:tr h="393192">
                <a:tc>
                  <a:txBody>
                    <a:bodyPr/>
                    <a:lstStyle/>
                    <a:p>
                      <a:pPr algn="ctr">
                        <a:defRPr sz="1300">
                          <a:solidFill>
                            <a:srgbClr val="1A1A1A"/>
                          </a:solidFill>
                          <a:latin typeface="Calibri"/>
                        </a:defRPr>
                      </a:pPr>
                      <a:r>
                        <a:t>LR</a:t>
                      </a:r>
                    </a:p>
                  </a:txBody>
                  <a:tcPr anchor="ctr">
                    <a:solidFill>
                      <a:srgbClr val="FFFFFF"/>
                    </a:solidFill>
                  </a:tcPr>
                </a:tc>
                <a:tc>
                  <a:txBody>
                    <a:bodyPr/>
                    <a:lstStyle/>
                    <a:p>
                      <a:pPr algn="ctr">
                        <a:defRPr sz="1300">
                          <a:solidFill>
                            <a:srgbClr val="1A1A1A"/>
                          </a:solidFill>
                          <a:latin typeface="Calibri"/>
                        </a:defRPr>
                      </a:pPr>
                      <a:r>
                        <a:t>Spont.</a:t>
                      </a:r>
                    </a:p>
                  </a:txBody>
                  <a:tcPr anchor="ctr">
                    <a:solidFill>
                      <a:srgbClr val="FFFFFF"/>
                    </a:solidFill>
                  </a:tcPr>
                </a:tc>
                <a:tc>
                  <a:txBody>
                    <a:bodyPr/>
                    <a:lstStyle/>
                    <a:p>
                      <a:pPr algn="ctr">
                        <a:defRPr sz="1300">
                          <a:solidFill>
                            <a:srgbClr val="1A1A1A"/>
                          </a:solidFill>
                          <a:latin typeface="Calibri"/>
                        </a:defRPr>
                      </a:pPr>
                      <a:r>
                        <a:t>69.3 ± 13.9</a:t>
                      </a:r>
                    </a:p>
                  </a:txBody>
                  <a:tcPr anchor="ctr">
                    <a:solidFill>
                      <a:srgbClr val="FFFFFF"/>
                    </a:solidFill>
                  </a:tcPr>
                </a:tc>
                <a:tc>
                  <a:txBody>
                    <a:bodyPr/>
                    <a:lstStyle/>
                    <a:p>
                      <a:pPr algn="ctr">
                        <a:defRPr sz="1300">
                          <a:solidFill>
                            <a:srgbClr val="1A1A1A"/>
                          </a:solidFill>
                          <a:latin typeface="Calibri"/>
                        </a:defRPr>
                      </a:pPr>
                      <a:r>
                        <a:t>0.61 ± 0.21</a:t>
                      </a:r>
                    </a:p>
                  </a:txBody>
                  <a:tcPr anchor="ctr">
                    <a:solidFill>
                      <a:srgbClr val="FFFFFF"/>
                    </a:solidFill>
                  </a:tcPr>
                </a:tc>
                <a:tc>
                  <a:txBody>
                    <a:bodyPr/>
                    <a:lstStyle/>
                    <a:p>
                      <a:pPr algn="ctr">
                        <a:defRPr sz="1300">
                          <a:solidFill>
                            <a:srgbClr val="1A1A1A"/>
                          </a:solidFill>
                          <a:latin typeface="Calibri"/>
                        </a:defRPr>
                      </a:pPr>
                      <a:r>
                        <a:t>0.70 ± 0.33</a:t>
                      </a:r>
                    </a:p>
                  </a:txBody>
                  <a:tcPr anchor="ctr">
                    <a:solidFill>
                      <a:srgbClr val="FFFFFF"/>
                    </a:solidFill>
                  </a:tcPr>
                </a:tc>
                <a:tc>
                  <a:txBody>
                    <a:bodyPr/>
                    <a:lstStyle/>
                    <a:p>
                      <a:pPr algn="ctr">
                        <a:defRPr sz="1300">
                          <a:solidFill>
                            <a:srgbClr val="1A1A1A"/>
                          </a:solidFill>
                          <a:latin typeface="Calibri"/>
                        </a:defRPr>
                      </a:pPr>
                      <a:r>
                        <a:t>0.59 ± 0.22</a:t>
                      </a:r>
                    </a:p>
                  </a:txBody>
                  <a:tcPr anchor="ctr">
                    <a:solidFill>
                      <a:srgbClr val="FFFFFF"/>
                    </a:solidFill>
                  </a:tcPr>
                </a:tc>
                <a:tc>
                  <a:txBody>
                    <a:bodyPr/>
                    <a:lstStyle/>
                    <a:p>
                      <a:pPr algn="ctr">
                        <a:defRPr sz="1300">
                          <a:solidFill>
                            <a:srgbClr val="1A1A1A"/>
                          </a:solidFill>
                          <a:latin typeface="Calibri"/>
                        </a:defRPr>
                      </a:pPr>
                      <a:r>
                        <a:t>0.783 ± 0.139</a:t>
                      </a:r>
                    </a:p>
                  </a:txBody>
                  <a:tcPr anchor="ctr">
                    <a:solidFill>
                      <a:srgbClr val="FFFFFF"/>
                    </a:solidFill>
                  </a:tcPr>
                </a:tc>
              </a:tr>
              <a:tr h="393192">
                <a:tc>
                  <a:txBody>
                    <a:bodyPr/>
                    <a:lstStyle/>
                    <a:p>
                      <a:pPr algn="ctr">
                        <a:defRPr sz="1300">
                          <a:solidFill>
                            <a:srgbClr val="1A1A1A"/>
                          </a:solidFill>
                          <a:latin typeface="Calibri"/>
                        </a:defRPr>
                      </a:pPr>
                      <a:r>
                        <a:t>SVM</a:t>
                      </a:r>
                    </a:p>
                  </a:txBody>
                  <a:tcPr anchor="ctr">
                    <a:solidFill>
                      <a:srgbClr val="F2F2F2"/>
                    </a:solidFill>
                  </a:tcPr>
                </a:tc>
                <a:tc>
                  <a:txBody>
                    <a:bodyPr/>
                    <a:lstStyle/>
                    <a:p>
                      <a:pPr algn="ctr">
                        <a:defRPr sz="1300">
                          <a:solidFill>
                            <a:srgbClr val="1A1A1A"/>
                          </a:solidFill>
                          <a:latin typeface="Calibri"/>
                        </a:defRPr>
                      </a:pPr>
                      <a:r>
                        <a:t>Spont.</a:t>
                      </a:r>
                    </a:p>
                  </a:txBody>
                  <a:tcPr anchor="ctr">
                    <a:solidFill>
                      <a:srgbClr val="F2F2F2"/>
                    </a:solidFill>
                  </a:tcPr>
                </a:tc>
                <a:tc>
                  <a:txBody>
                    <a:bodyPr/>
                    <a:lstStyle/>
                    <a:p>
                      <a:pPr algn="ctr">
                        <a:defRPr sz="1300">
                          <a:solidFill>
                            <a:srgbClr val="1A1A1A"/>
                          </a:solidFill>
                          <a:latin typeface="Calibri"/>
                        </a:defRPr>
                      </a:pPr>
                      <a:r>
                        <a:t>55.0 ± 17.7</a:t>
                      </a:r>
                    </a:p>
                  </a:txBody>
                  <a:tcPr anchor="ctr">
                    <a:solidFill>
                      <a:srgbClr val="F2F2F2"/>
                    </a:solidFill>
                  </a:tcPr>
                </a:tc>
                <a:tc>
                  <a:txBody>
                    <a:bodyPr/>
                    <a:lstStyle/>
                    <a:p>
                      <a:pPr algn="ctr">
                        <a:defRPr sz="1300">
                          <a:solidFill>
                            <a:srgbClr val="1A1A1A"/>
                          </a:solidFill>
                          <a:latin typeface="Calibri"/>
                        </a:defRPr>
                      </a:pPr>
                      <a:r>
                        <a:t>0.40 ± 0.21</a:t>
                      </a:r>
                    </a:p>
                  </a:txBody>
                  <a:tcPr anchor="ctr">
                    <a:solidFill>
                      <a:srgbClr val="F2F2F2"/>
                    </a:solidFill>
                  </a:tcPr>
                </a:tc>
                <a:tc>
                  <a:txBody>
                    <a:bodyPr/>
                    <a:lstStyle/>
                    <a:p>
                      <a:pPr algn="ctr">
                        <a:defRPr sz="1300">
                          <a:solidFill>
                            <a:srgbClr val="1A1A1A"/>
                          </a:solidFill>
                          <a:latin typeface="Calibri"/>
                        </a:defRPr>
                      </a:pPr>
                      <a:r>
                        <a:t>0.47 ± 0.42</a:t>
                      </a:r>
                    </a:p>
                  </a:txBody>
                  <a:tcPr anchor="ctr">
                    <a:solidFill>
                      <a:srgbClr val="F2F2F2"/>
                    </a:solidFill>
                  </a:tcPr>
                </a:tc>
                <a:tc>
                  <a:txBody>
                    <a:bodyPr/>
                    <a:lstStyle/>
                    <a:p>
                      <a:pPr algn="ctr">
                        <a:defRPr sz="1300">
                          <a:solidFill>
                            <a:srgbClr val="1A1A1A"/>
                          </a:solidFill>
                          <a:latin typeface="Calibri"/>
                        </a:defRPr>
                      </a:pPr>
                      <a:r>
                        <a:t>0.38 ± 0.30</a:t>
                      </a:r>
                    </a:p>
                  </a:txBody>
                  <a:tcPr anchor="ctr">
                    <a:solidFill>
                      <a:srgbClr val="F2F2F2"/>
                    </a:solidFill>
                  </a:tcPr>
                </a:tc>
                <a:tc>
                  <a:txBody>
                    <a:bodyPr/>
                    <a:lstStyle/>
                    <a:p>
                      <a:pPr algn="ctr">
                        <a:defRPr sz="1300">
                          <a:solidFill>
                            <a:srgbClr val="1A1A1A"/>
                          </a:solidFill>
                          <a:latin typeface="Calibri"/>
                        </a:defRPr>
                      </a:pPr>
                      <a:r>
                        <a:t>0.403 ± 0.347</a:t>
                      </a:r>
                    </a:p>
                  </a:txBody>
                  <a:tcPr anchor="ctr">
                    <a:solidFill>
                      <a:srgbClr val="F2F2F2"/>
                    </a:solidFill>
                  </a:tcPr>
                </a:tc>
              </a:tr>
              <a:tr h="393192">
                <a:tc>
                  <a:txBody>
                    <a:bodyPr/>
                    <a:lstStyle/>
                    <a:p>
                      <a:pPr algn="ctr">
                        <a:defRPr sz="1300">
                          <a:solidFill>
                            <a:srgbClr val="1A1A1A"/>
                          </a:solidFill>
                          <a:latin typeface="Calibri"/>
                        </a:defRPr>
                      </a:pPr>
                      <a:r>
                        <a:t>RF</a:t>
                      </a:r>
                    </a:p>
                  </a:txBody>
                  <a:tcPr anchor="ctr">
                    <a:solidFill>
                      <a:srgbClr val="FFFFFF"/>
                    </a:solidFill>
                  </a:tcPr>
                </a:tc>
                <a:tc>
                  <a:txBody>
                    <a:bodyPr/>
                    <a:lstStyle/>
                    <a:p>
                      <a:pPr algn="ctr">
                        <a:defRPr sz="1300">
                          <a:solidFill>
                            <a:srgbClr val="1A1A1A"/>
                          </a:solidFill>
                          <a:latin typeface="Calibri"/>
                        </a:defRPr>
                      </a:pPr>
                      <a:r>
                        <a:t>Spont.</a:t>
                      </a:r>
                    </a:p>
                  </a:txBody>
                  <a:tcPr anchor="ctr">
                    <a:solidFill>
                      <a:srgbClr val="FFFFFF"/>
                    </a:solidFill>
                  </a:tcPr>
                </a:tc>
                <a:tc>
                  <a:txBody>
                    <a:bodyPr/>
                    <a:lstStyle/>
                    <a:p>
                      <a:pPr algn="ctr">
                        <a:defRPr sz="1300">
                          <a:solidFill>
                            <a:srgbClr val="1A1A1A"/>
                          </a:solidFill>
                          <a:latin typeface="Calibri"/>
                        </a:defRPr>
                      </a:pPr>
                      <a:r>
                        <a:t>72.1 ± 20.3</a:t>
                      </a:r>
                    </a:p>
                  </a:txBody>
                  <a:tcPr anchor="ctr">
                    <a:solidFill>
                      <a:srgbClr val="FFFFFF"/>
                    </a:solidFill>
                  </a:tcPr>
                </a:tc>
                <a:tc>
                  <a:txBody>
                    <a:bodyPr/>
                    <a:lstStyle/>
                    <a:p>
                      <a:pPr algn="ctr">
                        <a:defRPr sz="1300">
                          <a:solidFill>
                            <a:srgbClr val="1A1A1A"/>
                          </a:solidFill>
                          <a:latin typeface="Calibri"/>
                        </a:defRPr>
                      </a:pPr>
                      <a:r>
                        <a:t>0.63 ± 0.28</a:t>
                      </a:r>
                    </a:p>
                  </a:txBody>
                  <a:tcPr anchor="ctr">
                    <a:solidFill>
                      <a:srgbClr val="FFFFFF"/>
                    </a:solidFill>
                  </a:tcPr>
                </a:tc>
                <a:tc>
                  <a:txBody>
                    <a:bodyPr/>
                    <a:lstStyle/>
                    <a:p>
                      <a:pPr algn="ctr">
                        <a:defRPr sz="1300">
                          <a:solidFill>
                            <a:srgbClr val="1A1A1A"/>
                          </a:solidFill>
                          <a:latin typeface="Calibri"/>
                        </a:defRPr>
                      </a:pPr>
                      <a:r>
                        <a:t>0.60 ± 0.42</a:t>
                      </a:r>
                    </a:p>
                  </a:txBody>
                  <a:tcPr anchor="ctr">
                    <a:solidFill>
                      <a:srgbClr val="FFFFFF"/>
                    </a:solidFill>
                  </a:tcPr>
                </a:tc>
                <a:tc>
                  <a:txBody>
                    <a:bodyPr/>
                    <a:lstStyle/>
                    <a:p>
                      <a:pPr algn="ctr">
                        <a:defRPr sz="1300">
                          <a:solidFill>
                            <a:srgbClr val="1A1A1A"/>
                          </a:solidFill>
                          <a:latin typeface="Calibri"/>
                        </a:defRPr>
                      </a:pPr>
                      <a:r>
                        <a:t>0.55 ± 0.32</a:t>
                      </a:r>
                    </a:p>
                  </a:txBody>
                  <a:tcPr anchor="ctr">
                    <a:solidFill>
                      <a:srgbClr val="FFFFFF"/>
                    </a:solidFill>
                  </a:tcPr>
                </a:tc>
                <a:tc>
                  <a:txBody>
                    <a:bodyPr/>
                    <a:lstStyle/>
                    <a:p>
                      <a:pPr algn="ctr">
                        <a:defRPr sz="1300">
                          <a:solidFill>
                            <a:srgbClr val="1A1A1A"/>
                          </a:solidFill>
                          <a:latin typeface="Calibri"/>
                        </a:defRPr>
                      </a:pPr>
                      <a:r>
                        <a:t>0.823 ± 0.209</a:t>
                      </a:r>
                    </a:p>
                  </a:txBody>
                  <a:tcPr anchor="ctr">
                    <a:solidFill>
                      <a:srgbClr val="FFFFFF"/>
                    </a:solidFill>
                  </a:tcPr>
                </a:tc>
              </a:tr>
              <a:tr h="393192">
                <a:tc>
                  <a:txBody>
                    <a:bodyPr/>
                    <a:lstStyle/>
                    <a:p>
                      <a:pPr algn="ctr">
                        <a:defRPr sz="1300">
                          <a:solidFill>
                            <a:srgbClr val="1A1A1A"/>
                          </a:solidFill>
                          <a:latin typeface="Calibri"/>
                        </a:defRPr>
                      </a:pPr>
                      <a:r>
                        <a:t>GB</a:t>
                      </a:r>
                    </a:p>
                  </a:txBody>
                  <a:tcPr anchor="ctr">
                    <a:solidFill>
                      <a:srgbClr val="F2F2F2"/>
                    </a:solidFill>
                  </a:tcPr>
                </a:tc>
                <a:tc>
                  <a:txBody>
                    <a:bodyPr/>
                    <a:lstStyle/>
                    <a:p>
                      <a:pPr algn="ctr">
                        <a:defRPr sz="1300">
                          <a:solidFill>
                            <a:srgbClr val="1A1A1A"/>
                          </a:solidFill>
                          <a:latin typeface="Calibri"/>
                        </a:defRPr>
                      </a:pPr>
                      <a:r>
                        <a:t>Spont.</a:t>
                      </a:r>
                    </a:p>
                  </a:txBody>
                  <a:tcPr anchor="ctr">
                    <a:solidFill>
                      <a:srgbClr val="F2F2F2"/>
                    </a:solidFill>
                  </a:tcPr>
                </a:tc>
                <a:tc>
                  <a:txBody>
                    <a:bodyPr/>
                    <a:lstStyle/>
                    <a:p>
                      <a:pPr algn="ctr">
                        <a:defRPr sz="1300">
                          <a:solidFill>
                            <a:srgbClr val="1A1A1A"/>
                          </a:solidFill>
                          <a:latin typeface="Calibri"/>
                        </a:defRPr>
                      </a:pPr>
                      <a:r>
                        <a:t>63.6 ± 10.1</a:t>
                      </a:r>
                    </a:p>
                  </a:txBody>
                  <a:tcPr anchor="ctr">
                    <a:solidFill>
                      <a:srgbClr val="F2F2F2"/>
                    </a:solidFill>
                  </a:tcPr>
                </a:tc>
                <a:tc>
                  <a:txBody>
                    <a:bodyPr/>
                    <a:lstStyle/>
                    <a:p>
                      <a:pPr algn="ctr">
                        <a:defRPr sz="1300">
                          <a:solidFill>
                            <a:srgbClr val="1A1A1A"/>
                          </a:solidFill>
                          <a:latin typeface="Calibri"/>
                        </a:defRPr>
                      </a:pPr>
                      <a:r>
                        <a:t>0.50 ± 0.11</a:t>
                      </a:r>
                    </a:p>
                  </a:txBody>
                  <a:tcPr anchor="ctr">
                    <a:solidFill>
                      <a:srgbClr val="F2F2F2"/>
                    </a:solidFill>
                  </a:tcPr>
                </a:tc>
                <a:tc>
                  <a:txBody>
                    <a:bodyPr/>
                    <a:lstStyle/>
                    <a:p>
                      <a:pPr algn="ctr">
                        <a:defRPr sz="1300">
                          <a:solidFill>
                            <a:srgbClr val="1A1A1A"/>
                          </a:solidFill>
                          <a:latin typeface="Calibri"/>
                        </a:defRPr>
                      </a:pPr>
                      <a:r>
                        <a:t>0.60 ± 0.22</a:t>
                      </a:r>
                    </a:p>
                  </a:txBody>
                  <a:tcPr anchor="ctr">
                    <a:solidFill>
                      <a:srgbClr val="F2F2F2"/>
                    </a:solidFill>
                  </a:tcPr>
                </a:tc>
                <a:tc>
                  <a:txBody>
                    <a:bodyPr/>
                    <a:lstStyle/>
                    <a:p>
                      <a:pPr algn="ctr">
                        <a:defRPr sz="1300">
                          <a:solidFill>
                            <a:srgbClr val="1A1A1A"/>
                          </a:solidFill>
                          <a:latin typeface="Calibri"/>
                        </a:defRPr>
                      </a:pPr>
                      <a:r>
                        <a:t>0.53 ± 0.15</a:t>
                      </a:r>
                    </a:p>
                  </a:txBody>
                  <a:tcPr anchor="ctr">
                    <a:solidFill>
                      <a:srgbClr val="F2F2F2"/>
                    </a:solidFill>
                  </a:tcPr>
                </a:tc>
                <a:tc>
                  <a:txBody>
                    <a:bodyPr/>
                    <a:lstStyle/>
                    <a:p>
                      <a:pPr algn="ctr">
                        <a:defRPr sz="1300">
                          <a:solidFill>
                            <a:srgbClr val="1A1A1A"/>
                          </a:solidFill>
                          <a:latin typeface="Calibri"/>
                        </a:defRPr>
                      </a:pPr>
                      <a:r>
                        <a:t>0.638 ± 0.146</a:t>
                      </a:r>
                    </a:p>
                  </a:txBody>
                  <a:tcPr anchor="ctr">
                    <a:solidFill>
                      <a:srgbClr val="F2F2F2"/>
                    </a:solidFill>
                  </a:tcPr>
                </a:tc>
              </a:tr>
              <a:tr h="393192">
                <a:tc>
                  <a:txBody>
                    <a:bodyPr/>
                    <a:lstStyle/>
                    <a:p>
                      <a:pPr algn="ctr">
                        <a:defRPr sz="1300">
                          <a:solidFill>
                            <a:srgbClr val="1A1A1A"/>
                          </a:solidFill>
                          <a:latin typeface="Calibri"/>
                        </a:defRPr>
                      </a:pPr>
                      <a:r>
                        <a:t>XGB</a:t>
                      </a:r>
                    </a:p>
                  </a:txBody>
                  <a:tcPr anchor="ctr">
                    <a:solidFill>
                      <a:srgbClr val="FFFFFF"/>
                    </a:solidFill>
                  </a:tcPr>
                </a:tc>
                <a:tc>
                  <a:txBody>
                    <a:bodyPr/>
                    <a:lstStyle/>
                    <a:p>
                      <a:pPr algn="ctr">
                        <a:defRPr sz="1300">
                          <a:solidFill>
                            <a:srgbClr val="1A1A1A"/>
                          </a:solidFill>
                          <a:latin typeface="Calibri"/>
                        </a:defRPr>
                      </a:pPr>
                      <a:r>
                        <a:t>Spont.</a:t>
                      </a:r>
                    </a:p>
                  </a:txBody>
                  <a:tcPr anchor="ctr">
                    <a:solidFill>
                      <a:srgbClr val="FFFFFF"/>
                    </a:solidFill>
                  </a:tcPr>
                </a:tc>
                <a:tc>
                  <a:txBody>
                    <a:bodyPr/>
                    <a:lstStyle/>
                    <a:p>
                      <a:pPr algn="ctr">
                        <a:defRPr sz="1300">
                          <a:solidFill>
                            <a:srgbClr val="1A1A1A"/>
                          </a:solidFill>
                          <a:latin typeface="Calibri"/>
                        </a:defRPr>
                      </a:pPr>
                      <a:r>
                        <a:t>61.4 ± 13.3</a:t>
                      </a:r>
                    </a:p>
                  </a:txBody>
                  <a:tcPr anchor="ctr">
                    <a:solidFill>
                      <a:srgbClr val="FFFFFF"/>
                    </a:solidFill>
                  </a:tcPr>
                </a:tc>
                <a:tc>
                  <a:txBody>
                    <a:bodyPr/>
                    <a:lstStyle/>
                    <a:p>
                      <a:pPr algn="ctr">
                        <a:defRPr sz="1300">
                          <a:solidFill>
                            <a:srgbClr val="1A1A1A"/>
                          </a:solidFill>
                          <a:latin typeface="Calibri"/>
                        </a:defRPr>
                      </a:pPr>
                      <a:r>
                        <a:t>0.45 ± 0.15</a:t>
                      </a:r>
                    </a:p>
                  </a:txBody>
                  <a:tcPr anchor="ctr">
                    <a:solidFill>
                      <a:srgbClr val="FFFFFF"/>
                    </a:solidFill>
                  </a:tcPr>
                </a:tc>
                <a:tc>
                  <a:txBody>
                    <a:bodyPr/>
                    <a:lstStyle/>
                    <a:p>
                      <a:pPr algn="ctr">
                        <a:defRPr sz="1300">
                          <a:solidFill>
                            <a:srgbClr val="1A1A1A"/>
                          </a:solidFill>
                          <a:latin typeface="Calibri"/>
                        </a:defRPr>
                      </a:pPr>
                      <a:r>
                        <a:t>0.47 ± 0.25</a:t>
                      </a:r>
                    </a:p>
                  </a:txBody>
                  <a:tcPr anchor="ctr">
                    <a:solidFill>
                      <a:srgbClr val="FFFFFF"/>
                    </a:solidFill>
                  </a:tcPr>
                </a:tc>
                <a:tc>
                  <a:txBody>
                    <a:bodyPr/>
                    <a:lstStyle/>
                    <a:p>
                      <a:pPr algn="ctr">
                        <a:defRPr sz="1300">
                          <a:solidFill>
                            <a:srgbClr val="1A1A1A"/>
                          </a:solidFill>
                          <a:latin typeface="Calibri"/>
                        </a:defRPr>
                      </a:pPr>
                      <a:r>
                        <a:t>0.43 ± 0.17</a:t>
                      </a:r>
                    </a:p>
                  </a:txBody>
                  <a:tcPr anchor="ctr">
                    <a:solidFill>
                      <a:srgbClr val="FFFFFF"/>
                    </a:solidFill>
                  </a:tcPr>
                </a:tc>
                <a:tc>
                  <a:txBody>
                    <a:bodyPr/>
                    <a:lstStyle/>
                    <a:p>
                      <a:pPr algn="ctr">
                        <a:defRPr sz="1300">
                          <a:solidFill>
                            <a:srgbClr val="1A1A1A"/>
                          </a:solidFill>
                          <a:latin typeface="Calibri"/>
                        </a:defRPr>
                      </a:pPr>
                      <a:r>
                        <a:t>0.687 ± 0.146</a:t>
                      </a:r>
                    </a:p>
                  </a:txBody>
                  <a:tcPr anchor="ctr">
                    <a:solidFill>
                      <a:srgbClr val="FFFFFF"/>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6.7: Full C4 results — Dataset A | tab:results-c4-dataset-a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Full Results — C4: Extended + Weighted (Dataset B)</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19" cy="2359152"/>
        </p:xfrm>
        <a:graphic>
          <a:graphicData uri="http://schemas.openxmlformats.org/drawingml/2006/table">
            <a:tbl>
              <a:tblPr firstRow="1" bandRow="1">
                <a:tableStyleId>{5C22544A-7EE6-4342-B048-85BDC9FD1C3A}</a:tableStyleId>
              </a:tblPr>
              <a:tblGrid>
                <a:gridCol w="2367814"/>
                <a:gridCol w="1775861"/>
                <a:gridCol w="1775861"/>
                <a:gridCol w="1775861"/>
                <a:gridCol w="1775861"/>
                <a:gridCol w="1775861"/>
              </a:tblGrid>
              <a:tr h="393192">
                <a:tc>
                  <a:txBody>
                    <a:bodyPr/>
                    <a:lstStyle/>
                    <a:p>
                      <a:pPr algn="ctr">
                        <a:defRPr sz="1400" b="1">
                          <a:solidFill>
                            <a:srgbClr val="FFFFFF"/>
                          </a:solidFill>
                          <a:latin typeface="Calibri"/>
                        </a:defRPr>
                      </a:pPr>
                      <a:r>
                        <a:t>Model</a:t>
                      </a:r>
                    </a:p>
                  </a:txBody>
                  <a:tcPr anchor="ctr">
                    <a:solidFill>
                      <a:srgbClr val="0056A0"/>
                    </a:solidFill>
                  </a:tcPr>
                </a:tc>
                <a:tc>
                  <a:txBody>
                    <a:bodyPr/>
                    <a:lstStyle/>
                    <a:p>
                      <a:pPr algn="ctr">
                        <a:defRPr sz="1400" b="1">
                          <a:solidFill>
                            <a:srgbClr val="FFFFFF"/>
                          </a:solidFill>
                          <a:latin typeface="Calibri"/>
                        </a:defRPr>
                      </a:pPr>
                      <a:r>
                        <a:t>Accuracy</a:t>
                      </a:r>
                    </a:p>
                  </a:txBody>
                  <a:tcPr anchor="ctr">
                    <a:solidFill>
                      <a:srgbClr val="0056A0"/>
                    </a:solidFill>
                  </a:tcPr>
                </a:tc>
                <a:tc>
                  <a:txBody>
                    <a:bodyPr/>
                    <a:lstStyle/>
                    <a:p>
                      <a:pPr algn="ctr">
                        <a:defRPr sz="1400" b="1">
                          <a:solidFill>
                            <a:srgbClr val="FFFFFF"/>
                          </a:solidFill>
                          <a:latin typeface="Calibri"/>
                        </a:defRPr>
                      </a:pPr>
                      <a:r>
                        <a:t>Precision</a:t>
                      </a:r>
                    </a:p>
                  </a:txBody>
                  <a:tcPr anchor="ctr">
                    <a:solidFill>
                      <a:srgbClr val="0056A0"/>
                    </a:solidFill>
                  </a:tcPr>
                </a:tc>
                <a:tc>
                  <a:txBody>
                    <a:bodyPr/>
                    <a:lstStyle/>
                    <a:p>
                      <a:pPr algn="ctr">
                        <a:defRPr sz="1400" b="1">
                          <a:solidFill>
                            <a:srgbClr val="FFFFFF"/>
                          </a:solidFill>
                          <a:latin typeface="Calibri"/>
                        </a:defRPr>
                      </a:pPr>
                      <a:r>
                        <a:t>Recall</a:t>
                      </a:r>
                    </a:p>
                  </a:txBody>
                  <a:tcPr anchor="ctr">
                    <a:solidFill>
                      <a:srgbClr val="0056A0"/>
                    </a:solidFill>
                  </a:tcPr>
                </a:tc>
                <a:tc>
                  <a:txBody>
                    <a:bodyPr/>
                    <a:lstStyle/>
                    <a:p>
                      <a:pPr algn="ctr">
                        <a:defRPr sz="1400" b="1">
                          <a:solidFill>
                            <a:srgbClr val="FFFFFF"/>
                          </a:solidFill>
                          <a:latin typeface="Calibri"/>
                        </a:defRPr>
                      </a:pPr>
                      <a:r>
                        <a:t>F1</a:t>
                      </a:r>
                    </a:p>
                  </a:txBody>
                  <a:tcPr anchor="ctr">
                    <a:solidFill>
                      <a:srgbClr val="0056A0"/>
                    </a:solidFill>
                  </a:tcPr>
                </a:tc>
                <a:tc>
                  <a:txBody>
                    <a:bodyPr/>
                    <a:lstStyle/>
                    <a:p>
                      <a:pPr algn="ctr">
                        <a:defRPr sz="1400" b="1">
                          <a:solidFill>
                            <a:srgbClr val="FFFFFF"/>
                          </a:solidFill>
                          <a:latin typeface="Calibri"/>
                        </a:defRPr>
                      </a:pPr>
                      <a:r>
                        <a:t>ROC-AUC</a:t>
                      </a:r>
                    </a:p>
                  </a:txBody>
                  <a:tcPr anchor="ctr">
                    <a:solidFill>
                      <a:srgbClr val="0056A0"/>
                    </a:solidFill>
                  </a:tcPr>
                </a:tc>
              </a:tr>
              <a:tr h="393192">
                <a:tc>
                  <a:txBody>
                    <a:bodyPr/>
                    <a:lstStyle/>
                    <a:p>
                      <a:pPr algn="ctr">
                        <a:defRPr sz="1300">
                          <a:solidFill>
                            <a:srgbClr val="1A1A1A"/>
                          </a:solidFill>
                          <a:latin typeface="Calibri"/>
                        </a:defRPr>
                      </a:pPr>
                      <a:r>
                        <a:t>Logistic Regression</a:t>
                      </a:r>
                    </a:p>
                  </a:txBody>
                  <a:tcPr anchor="ctr">
                    <a:solidFill>
                      <a:srgbClr val="F2F2F2"/>
                    </a:solidFill>
                  </a:tcPr>
                </a:tc>
                <a:tc>
                  <a:txBody>
                    <a:bodyPr/>
                    <a:lstStyle/>
                    <a:p>
                      <a:pPr algn="ctr">
                        <a:defRPr sz="1300">
                          <a:solidFill>
                            <a:srgbClr val="1A1A1A"/>
                          </a:solidFill>
                          <a:latin typeface="Calibri"/>
                        </a:defRPr>
                      </a:pPr>
                      <a:r>
                        <a:t>0.805 ± 0.024</a:t>
                      </a:r>
                    </a:p>
                  </a:txBody>
                  <a:tcPr anchor="ctr">
                    <a:solidFill>
                      <a:srgbClr val="F2F2F2"/>
                    </a:solidFill>
                  </a:tcPr>
                </a:tc>
                <a:tc>
                  <a:txBody>
                    <a:bodyPr/>
                    <a:lstStyle/>
                    <a:p>
                      <a:pPr algn="ctr">
                        <a:defRPr sz="1300">
                          <a:solidFill>
                            <a:srgbClr val="1A1A1A"/>
                          </a:solidFill>
                          <a:latin typeface="Calibri"/>
                        </a:defRPr>
                      </a:pPr>
                      <a:r>
                        <a:t>0.862 ± 0.023</a:t>
                      </a:r>
                    </a:p>
                  </a:txBody>
                  <a:tcPr anchor="ctr">
                    <a:solidFill>
                      <a:srgbClr val="F2F2F2"/>
                    </a:solidFill>
                  </a:tcPr>
                </a:tc>
                <a:tc>
                  <a:txBody>
                    <a:bodyPr/>
                    <a:lstStyle/>
                    <a:p>
                      <a:pPr algn="ctr">
                        <a:defRPr sz="1300">
                          <a:solidFill>
                            <a:srgbClr val="1A1A1A"/>
                          </a:solidFill>
                          <a:latin typeface="Calibri"/>
                        </a:defRPr>
                      </a:pPr>
                      <a:r>
                        <a:t>0.875 ± 0.023</a:t>
                      </a:r>
                    </a:p>
                  </a:txBody>
                  <a:tcPr anchor="ctr">
                    <a:solidFill>
                      <a:srgbClr val="F2F2F2"/>
                    </a:solidFill>
                  </a:tcPr>
                </a:tc>
                <a:tc>
                  <a:txBody>
                    <a:bodyPr/>
                    <a:lstStyle/>
                    <a:p>
                      <a:pPr algn="ctr">
                        <a:defRPr sz="1300">
                          <a:solidFill>
                            <a:srgbClr val="1A1A1A"/>
                          </a:solidFill>
                          <a:latin typeface="Calibri"/>
                        </a:defRPr>
                      </a:pPr>
                      <a:r>
                        <a:t>0.868 ± 0.015</a:t>
                      </a:r>
                    </a:p>
                  </a:txBody>
                  <a:tcPr anchor="ctr">
                    <a:solidFill>
                      <a:srgbClr val="F2F2F2"/>
                    </a:solidFill>
                  </a:tcPr>
                </a:tc>
                <a:tc>
                  <a:txBody>
                    <a:bodyPr/>
                    <a:lstStyle/>
                    <a:p>
                      <a:pPr algn="ctr">
                        <a:defRPr sz="1300">
                          <a:solidFill>
                            <a:srgbClr val="1A1A1A"/>
                          </a:solidFill>
                          <a:latin typeface="Calibri"/>
                        </a:defRPr>
                      </a:pPr>
                      <a:r>
                        <a:t>0.867 ± 0.029</a:t>
                      </a:r>
                    </a:p>
                  </a:txBody>
                  <a:tcPr anchor="ctr">
                    <a:solidFill>
                      <a:srgbClr val="F2F2F2"/>
                    </a:solidFill>
                  </a:tcPr>
                </a:tc>
              </a:tr>
              <a:tr h="393192">
                <a:tc>
                  <a:txBody>
                    <a:bodyPr/>
                    <a:lstStyle/>
                    <a:p>
                      <a:pPr algn="ctr">
                        <a:defRPr sz="1300">
                          <a:solidFill>
                            <a:srgbClr val="1A1A1A"/>
                          </a:solidFill>
                          <a:latin typeface="Calibri"/>
                        </a:defRPr>
                      </a:pPr>
                      <a:r>
                        <a:t>SVM (RBF)</a:t>
                      </a:r>
                    </a:p>
                  </a:txBody>
                  <a:tcPr anchor="ctr">
                    <a:solidFill>
                      <a:srgbClr val="FFFFFF"/>
                    </a:solidFill>
                  </a:tcPr>
                </a:tc>
                <a:tc>
                  <a:txBody>
                    <a:bodyPr/>
                    <a:lstStyle/>
                    <a:p>
                      <a:pPr algn="ctr">
                        <a:defRPr sz="1300">
                          <a:solidFill>
                            <a:srgbClr val="1A1A1A"/>
                          </a:solidFill>
                          <a:latin typeface="Calibri"/>
                        </a:defRPr>
                      </a:pPr>
                      <a:r>
                        <a:t>0.839 ± 0.018</a:t>
                      </a:r>
                    </a:p>
                  </a:txBody>
                  <a:tcPr anchor="ctr">
                    <a:solidFill>
                      <a:srgbClr val="FFFFFF"/>
                    </a:solidFill>
                  </a:tcPr>
                </a:tc>
                <a:tc>
                  <a:txBody>
                    <a:bodyPr/>
                    <a:lstStyle/>
                    <a:p>
                      <a:pPr algn="ctr">
                        <a:defRPr sz="1300">
                          <a:solidFill>
                            <a:srgbClr val="1A1A1A"/>
                          </a:solidFill>
                          <a:latin typeface="Calibri"/>
                        </a:defRPr>
                      </a:pPr>
                      <a:r>
                        <a:t>0.891 ± 0.014</a:t>
                      </a:r>
                    </a:p>
                  </a:txBody>
                  <a:tcPr anchor="ctr">
                    <a:solidFill>
                      <a:srgbClr val="FFFFFF"/>
                    </a:solidFill>
                  </a:tcPr>
                </a:tc>
                <a:tc>
                  <a:txBody>
                    <a:bodyPr/>
                    <a:lstStyle/>
                    <a:p>
                      <a:pPr algn="ctr">
                        <a:defRPr sz="1300">
                          <a:solidFill>
                            <a:srgbClr val="1A1A1A"/>
                          </a:solidFill>
                          <a:latin typeface="Calibri"/>
                        </a:defRPr>
                      </a:pPr>
                      <a:r>
                        <a:t>0.889 ± 0.020</a:t>
                      </a:r>
                    </a:p>
                  </a:txBody>
                  <a:tcPr anchor="ctr">
                    <a:solidFill>
                      <a:srgbClr val="FFFFFF"/>
                    </a:solidFill>
                  </a:tcPr>
                </a:tc>
                <a:tc>
                  <a:txBody>
                    <a:bodyPr/>
                    <a:lstStyle/>
                    <a:p>
                      <a:pPr algn="ctr">
                        <a:defRPr sz="1300">
                          <a:solidFill>
                            <a:srgbClr val="1A1A1A"/>
                          </a:solidFill>
                          <a:latin typeface="Calibri"/>
                        </a:defRPr>
                      </a:pPr>
                      <a:r>
                        <a:t>0.890 ± 0.013</a:t>
                      </a:r>
                    </a:p>
                  </a:txBody>
                  <a:tcPr anchor="ctr">
                    <a:solidFill>
                      <a:srgbClr val="FFFFFF"/>
                    </a:solidFill>
                  </a:tcPr>
                </a:tc>
                <a:tc>
                  <a:txBody>
                    <a:bodyPr/>
                    <a:lstStyle/>
                    <a:p>
                      <a:pPr algn="ctr">
                        <a:defRPr sz="1300">
                          <a:solidFill>
                            <a:srgbClr val="1A1A1A"/>
                          </a:solidFill>
                          <a:latin typeface="Calibri"/>
                        </a:defRPr>
                      </a:pPr>
                      <a:r>
                        <a:t>0.900 ± 0.023</a:t>
                      </a:r>
                    </a:p>
                  </a:txBody>
                  <a:tcPr anchor="ctr">
                    <a:solidFill>
                      <a:srgbClr val="FFFFFF"/>
                    </a:solidFill>
                  </a:tcPr>
                </a:tc>
              </a:tr>
              <a:tr h="393192">
                <a:tc>
                  <a:txBody>
                    <a:bodyPr/>
                    <a:lstStyle/>
                    <a:p>
                      <a:pPr algn="ctr">
                        <a:defRPr sz="1300">
                          <a:solidFill>
                            <a:srgbClr val="1A1A1A"/>
                          </a:solidFill>
                          <a:latin typeface="Calibri"/>
                        </a:defRPr>
                      </a:pPr>
                      <a:r>
                        <a:t>Random Forest</a:t>
                      </a:r>
                    </a:p>
                  </a:txBody>
                  <a:tcPr anchor="ctr">
                    <a:solidFill>
                      <a:srgbClr val="F2F2F2"/>
                    </a:solidFill>
                  </a:tcPr>
                </a:tc>
                <a:tc>
                  <a:txBody>
                    <a:bodyPr/>
                    <a:lstStyle/>
                    <a:p>
                      <a:pPr algn="ctr">
                        <a:defRPr sz="1300">
                          <a:solidFill>
                            <a:srgbClr val="1A1A1A"/>
                          </a:solidFill>
                          <a:latin typeface="Calibri"/>
                        </a:defRPr>
                      </a:pPr>
                      <a:r>
                        <a:t>0.897 ± 0.016</a:t>
                      </a:r>
                    </a:p>
                  </a:txBody>
                  <a:tcPr anchor="ctr">
                    <a:solidFill>
                      <a:srgbClr val="F2F2F2"/>
                    </a:solidFill>
                  </a:tcPr>
                </a:tc>
                <a:tc>
                  <a:txBody>
                    <a:bodyPr/>
                    <a:lstStyle/>
                    <a:p>
                      <a:pPr algn="ctr">
                        <a:defRPr sz="1300">
                          <a:solidFill>
                            <a:srgbClr val="1A1A1A"/>
                          </a:solidFill>
                          <a:latin typeface="Calibri"/>
                        </a:defRPr>
                      </a:pPr>
                      <a:r>
                        <a:t>0.933 ± 0.011</a:t>
                      </a:r>
                    </a:p>
                  </a:txBody>
                  <a:tcPr anchor="ctr">
                    <a:solidFill>
                      <a:srgbClr val="F2F2F2"/>
                    </a:solidFill>
                  </a:tcPr>
                </a:tc>
                <a:tc>
                  <a:txBody>
                    <a:bodyPr/>
                    <a:lstStyle/>
                    <a:p>
                      <a:pPr algn="ctr">
                        <a:defRPr sz="1300">
                          <a:solidFill>
                            <a:srgbClr val="1A1A1A"/>
                          </a:solidFill>
                          <a:latin typeface="Calibri"/>
                        </a:defRPr>
                      </a:pPr>
                      <a:r>
                        <a:t>0.921 ± 0.017</a:t>
                      </a:r>
                    </a:p>
                  </a:txBody>
                  <a:tcPr anchor="ctr">
                    <a:solidFill>
                      <a:srgbClr val="F2F2F2"/>
                    </a:solidFill>
                  </a:tcPr>
                </a:tc>
                <a:tc>
                  <a:txBody>
                    <a:bodyPr/>
                    <a:lstStyle/>
                    <a:p>
                      <a:pPr algn="ctr">
                        <a:defRPr sz="1300">
                          <a:solidFill>
                            <a:srgbClr val="1A1A1A"/>
                          </a:solidFill>
                          <a:latin typeface="Calibri"/>
                        </a:defRPr>
                      </a:pPr>
                      <a:r>
                        <a:t>0.927 ± 0.012</a:t>
                      </a:r>
                    </a:p>
                  </a:txBody>
                  <a:tcPr anchor="ctr">
                    <a:solidFill>
                      <a:srgbClr val="F2F2F2"/>
                    </a:solidFill>
                  </a:tcPr>
                </a:tc>
                <a:tc>
                  <a:txBody>
                    <a:bodyPr/>
                    <a:lstStyle/>
                    <a:p>
                      <a:pPr algn="ctr">
                        <a:defRPr sz="1300">
                          <a:solidFill>
                            <a:srgbClr val="1A1A1A"/>
                          </a:solidFill>
                          <a:latin typeface="Calibri"/>
                        </a:defRPr>
                      </a:pPr>
                      <a:r>
                        <a:t>0.949 ± 0.012</a:t>
                      </a:r>
                    </a:p>
                  </a:txBody>
                  <a:tcPr anchor="ctr">
                    <a:solidFill>
                      <a:srgbClr val="F2F2F2"/>
                    </a:solidFill>
                  </a:tcPr>
                </a:tc>
              </a:tr>
              <a:tr h="393192">
                <a:tc>
                  <a:txBody>
                    <a:bodyPr/>
                    <a:lstStyle/>
                    <a:p>
                      <a:pPr algn="ctr">
                        <a:defRPr sz="1300">
                          <a:solidFill>
                            <a:srgbClr val="1A1A1A"/>
                          </a:solidFill>
                          <a:latin typeface="Calibri"/>
                        </a:defRPr>
                      </a:pPr>
                      <a:r>
                        <a:t>Gradient Boosting</a:t>
                      </a:r>
                    </a:p>
                  </a:txBody>
                  <a:tcPr anchor="ctr">
                    <a:solidFill>
                      <a:srgbClr val="FFFFFF"/>
                    </a:solidFill>
                  </a:tcPr>
                </a:tc>
                <a:tc>
                  <a:txBody>
                    <a:bodyPr/>
                    <a:lstStyle/>
                    <a:p>
                      <a:pPr algn="ctr">
                        <a:defRPr sz="1300">
                          <a:solidFill>
                            <a:srgbClr val="1A1A1A"/>
                          </a:solidFill>
                          <a:latin typeface="Calibri"/>
                        </a:defRPr>
                      </a:pPr>
                      <a:r>
                        <a:t>0.889 ± 0.020</a:t>
                      </a:r>
                    </a:p>
                  </a:txBody>
                  <a:tcPr anchor="ctr">
                    <a:solidFill>
                      <a:srgbClr val="FFFFFF"/>
                    </a:solidFill>
                  </a:tcPr>
                </a:tc>
                <a:tc>
                  <a:txBody>
                    <a:bodyPr/>
                    <a:lstStyle/>
                    <a:p>
                      <a:pPr algn="ctr">
                        <a:defRPr sz="1300">
                          <a:solidFill>
                            <a:srgbClr val="1A1A1A"/>
                          </a:solidFill>
                          <a:latin typeface="Calibri"/>
                        </a:defRPr>
                      </a:pPr>
                      <a:r>
                        <a:t>0.930 ± 0.014</a:t>
                      </a:r>
                    </a:p>
                  </a:txBody>
                  <a:tcPr anchor="ctr">
                    <a:solidFill>
                      <a:srgbClr val="FFFFFF"/>
                    </a:solidFill>
                  </a:tcPr>
                </a:tc>
                <a:tc>
                  <a:txBody>
                    <a:bodyPr/>
                    <a:lstStyle/>
                    <a:p>
                      <a:pPr algn="ctr">
                        <a:defRPr sz="1300">
                          <a:solidFill>
                            <a:srgbClr val="1A1A1A"/>
                          </a:solidFill>
                          <a:latin typeface="Calibri"/>
                        </a:defRPr>
                      </a:pPr>
                      <a:r>
                        <a:t>0.916 ± 0.019</a:t>
                      </a:r>
                    </a:p>
                  </a:txBody>
                  <a:tcPr anchor="ctr">
                    <a:solidFill>
                      <a:srgbClr val="FFFFFF"/>
                    </a:solidFill>
                  </a:tcPr>
                </a:tc>
                <a:tc>
                  <a:txBody>
                    <a:bodyPr/>
                    <a:lstStyle/>
                    <a:p>
                      <a:pPr algn="ctr">
                        <a:defRPr sz="1300">
                          <a:solidFill>
                            <a:srgbClr val="1A1A1A"/>
                          </a:solidFill>
                          <a:latin typeface="Calibri"/>
                        </a:defRPr>
                      </a:pPr>
                      <a:r>
                        <a:t>0.923 ± 0.014</a:t>
                      </a:r>
                    </a:p>
                  </a:txBody>
                  <a:tcPr anchor="ctr">
                    <a:solidFill>
                      <a:srgbClr val="FFFFFF"/>
                    </a:solidFill>
                  </a:tcPr>
                </a:tc>
                <a:tc>
                  <a:txBody>
                    <a:bodyPr/>
                    <a:lstStyle/>
                    <a:p>
                      <a:pPr algn="ctr">
                        <a:defRPr sz="1300">
                          <a:solidFill>
                            <a:srgbClr val="1A1A1A"/>
                          </a:solidFill>
                          <a:latin typeface="Calibri"/>
                        </a:defRPr>
                      </a:pPr>
                      <a:r>
                        <a:t>0.937 ± 0.019</a:t>
                      </a:r>
                    </a:p>
                  </a:txBody>
                  <a:tcPr anchor="ctr">
                    <a:solidFill>
                      <a:srgbClr val="FFFFFF"/>
                    </a:solidFill>
                  </a:tcPr>
                </a:tc>
              </a:tr>
              <a:tr h="393192">
                <a:tc>
                  <a:txBody>
                    <a:bodyPr/>
                    <a:lstStyle/>
                    <a:p>
                      <a:pPr algn="ctr">
                        <a:defRPr sz="1300">
                          <a:solidFill>
                            <a:srgbClr val="1A1A1A"/>
                          </a:solidFill>
                          <a:latin typeface="Calibri"/>
                        </a:defRPr>
                      </a:pPr>
                      <a:r>
                        <a:t>XGBoost</a:t>
                      </a:r>
                    </a:p>
                  </a:txBody>
                  <a:tcPr anchor="ctr">
                    <a:solidFill>
                      <a:srgbClr val="F2F2F2"/>
                    </a:solidFill>
                  </a:tcPr>
                </a:tc>
                <a:tc>
                  <a:txBody>
                    <a:bodyPr/>
                    <a:lstStyle/>
                    <a:p>
                      <a:pPr algn="ctr">
                        <a:defRPr sz="1300">
                          <a:solidFill>
                            <a:srgbClr val="1A1A1A"/>
                          </a:solidFill>
                          <a:latin typeface="Calibri"/>
                        </a:defRPr>
                      </a:pPr>
                      <a:r>
                        <a:t>0.900 ± 0.008</a:t>
                      </a:r>
                    </a:p>
                  </a:txBody>
                  <a:tcPr anchor="ctr">
                    <a:solidFill>
                      <a:srgbClr val="F2F2F2"/>
                    </a:solidFill>
                  </a:tcPr>
                </a:tc>
                <a:tc>
                  <a:txBody>
                    <a:bodyPr/>
                    <a:lstStyle/>
                    <a:p>
                      <a:pPr algn="ctr">
                        <a:defRPr sz="1300">
                          <a:solidFill>
                            <a:srgbClr val="1A1A1A"/>
                          </a:solidFill>
                          <a:latin typeface="Calibri"/>
                        </a:defRPr>
                      </a:pPr>
                      <a:r>
                        <a:t>0.935 ± 0.006</a:t>
                      </a:r>
                    </a:p>
                  </a:txBody>
                  <a:tcPr anchor="ctr">
                    <a:solidFill>
                      <a:srgbClr val="F2F2F2"/>
                    </a:solidFill>
                  </a:tcPr>
                </a:tc>
                <a:tc>
                  <a:txBody>
                    <a:bodyPr/>
                    <a:lstStyle/>
                    <a:p>
                      <a:pPr algn="ctr">
                        <a:defRPr sz="1300">
                          <a:solidFill>
                            <a:srgbClr val="1A1A1A"/>
                          </a:solidFill>
                          <a:latin typeface="Calibri"/>
                        </a:defRPr>
                      </a:pPr>
                      <a:r>
                        <a:t>0.925 ± 0.013</a:t>
                      </a:r>
                    </a:p>
                  </a:txBody>
                  <a:tcPr anchor="ctr">
                    <a:solidFill>
                      <a:srgbClr val="F2F2F2"/>
                    </a:solidFill>
                  </a:tcPr>
                </a:tc>
                <a:tc>
                  <a:txBody>
                    <a:bodyPr/>
                    <a:lstStyle/>
                    <a:p>
                      <a:pPr algn="ctr">
                        <a:defRPr sz="1300">
                          <a:solidFill>
                            <a:srgbClr val="1A1A1A"/>
                          </a:solidFill>
                          <a:latin typeface="Calibri"/>
                        </a:defRPr>
                      </a:pPr>
                      <a:r>
                        <a:t>0.930 ± 0.006</a:t>
                      </a:r>
                    </a:p>
                  </a:txBody>
                  <a:tcPr anchor="ctr">
                    <a:solidFill>
                      <a:srgbClr val="F2F2F2"/>
                    </a:solidFill>
                  </a:tcPr>
                </a:tc>
                <a:tc>
                  <a:txBody>
                    <a:bodyPr/>
                    <a:lstStyle/>
                    <a:p>
                      <a:pPr algn="ctr">
                        <a:defRPr sz="1300" b="1">
                          <a:solidFill>
                            <a:srgbClr val="E86C00"/>
                          </a:solidFill>
                          <a:latin typeface="Calibri"/>
                        </a:defRPr>
                      </a:pPr>
                      <a:r>
                        <a:t>0.952 ± 0.015</a:t>
                      </a:r>
                    </a:p>
                  </a:txBody>
                  <a:tcPr anchor="ctr">
                    <a:solidFill>
                      <a:srgbClr val="F2F2F2"/>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Table 6.8: Full C4 results — Dataset B | tab:results-c4-dataset-b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SVM Collapse on SpontaneousDialogue</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1247120" cy="5120640"/>
          </a:xfrm>
          <a:prstGeom prst="rect">
            <a:avLst/>
          </a:prstGeom>
          <a:noFill/>
        </p:spPr>
        <p:txBody>
          <a:bodyPr wrap="square">
            <a:spAutoFit/>
          </a:bodyPr>
          <a:lstStyle/>
          <a:p>
            <a:pPr algn="l">
              <a:spcBef>
                <a:spcPts val="600"/>
              </a:spcBef>
              <a:spcAft>
                <a:spcPts val="300"/>
              </a:spcAft>
              <a:defRPr sz="1800" b="0">
                <a:solidFill>
                  <a:srgbClr val="1A1A1A"/>
                </a:solidFill>
                <a:latin typeface="Calibri"/>
              </a:defRPr>
            </a:pPr>
            <a:r>
              <a:t>SVM (RBF) ROC-AUC drops to 0.407–0.460 on SpontaneousDialogue</a:t>
            </a:r>
          </a:p>
          <a:p>
            <a:pPr>
              <a:spcBef>
                <a:spcPts val="600"/>
              </a:spcBef>
              <a:spcAft>
                <a:spcPts val="300"/>
              </a:spcAft>
              <a:defRPr sz="1800">
                <a:solidFill>
                  <a:srgbClr val="1A1A1A"/>
                </a:solidFill>
                <a:latin typeface="Calibri"/>
              </a:defRPr>
            </a:pPr>
            <a:r>
              <a:t>SVM is sensitive to curse of dimensionality at small n</a:t>
            </a:r>
          </a:p>
          <a:p>
            <a:pPr>
              <a:spcBef>
                <a:spcPts val="600"/>
              </a:spcBef>
              <a:spcAft>
                <a:spcPts val="300"/>
              </a:spcAft>
              <a:defRPr sz="1800">
                <a:solidFill>
                  <a:srgbClr val="1A1A1A"/>
                </a:solidFill>
                <a:latin typeface="Calibri"/>
              </a:defRPr>
            </a:pPr>
            <a:r>
              <a:t>Spontaneous speech features have higher within-class variance</a:t>
            </a:r>
          </a:p>
          <a:p>
            <a:pPr>
              <a:spcBef>
                <a:spcPts val="600"/>
              </a:spcBef>
              <a:spcAft>
                <a:spcPts val="300"/>
              </a:spcAft>
              <a:defRPr sz="1800">
                <a:solidFill>
                  <a:srgbClr val="1A1A1A"/>
                </a:solidFill>
                <a:latin typeface="Calibri"/>
              </a:defRPr>
            </a:pPr>
            <a:r>
              <a:t>At n=36, 47–78 features: margin-based boundary becomes unstable</a:t>
            </a:r>
          </a:p>
          <a:p>
            <a:pPr>
              <a:spcBef>
                <a:spcPts val="600"/>
              </a:spcBef>
              <a:spcAft>
                <a:spcPts val="300"/>
              </a:spcAft>
              <a:defRPr sz="1800">
                <a:solidFill>
                  <a:srgbClr val="1A1A1A"/>
                </a:solidFill>
                <a:latin typeface="Calibri"/>
              </a:defRPr>
            </a:pPr>
            <a:r>
              <a:t>Expected behavior documented, not hidden</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2600" b="1">
                <a:solidFill>
                  <a:srgbClr val="FFFFFF"/>
                </a:solidFill>
                <a:latin typeface="Calibri"/>
              </a:defRPr>
            </a:pPr>
            <a:r>
              <a:t>Demo Application — Research Prototype</a:t>
            </a:r>
          </a:p>
        </p:txBody>
      </p:sp>
      <p:pic>
        <p:nvPicPr>
          <p:cNvPr id="3" name="Picture 2" descr="webapp-architecture.png"/>
          <p:cNvPicPr>
            <a:picLocks noChangeAspect="1"/>
          </p:cNvPicPr>
          <p:nvPr/>
        </p:nvPicPr>
        <p:blipFill>
          <a:blip r:embed="rId2"/>
          <a:stretch>
            <a:fillRect/>
          </a:stretch>
        </p:blipFill>
        <p:spPr>
          <a:xfrm>
            <a:off x="274320" y="1188720"/>
            <a:ext cx="5029200" cy="7543800"/>
          </a:xfrm>
          <a:prstGeom prst="rect">
            <a:avLst/>
          </a:prstGeom>
        </p:spPr>
      </p:pic>
      <p:sp>
        <p:nvSpPr>
          <p:cNvPr id="4" name="Rectangle 3"/>
          <p:cNvSpPr/>
          <p:nvPr/>
        </p:nvSpPr>
        <p:spPr>
          <a:xfrm>
            <a:off x="274320" y="5852160"/>
            <a:ext cx="50292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Figure 1.3: Demo application architecture | Ref: fig:demo-architecture-simple</a:t>
            </a:r>
          </a:p>
        </p:txBody>
      </p:sp>
      <p:pic>
        <p:nvPicPr>
          <p:cNvPr id="5" name="Picture 4" descr="fig_demo_upload_audio.png"/>
          <p:cNvPicPr>
            <a:picLocks noChangeAspect="1"/>
          </p:cNvPicPr>
          <p:nvPr/>
        </p:nvPicPr>
        <p:blipFill>
          <a:blip r:embed="rId3"/>
          <a:stretch>
            <a:fillRect/>
          </a:stretch>
        </p:blipFill>
        <p:spPr>
          <a:xfrm>
            <a:off x="5943600" y="1188720"/>
            <a:ext cx="2743200" cy="2874793"/>
          </a:xfrm>
          <a:prstGeom prst="rect">
            <a:avLst/>
          </a:prstGeom>
        </p:spPr>
      </p:pic>
      <p:sp>
        <p:nvSpPr>
          <p:cNvPr id="6" name="Rectangle 5"/>
          <p:cNvSpPr/>
          <p:nvPr/>
        </p:nvSpPr>
        <p:spPr>
          <a:xfrm>
            <a:off x="5943600" y="4118377"/>
            <a:ext cx="27432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Upload interface | Ref: fig:demo-screens-main</a:t>
            </a:r>
          </a:p>
        </p:txBody>
      </p:sp>
      <p:pic>
        <p:nvPicPr>
          <p:cNvPr id="7" name="Picture 6" descr="fig_demo_analysis_result.png"/>
          <p:cNvPicPr>
            <a:picLocks noChangeAspect="1"/>
          </p:cNvPicPr>
          <p:nvPr/>
        </p:nvPicPr>
        <p:blipFill>
          <a:blip r:embed="rId4"/>
          <a:stretch>
            <a:fillRect/>
          </a:stretch>
        </p:blipFill>
        <p:spPr>
          <a:xfrm>
            <a:off x="8961120" y="1188720"/>
            <a:ext cx="2743200" cy="2181412"/>
          </a:xfrm>
          <a:prstGeom prst="rect">
            <a:avLst/>
          </a:prstGeom>
        </p:spPr>
      </p:pic>
      <p:sp>
        <p:nvSpPr>
          <p:cNvPr id="8" name="Rectangle 7"/>
          <p:cNvSpPr/>
          <p:nvPr/>
        </p:nvSpPr>
        <p:spPr>
          <a:xfrm>
            <a:off x="8961120" y="3424996"/>
            <a:ext cx="27432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50">
                <a:solidFill>
                  <a:srgbClr val="666666"/>
                </a:solidFill>
                <a:latin typeface="Calibri"/>
              </a:defRPr>
            </a:pPr>
            <a:r>
              <a:t>Analysis result | Ref: fig:demo-screens-main</a:t>
            </a:r>
          </a:p>
        </p:txBody>
      </p:sp>
      <p:sp>
        <p:nvSpPr>
          <p:cNvPr id="9" name="TextBox 8"/>
          <p:cNvSpPr txBox="1"/>
          <p:nvPr/>
        </p:nvSpPr>
        <p:spPr>
          <a:xfrm>
            <a:off x="457200" y="6217920"/>
            <a:ext cx="11247120" cy="457200"/>
          </a:xfrm>
          <a:prstGeom prst="rect">
            <a:avLst/>
          </a:prstGeom>
          <a:noFill/>
        </p:spPr>
        <p:txBody>
          <a:bodyPr wrap="square">
            <a:spAutoFit/>
          </a:bodyPr>
          <a:lstStyle/>
          <a:p>
            <a:pPr algn="ctr">
              <a:defRPr sz="1400" b="1">
                <a:solidFill>
                  <a:srgbClr val="C62828"/>
                </a:solidFill>
                <a:latin typeface="Calibri"/>
              </a:defRPr>
            </a:pPr>
            <a:r>
              <a:t>⚠ Research Demonstration Only — Not for clinical use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l">
              <a:defRPr sz="2800" b="1">
                <a:solidFill>
                  <a:srgbClr val="FFFFFF"/>
                </a:solidFill>
                <a:latin typeface="Calibri"/>
              </a:defRPr>
            </a:pPr>
            <a:r>
              <a:t>Full ROC-AUC — Dataset A ReadText (All Conditions)</a:t>
            </a:r>
          </a:p>
        </p:txBody>
      </p:sp>
      <p:sp>
        <p:nvSpPr>
          <p:cNvPr id="3" name="Rectangle 2"/>
          <p:cNvSpPr/>
          <p:nvPr/>
        </p:nvSpPr>
        <p:spPr>
          <a:xfrm>
            <a:off x="0" y="987552"/>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11247117" cy="2359152"/>
        </p:xfrm>
        <a:graphic>
          <a:graphicData uri="http://schemas.openxmlformats.org/drawingml/2006/table">
            <a:tbl>
              <a:tblPr firstRow="1" bandRow="1">
                <a:tableStyleId>{5C22544A-7EE6-4342-B048-85BDC9FD1C3A}</a:tableStyleId>
              </a:tblPr>
              <a:tblGrid>
                <a:gridCol w="2425849"/>
                <a:gridCol w="2205317"/>
                <a:gridCol w="2205317"/>
                <a:gridCol w="2205317"/>
                <a:gridCol w="2205317"/>
              </a:tblGrid>
              <a:tr h="393192">
                <a:tc>
                  <a:txBody>
                    <a:bodyPr/>
                    <a:lstStyle/>
                    <a:p>
                      <a:pPr algn="ctr">
                        <a:defRPr sz="1400" b="1">
                          <a:solidFill>
                            <a:srgbClr val="FFFFFF"/>
                          </a:solidFill>
                          <a:latin typeface="Calibri"/>
                        </a:defRPr>
                      </a:pPr>
                      <a:r>
                        <a:t>Model</a:t>
                      </a:r>
                    </a:p>
                  </a:txBody>
                  <a:tcPr anchor="ctr">
                    <a:solidFill>
                      <a:srgbClr val="0056A0"/>
                    </a:solidFill>
                  </a:tcPr>
                </a:tc>
                <a:tc>
                  <a:txBody>
                    <a:bodyPr/>
                    <a:lstStyle/>
                    <a:p>
                      <a:pPr algn="ctr">
                        <a:defRPr sz="1400" b="1">
                          <a:solidFill>
                            <a:srgbClr val="FFFFFF"/>
                          </a:solidFill>
                          <a:latin typeface="Calibri"/>
                        </a:defRPr>
                      </a:pPr>
                      <a:r>
                        <a:t>C1 (47, unw)</a:t>
                      </a:r>
                    </a:p>
                  </a:txBody>
                  <a:tcPr anchor="ctr">
                    <a:solidFill>
                      <a:srgbClr val="0056A0"/>
                    </a:solidFill>
                  </a:tcPr>
                </a:tc>
                <a:tc>
                  <a:txBody>
                    <a:bodyPr/>
                    <a:lstStyle/>
                    <a:p>
                      <a:pPr algn="ctr">
                        <a:defRPr sz="1400" b="1">
                          <a:solidFill>
                            <a:srgbClr val="FFFFFF"/>
                          </a:solidFill>
                          <a:latin typeface="Calibri"/>
                        </a:defRPr>
                      </a:pPr>
                      <a:r>
                        <a:t>C2 (47, wt)</a:t>
                      </a:r>
                    </a:p>
                  </a:txBody>
                  <a:tcPr anchor="ctr">
                    <a:solidFill>
                      <a:srgbClr val="0056A0"/>
                    </a:solidFill>
                  </a:tcPr>
                </a:tc>
                <a:tc>
                  <a:txBody>
                    <a:bodyPr/>
                    <a:lstStyle/>
                    <a:p>
                      <a:pPr algn="ctr">
                        <a:defRPr sz="1400" b="1">
                          <a:solidFill>
                            <a:srgbClr val="FFFFFF"/>
                          </a:solidFill>
                          <a:latin typeface="Calibri"/>
                        </a:defRPr>
                      </a:pPr>
                      <a:r>
                        <a:t>C3 (78, unw)</a:t>
                      </a:r>
                    </a:p>
                  </a:txBody>
                  <a:tcPr anchor="ctr">
                    <a:solidFill>
                      <a:srgbClr val="0056A0"/>
                    </a:solidFill>
                  </a:tcPr>
                </a:tc>
                <a:tc>
                  <a:txBody>
                    <a:bodyPr/>
                    <a:lstStyle/>
                    <a:p>
                      <a:pPr algn="ctr">
                        <a:defRPr sz="1400" b="1">
                          <a:solidFill>
                            <a:srgbClr val="FFFFFF"/>
                          </a:solidFill>
                          <a:latin typeface="Calibri"/>
                        </a:defRPr>
                      </a:pPr>
                      <a:r>
                        <a:t>C4 (78, wt)</a:t>
                      </a:r>
                    </a:p>
                  </a:txBody>
                  <a:tcPr anchor="ctr">
                    <a:solidFill>
                      <a:srgbClr val="0056A0"/>
                    </a:solidFill>
                  </a:tcPr>
                </a:tc>
              </a:tr>
              <a:tr h="393192">
                <a:tc>
                  <a:txBody>
                    <a:bodyPr/>
                    <a:lstStyle/>
                    <a:p>
                      <a:pPr algn="ctr">
                        <a:defRPr sz="1300">
                          <a:solidFill>
                            <a:srgbClr val="1A1A1A"/>
                          </a:solidFill>
                          <a:latin typeface="Calibri"/>
                        </a:defRPr>
                      </a:pPr>
                      <a:r>
                        <a:t>Logistic Reg.</a:t>
                      </a:r>
                    </a:p>
                  </a:txBody>
                  <a:tcPr anchor="ctr">
                    <a:solidFill>
                      <a:srgbClr val="F2F2F2"/>
                    </a:solidFill>
                  </a:tcPr>
                </a:tc>
                <a:tc>
                  <a:txBody>
                    <a:bodyPr/>
                    <a:lstStyle/>
                    <a:p>
                      <a:pPr algn="ctr">
                        <a:defRPr sz="1300">
                          <a:solidFill>
                            <a:srgbClr val="1A1A1A"/>
                          </a:solidFill>
                          <a:latin typeface="Calibri"/>
                        </a:defRPr>
                      </a:pPr>
                      <a:r>
                        <a:t>0.717 ± 0.139</a:t>
                      </a:r>
                    </a:p>
                  </a:txBody>
                  <a:tcPr anchor="ctr">
                    <a:solidFill>
                      <a:srgbClr val="F2F2F2"/>
                    </a:solidFill>
                  </a:tcPr>
                </a:tc>
                <a:tc>
                  <a:txBody>
                    <a:bodyPr/>
                    <a:lstStyle/>
                    <a:p>
                      <a:pPr algn="ctr">
                        <a:defRPr sz="1300">
                          <a:solidFill>
                            <a:srgbClr val="1A1A1A"/>
                          </a:solidFill>
                          <a:latin typeface="Calibri"/>
                        </a:defRPr>
                      </a:pPr>
                      <a:r>
                        <a:t>0.717 ± 0.139</a:t>
                      </a:r>
                    </a:p>
                  </a:txBody>
                  <a:tcPr anchor="ctr">
                    <a:solidFill>
                      <a:srgbClr val="F2F2F2"/>
                    </a:solidFill>
                  </a:tcPr>
                </a:tc>
                <a:tc>
                  <a:txBody>
                    <a:bodyPr/>
                    <a:lstStyle/>
                    <a:p>
                      <a:pPr algn="ctr">
                        <a:defRPr sz="1300">
                          <a:solidFill>
                            <a:srgbClr val="1A1A1A"/>
                          </a:solidFill>
                          <a:latin typeface="Calibri"/>
                        </a:defRPr>
                      </a:pPr>
                      <a:r>
                        <a:t>0.698 ± 0.132</a:t>
                      </a:r>
                    </a:p>
                  </a:txBody>
                  <a:tcPr anchor="ctr">
                    <a:solidFill>
                      <a:srgbClr val="F2F2F2"/>
                    </a:solidFill>
                  </a:tcPr>
                </a:tc>
                <a:tc>
                  <a:txBody>
                    <a:bodyPr/>
                    <a:lstStyle/>
                    <a:p>
                      <a:pPr algn="ctr">
                        <a:defRPr sz="1300">
                          <a:solidFill>
                            <a:srgbClr val="1A1A1A"/>
                          </a:solidFill>
                          <a:latin typeface="Calibri"/>
                        </a:defRPr>
                      </a:pPr>
                      <a:r>
                        <a:t>0.698 ± 0.132</a:t>
                      </a:r>
                    </a:p>
                  </a:txBody>
                  <a:tcPr anchor="ctr">
                    <a:solidFill>
                      <a:srgbClr val="F2F2F2"/>
                    </a:solidFill>
                  </a:tcPr>
                </a:tc>
              </a:tr>
              <a:tr h="393192">
                <a:tc>
                  <a:txBody>
                    <a:bodyPr/>
                    <a:lstStyle/>
                    <a:p>
                      <a:pPr algn="ctr">
                        <a:defRPr sz="1300">
                          <a:solidFill>
                            <a:srgbClr val="1A1A1A"/>
                          </a:solidFill>
                          <a:latin typeface="Calibri"/>
                        </a:defRPr>
                      </a:pPr>
                      <a:r>
                        <a:t>SVM (RBF)</a:t>
                      </a:r>
                    </a:p>
                  </a:txBody>
                  <a:tcPr anchor="ctr">
                    <a:solidFill>
                      <a:srgbClr val="FFFFFF"/>
                    </a:solidFill>
                  </a:tcPr>
                </a:tc>
                <a:tc>
                  <a:txBody>
                    <a:bodyPr/>
                    <a:lstStyle/>
                    <a:p>
                      <a:pPr algn="ctr">
                        <a:defRPr sz="1300">
                          <a:solidFill>
                            <a:srgbClr val="1A1A1A"/>
                          </a:solidFill>
                          <a:latin typeface="Calibri"/>
                        </a:defRPr>
                      </a:pPr>
                      <a:r>
                        <a:t>0.614 ± 0.312</a:t>
                      </a:r>
                    </a:p>
                  </a:txBody>
                  <a:tcPr anchor="ctr">
                    <a:solidFill>
                      <a:srgbClr val="FFFFFF"/>
                    </a:solidFill>
                  </a:tcPr>
                </a:tc>
                <a:tc>
                  <a:txBody>
                    <a:bodyPr/>
                    <a:lstStyle/>
                    <a:p>
                      <a:pPr algn="ctr">
                        <a:defRPr sz="1300">
                          <a:solidFill>
                            <a:srgbClr val="1A1A1A"/>
                          </a:solidFill>
                          <a:latin typeface="Calibri"/>
                        </a:defRPr>
                      </a:pPr>
                      <a:r>
                        <a:t>0.542 ± 0.312</a:t>
                      </a:r>
                    </a:p>
                  </a:txBody>
                  <a:tcPr anchor="ctr">
                    <a:solidFill>
                      <a:srgbClr val="FFFFFF"/>
                    </a:solidFill>
                  </a:tcPr>
                </a:tc>
                <a:tc>
                  <a:txBody>
                    <a:bodyPr/>
                    <a:lstStyle/>
                    <a:p>
                      <a:pPr algn="ctr">
                        <a:defRPr sz="1300" b="1">
                          <a:solidFill>
                            <a:srgbClr val="E86C00"/>
                          </a:solidFill>
                          <a:latin typeface="Calibri"/>
                        </a:defRPr>
                      </a:pPr>
                      <a:r>
                        <a:t>0.834 ± 0.153</a:t>
                      </a:r>
                    </a:p>
                  </a:txBody>
                  <a:tcPr anchor="ctr">
                    <a:solidFill>
                      <a:srgbClr val="FFFFFF"/>
                    </a:solidFill>
                  </a:tcPr>
                </a:tc>
                <a:tc>
                  <a:txBody>
                    <a:bodyPr/>
                    <a:lstStyle/>
                    <a:p>
                      <a:pPr algn="ctr">
                        <a:defRPr sz="1300">
                          <a:solidFill>
                            <a:srgbClr val="1A1A1A"/>
                          </a:solidFill>
                          <a:latin typeface="Calibri"/>
                        </a:defRPr>
                      </a:pPr>
                      <a:r>
                        <a:t>0.834 ± 0.153</a:t>
                      </a:r>
                    </a:p>
                  </a:txBody>
                  <a:tcPr anchor="ctr">
                    <a:solidFill>
                      <a:srgbClr val="FFFFFF"/>
                    </a:solidFill>
                  </a:tcPr>
                </a:tc>
              </a:tr>
              <a:tr h="393192">
                <a:tc>
                  <a:txBody>
                    <a:bodyPr/>
                    <a:lstStyle/>
                    <a:p>
                      <a:pPr algn="ctr">
                        <a:defRPr sz="1300">
                          <a:solidFill>
                            <a:srgbClr val="1A1A1A"/>
                          </a:solidFill>
                          <a:latin typeface="Calibri"/>
                        </a:defRPr>
                      </a:pPr>
                      <a:r>
                        <a:t>Random Forest</a:t>
                      </a:r>
                    </a:p>
                  </a:txBody>
                  <a:tcPr anchor="ctr">
                    <a:solidFill>
                      <a:srgbClr val="F2F2F2"/>
                    </a:solidFill>
                  </a:tcPr>
                </a:tc>
                <a:tc>
                  <a:txBody>
                    <a:bodyPr/>
                    <a:lstStyle/>
                    <a:p>
                      <a:pPr algn="ctr">
                        <a:defRPr sz="1300">
                          <a:solidFill>
                            <a:srgbClr val="1A1A1A"/>
                          </a:solidFill>
                          <a:latin typeface="Calibri"/>
                        </a:defRPr>
                      </a:pPr>
                      <a:r>
                        <a:t>0.590 ± 0.302</a:t>
                      </a:r>
                    </a:p>
                  </a:txBody>
                  <a:tcPr anchor="ctr">
                    <a:solidFill>
                      <a:srgbClr val="F2F2F2"/>
                    </a:solidFill>
                  </a:tcPr>
                </a:tc>
                <a:tc>
                  <a:txBody>
                    <a:bodyPr/>
                    <a:lstStyle/>
                    <a:p>
                      <a:pPr algn="ctr">
                        <a:defRPr sz="1300">
                          <a:solidFill>
                            <a:srgbClr val="1A1A1A"/>
                          </a:solidFill>
                          <a:latin typeface="Calibri"/>
                        </a:defRPr>
                      </a:pPr>
                      <a:r>
                        <a:t>0.687 ± 0.258</a:t>
                      </a:r>
                    </a:p>
                  </a:txBody>
                  <a:tcPr anchor="ctr">
                    <a:solidFill>
                      <a:srgbClr val="F2F2F2"/>
                    </a:solidFill>
                  </a:tcPr>
                </a:tc>
                <a:tc>
                  <a:txBody>
                    <a:bodyPr/>
                    <a:lstStyle/>
                    <a:p>
                      <a:pPr algn="ctr">
                        <a:defRPr sz="1300" b="1">
                          <a:solidFill>
                            <a:srgbClr val="E86C00"/>
                          </a:solidFill>
                          <a:latin typeface="Calibri"/>
                        </a:defRPr>
                      </a:pPr>
                      <a:r>
                        <a:t>0.822 ± 0.166</a:t>
                      </a:r>
                    </a:p>
                  </a:txBody>
                  <a:tcPr anchor="ctr">
                    <a:solidFill>
                      <a:srgbClr val="F2F2F2"/>
                    </a:solidFill>
                  </a:tcPr>
                </a:tc>
                <a:tc>
                  <a:txBody>
                    <a:bodyPr/>
                    <a:lstStyle/>
                    <a:p>
                      <a:pPr algn="ctr">
                        <a:defRPr sz="1300">
                          <a:solidFill>
                            <a:srgbClr val="1A1A1A"/>
                          </a:solidFill>
                          <a:latin typeface="Calibri"/>
                        </a:defRPr>
                      </a:pPr>
                      <a:r>
                        <a:t>0.805 ± 0.182</a:t>
                      </a:r>
                    </a:p>
                  </a:txBody>
                  <a:tcPr anchor="ctr">
                    <a:solidFill>
                      <a:srgbClr val="F2F2F2"/>
                    </a:solidFill>
                  </a:tcPr>
                </a:tc>
              </a:tr>
              <a:tr h="393192">
                <a:tc>
                  <a:txBody>
                    <a:bodyPr/>
                    <a:lstStyle/>
                    <a:p>
                      <a:pPr algn="ctr">
                        <a:defRPr sz="1300">
                          <a:solidFill>
                            <a:srgbClr val="1A1A1A"/>
                          </a:solidFill>
                          <a:latin typeface="Calibri"/>
                        </a:defRPr>
                      </a:pPr>
                      <a:r>
                        <a:t>Gradient Boost</a:t>
                      </a:r>
                    </a:p>
                  </a:txBody>
                  <a:tcPr anchor="ctr">
                    <a:solidFill>
                      <a:srgbClr val="FFFFFF"/>
                    </a:solidFill>
                  </a:tcPr>
                </a:tc>
                <a:tc>
                  <a:txBody>
                    <a:bodyPr/>
                    <a:lstStyle/>
                    <a:p>
                      <a:pPr algn="ctr">
                        <a:defRPr sz="1300">
                          <a:solidFill>
                            <a:srgbClr val="1A1A1A"/>
                          </a:solidFill>
                          <a:latin typeface="Calibri"/>
                        </a:defRPr>
                      </a:pPr>
                      <a:r>
                        <a:t>0.500 ± 0.159</a:t>
                      </a:r>
                    </a:p>
                  </a:txBody>
                  <a:tcPr anchor="ctr">
                    <a:solidFill>
                      <a:srgbClr val="FFFFFF"/>
                    </a:solidFill>
                  </a:tcPr>
                </a:tc>
                <a:tc>
                  <a:txBody>
                    <a:bodyPr/>
                    <a:lstStyle/>
                    <a:p>
                      <a:pPr algn="ctr">
                        <a:defRPr sz="1300">
                          <a:solidFill>
                            <a:srgbClr val="1A1A1A"/>
                          </a:solidFill>
                          <a:latin typeface="Calibri"/>
                        </a:defRPr>
                      </a:pPr>
                      <a:r>
                        <a:t>0.500 ± 0.159</a:t>
                      </a:r>
                    </a:p>
                  </a:txBody>
                  <a:tcPr anchor="ctr">
                    <a:solidFill>
                      <a:srgbClr val="FFFFFF"/>
                    </a:solidFill>
                  </a:tcPr>
                </a:tc>
                <a:tc>
                  <a:txBody>
                    <a:bodyPr/>
                    <a:lstStyle/>
                    <a:p>
                      <a:pPr algn="ctr">
                        <a:defRPr sz="1300">
                          <a:solidFill>
                            <a:srgbClr val="1A1A1A"/>
                          </a:solidFill>
                          <a:latin typeface="Calibri"/>
                        </a:defRPr>
                      </a:pPr>
                      <a:r>
                        <a:t>0.724 ± 0.214</a:t>
                      </a:r>
                    </a:p>
                  </a:txBody>
                  <a:tcPr anchor="ctr">
                    <a:solidFill>
                      <a:srgbClr val="FFFFFF"/>
                    </a:solidFill>
                  </a:tcPr>
                </a:tc>
                <a:tc>
                  <a:txBody>
                    <a:bodyPr/>
                    <a:lstStyle/>
                    <a:p>
                      <a:pPr algn="ctr">
                        <a:defRPr sz="1300">
                          <a:solidFill>
                            <a:srgbClr val="1A1A1A"/>
                          </a:solidFill>
                          <a:latin typeface="Calibri"/>
                        </a:defRPr>
                      </a:pPr>
                      <a:r>
                        <a:t>0.724 ± 0.214</a:t>
                      </a:r>
                    </a:p>
                  </a:txBody>
                  <a:tcPr anchor="ctr">
                    <a:solidFill>
                      <a:srgbClr val="FFFFFF"/>
                    </a:solidFill>
                  </a:tcPr>
                </a:tc>
              </a:tr>
              <a:tr h="393192">
                <a:tc>
                  <a:txBody>
                    <a:bodyPr/>
                    <a:lstStyle/>
                    <a:p>
                      <a:pPr algn="ctr">
                        <a:defRPr sz="1300">
                          <a:solidFill>
                            <a:srgbClr val="1A1A1A"/>
                          </a:solidFill>
                          <a:latin typeface="Calibri"/>
                        </a:defRPr>
                      </a:pPr>
                      <a:r>
                        <a:t>XGBoost</a:t>
                      </a:r>
                    </a:p>
                  </a:txBody>
                  <a:tcPr anchor="ctr">
                    <a:solidFill>
                      <a:srgbClr val="F2F2F2"/>
                    </a:solidFill>
                  </a:tcPr>
                </a:tc>
                <a:tc>
                  <a:txBody>
                    <a:bodyPr/>
                    <a:lstStyle/>
                    <a:p>
                      <a:pPr algn="ctr">
                        <a:defRPr sz="1300">
                          <a:solidFill>
                            <a:srgbClr val="1A1A1A"/>
                          </a:solidFill>
                          <a:latin typeface="Calibri"/>
                        </a:defRPr>
                      </a:pPr>
                      <a:r>
                        <a:t>0.628 ± 0.203</a:t>
                      </a:r>
                    </a:p>
                  </a:txBody>
                  <a:tcPr anchor="ctr">
                    <a:solidFill>
                      <a:srgbClr val="F2F2F2"/>
                    </a:solidFill>
                  </a:tcPr>
                </a:tc>
                <a:tc>
                  <a:txBody>
                    <a:bodyPr/>
                    <a:lstStyle/>
                    <a:p>
                      <a:pPr algn="ctr">
                        <a:defRPr sz="1300">
                          <a:solidFill>
                            <a:srgbClr val="1A1A1A"/>
                          </a:solidFill>
                          <a:latin typeface="Calibri"/>
                        </a:defRPr>
                      </a:pPr>
                      <a:r>
                        <a:t>0.628 ± 0.203</a:t>
                      </a:r>
                    </a:p>
                  </a:txBody>
                  <a:tcPr anchor="ctr">
                    <a:solidFill>
                      <a:srgbClr val="F2F2F2"/>
                    </a:solidFill>
                  </a:tcPr>
                </a:tc>
                <a:tc>
                  <a:txBody>
                    <a:bodyPr/>
                    <a:lstStyle/>
                    <a:p>
                      <a:pPr algn="ctr">
                        <a:defRPr sz="1300">
                          <a:solidFill>
                            <a:srgbClr val="1A1A1A"/>
                          </a:solidFill>
                          <a:latin typeface="Calibri"/>
                        </a:defRPr>
                      </a:pPr>
                      <a:r>
                        <a:t>0.794 ± 0.186</a:t>
                      </a:r>
                    </a:p>
                  </a:txBody>
                  <a:tcPr anchor="ctr">
                    <a:solidFill>
                      <a:srgbClr val="F2F2F2"/>
                    </a:solidFill>
                  </a:tcPr>
                </a:tc>
                <a:tc>
                  <a:txBody>
                    <a:bodyPr/>
                    <a:lstStyle/>
                    <a:p>
                      <a:pPr algn="ctr">
                        <a:defRPr sz="1300">
                          <a:solidFill>
                            <a:srgbClr val="1A1A1A"/>
                          </a:solidFill>
                          <a:latin typeface="Calibri"/>
                        </a:defRPr>
                      </a:pPr>
                      <a:r>
                        <a:t>0.794 ± 0.186</a:t>
                      </a:r>
                    </a:p>
                  </a:txBody>
                  <a:tcPr anchor="ctr">
                    <a:solidFill>
                      <a:srgbClr val="F2F2F2"/>
                    </a:solidFill>
                  </a:tcPr>
                </a:tc>
              </a:tr>
            </a:tbl>
          </a:graphicData>
        </a:graphic>
      </p:graphicFrame>
      <p:sp>
        <p:nvSpPr>
          <p:cNvPr id="5" name="Rectangle 4"/>
          <p:cNvSpPr/>
          <p:nvPr/>
        </p:nvSpPr>
        <p:spPr>
          <a:xfrm>
            <a:off x="457200" y="6108192"/>
            <a:ext cx="1124712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a:lstStyle/>
          <a:p>
            <a:pPr algn="l">
              <a:defRPr sz="1000">
                <a:solidFill>
                  <a:srgbClr val="666666"/>
                </a:solidFill>
                <a:latin typeface="Calibri"/>
              </a:defRPr>
            </a:pPr>
            <a:r>
              <a:t>Appendix Table: ReadText ROC-AUC all conditions | [appendix-b-placeholder] | Source: Thesis manuscript and computed results</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92240"/>
            <a:ext cx="11247120" cy="219456"/>
          </a:xfrm>
          <a:prstGeom prst="rect">
            <a:avLst/>
          </a:prstGeom>
          <a:noFill/>
        </p:spPr>
        <p:txBody>
          <a:bodyPr wrap="square">
            <a:spAutoFit/>
          </a:bodyPr>
          <a:lstStyle/>
          <a:p>
            <a:pPr algn="r">
              <a:defRPr sz="900" b="0">
                <a:solidFill>
                  <a:srgbClr val="E86C00"/>
                </a:solidFill>
                <a:latin typeface="Calibri"/>
              </a:defRPr>
            </a:pPr>
            <a:r>
              <a:t>Διπλωματική Εργασία - Μάρτιος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