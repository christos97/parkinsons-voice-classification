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4"/>
  </p:notesMasterIdLst>
  <p:sldIdLst>
    <p:sldId id="256" r:id="rId3"/>
    <p:sldId id="28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88" r:id="rId22"/>
    <p:sldId id="275" r:id="rId23"/>
    <p:sldId id="276" r:id="rId24"/>
    <p:sldId id="289" r:id="rId25"/>
    <p:sldId id="277" r:id="rId26"/>
    <p:sldId id="278" r:id="rId27"/>
    <p:sldId id="279" r:id="rId28"/>
    <p:sldId id="280" r:id="rId29"/>
    <p:sldId id="281" r:id="rId30"/>
    <p:sldId id="285" r:id="rId31"/>
    <p:sldId id="282" r:id="rId32"/>
    <p:sldId id="286"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B5C"/>
    <a:srgbClr val="E86C00"/>
    <a:srgbClr val="3B82F6"/>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369953-E80C-1ED9-9EA8-8E3F0A33FCAF}" v="1507" dt="2026-03-03T09:26:11.422"/>
    <p1510:client id="{646AF99A-BFAA-08F3-71A3-E7DA3D30F1E7}" v="5" dt="2026-03-02T19:50:39.186"/>
    <p1510:client id="{852A3DAA-CB94-45A2-8EEB-B531D68D6BCA}" v="49" dt="2026-03-01T18:28:05.647"/>
    <p1510:client id="{9C53C182-69EE-4299-F482-D74EA2D59267}" v="3599" dt="2026-03-02T23:5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60107D-2092-4FE3-9B9B-B1AD968AA101}" type="datetimeFigureOut">
              <a:t>3/3/2026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1AC530-C17C-465F-900D-7D9E31487EA2}" type="slidenum">
              <a:t>‹#›</a:t>
            </a:fld>
            <a:endParaRPr lang="en-US"/>
          </a:p>
        </p:txBody>
      </p:sp>
    </p:spTree>
    <p:extLst>
      <p:ext uri="{BB962C8B-B14F-4D97-AF65-F5344CB8AC3E}">
        <p14:creationId xmlns:p14="http://schemas.microsoft.com/office/powerpoint/2010/main" val="3624686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the committee. Wait for readiness before proceeding.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CE418-340E-2376-9AD1-053E33E65D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5A4A64-E2CF-8059-0DAA-35BA2B2825A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62BC76A-CF50-F4C2-3690-45A20411ABAF}"/>
              </a:ext>
            </a:extLst>
          </p:cNvPr>
          <p:cNvSpPr>
            <a:spLocks noGrp="1"/>
          </p:cNvSpPr>
          <p:nvPr>
            <p:ph type="body" sz="quarter" idx="3"/>
          </p:nvPr>
        </p:nvSpPr>
        <p:spPr/>
        <p:txBody>
          <a:bodyPr/>
          <a:lstStyle/>
          <a:p>
            <a:r>
              <a:t>I'll spend about 25 minutes, with most time on methodology and results. I'll keep discussion of limitations honest and transparent. Transition: Let's start with why this problem matters.</a:t>
            </a:r>
          </a:p>
        </p:txBody>
      </p:sp>
      <p:sp>
        <p:nvSpPr>
          <p:cNvPr id="4" name="Slide Number Placeholder 3">
            <a:extLst>
              <a:ext uri="{FF2B5EF4-FFF2-40B4-BE49-F238E27FC236}">
                <a16:creationId xmlns:a16="http://schemas.microsoft.com/office/drawing/2014/main" id="{CB3AFC88-1004-1C56-1F84-AA7CDD8F202E}"/>
              </a:ext>
            </a:extLst>
          </p:cNvPr>
          <p:cNvSpPr>
            <a:spLocks noGrp="1"/>
          </p:cNvSpPr>
          <p:nvPr>
            <p:ph type="sldNum" sz="quarter" idx="5"/>
          </p:nvPr>
        </p:nvSpPr>
        <p:spPr/>
      </p:sp>
    </p:spTree>
    <p:extLst>
      <p:ext uri="{BB962C8B-B14F-4D97-AF65-F5344CB8AC3E}">
        <p14:creationId xmlns:p14="http://schemas.microsoft.com/office/powerpoint/2010/main" val="4154193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that voice is a non-invasive, low-cost, remotely collectible biomarker. The diagram shows clinical speech assessment across PD stages. Transition: This creates an opportunity for computational analysis.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waveform comparison shows visible differences between HC and PD speech signals. Signal differences are real and measurable, but extracting reliable features and avoiding methodological pitfalls is harder than it looks. Transition: What does the literature say?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five questions structure all 300 experiments. Each RQ will be answered with specific evidence in the results section. Transition: Before showing how I addressed these, let me summarize the literature gap.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field has a reproducibility and overfitting problem. Many studies report inflated accuracy without proper validation. Transition: This is the gap I address.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 not claiming to beat the state of the art. I'm claiming to do it correctly and transparently. This is the core differentiator. Transition: Let me describe the data.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small sample is a limitation I'll address, but subject IDs are critical — they let us prevent data leakage. Transition: The second dataset is very different.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Dataset B gives us higher statistical power but weaker methodological guarantees. This contrast is itself a finding. Transition: Now, how did I process the data?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pipelines, kept strictly separate. Dataset A goes through our feature extraction; Dataset B skips it. Both feed into the same 5 classifiers with identical evaluation. Transition: Let me detail the feature extraction step.</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feature set captures phonatory dysfunction (jitter, shimmer) and spectral characteristics (MFCCs). The extension adds variability and higher-order dynamics. Tools: Parselmouth (Praat), librosa. Fixed parameters: 22050 Hz, seed 42. Transition: These features feed into five classifiers.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hyperparameter tuning is a deliberate choice. At n=37, nested CV would be unreliable and introduce more variance than it reduces (Varma &amp; Simon 2006). This is a conservative baseline. All pipelines include StandardScaler. Transition: How did I validate?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important methodological decision. Grouped CV is what separates a reliable estimate from an inflated one. Most studies in the literature don't do this. Transition: Now let me describe the full experimental design.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factorial design lets me isolate the effect of each factor. 4 conditions × 5 models × 3 datasets/tasks × 5 folds = 300 total runs. I report ALL 300 runs, not just the best. Transition: What did we find?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into the results section — the core of the defense.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Classical ML achieves meaningful discrimination. RF is most robust. Notice the variance: ±0.17 on Dataset A vs ±0.015 on Dataset B. Transition: Let me show the ROC curves.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ReadText: SVM and RF dominate; LR moderate; GB weakest. SpontaneousDialogue: RF clearly best; SVM collapses to ~0.46. The spread between curves shows model sensitivity to the task. Transition: What about Dataset B?</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Dataset B curves are tightly clustered — easier task or data leakage. Confusion matrices show where errors cluster: false negatives (PD→HC) are the main issue — clinically the more dangerous error. Transition: Now let me isolate the feature extension effect — RQ2.</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finding: Feature extension dramatically improved ReadText (up to +23.2 pp) but had minimal effect on SpontaneousDialogue. Structured reading needs richer features; spontaneous speech naturally encodes PD cues through prosodic variation. Transition: What about class weighting?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7F34B-48A9-AD37-70D4-452D6500CE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7E380-DDB1-904C-BDEE-E9D63E444A8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B1E143E-0300-4FE2-0673-5B0D30A63B14}"/>
              </a:ext>
            </a:extLst>
          </p:cNvPr>
          <p:cNvSpPr>
            <a:spLocks noGrp="1"/>
          </p:cNvSpPr>
          <p:nvPr>
            <p:ph type="body" sz="quarter" idx="3"/>
          </p:nvPr>
        </p:nvSpPr>
        <p:spPr/>
        <p:txBody>
          <a:bodyPr/>
          <a:lstStyle/>
          <a:p>
            <a:r>
              <a:t>Key finding: Feature extension dramatically improved ReadText (up to +23.2 pp) but had minimal effect on SpontaneousDialogue. Structured reading needs richer features; spontaneous speech naturally encodes PD cues through prosodic variation. Transition: What about class weighting?</a:t>
            </a:r>
          </a:p>
        </p:txBody>
      </p:sp>
      <p:sp>
        <p:nvSpPr>
          <p:cNvPr id="4" name="Slide Number Placeholder 3">
            <a:extLst>
              <a:ext uri="{FF2B5EF4-FFF2-40B4-BE49-F238E27FC236}">
                <a16:creationId xmlns:a16="http://schemas.microsoft.com/office/drawing/2014/main" id="{3A90F2E1-D872-07EA-6EA7-34F7CE1D37FF}"/>
              </a:ext>
            </a:extLst>
          </p:cNvPr>
          <p:cNvSpPr>
            <a:spLocks noGrp="1"/>
          </p:cNvSpPr>
          <p:nvPr>
            <p:ph type="sldNum" sz="quarter" idx="5"/>
          </p:nvPr>
        </p:nvSpPr>
        <p:spPr/>
      </p:sp>
    </p:spTree>
    <p:extLst>
      <p:ext uri="{BB962C8B-B14F-4D97-AF65-F5344CB8AC3E}">
        <p14:creationId xmlns:p14="http://schemas.microsoft.com/office/powerpoint/2010/main" val="37439396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Class weighting provided no consistent benefit at ~1.3:1 imbalance. LR, SVM, GB, XGBoost all show negligible or negative effect. Useful negative evidence: practitioners shouldn't default to balanced weighting. Transition: Cross-dataset comparison and variance.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Performance gap is real but confounded: different sample size (37 vs 756), CV strategy, speech task, features, class balance. Cannot attribute to single factor. Dataset B's low variance suggests possible within-subject leakage.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018F7-3B9C-55A5-A95B-DA83D76F40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17C4A3-7C83-6F25-A2A8-2DDCF4217D0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D6B1DC1-811E-D273-3218-D637200F8F3C}"/>
              </a:ext>
            </a:extLst>
          </p:cNvPr>
          <p:cNvSpPr>
            <a:spLocks noGrp="1"/>
          </p:cNvSpPr>
          <p:nvPr>
            <p:ph type="body" sz="quarter" idx="3"/>
          </p:nvPr>
        </p:nvSpPr>
        <p:spPr/>
        <p:txBody>
          <a:bodyPr/>
          <a:lstStyle/>
          <a:p>
            <a:r>
              <a:t>Performance gap is real but confounded: different sample size (37 vs 756), CV strategy, speech task, features, class balance. Cannot attribute to single factor. Dataset B's low variance suggests possible within-subject leakage.</a:t>
            </a:r>
          </a:p>
        </p:txBody>
      </p:sp>
      <p:sp>
        <p:nvSpPr>
          <p:cNvPr id="4" name="Slide Number Placeholder 3">
            <a:extLst>
              <a:ext uri="{FF2B5EF4-FFF2-40B4-BE49-F238E27FC236}">
                <a16:creationId xmlns:a16="http://schemas.microsoft.com/office/drawing/2014/main" id="{21030F2E-6B52-7AA3-1536-11586A74805B}"/>
              </a:ext>
            </a:extLst>
          </p:cNvPr>
          <p:cNvSpPr>
            <a:spLocks noGrp="1"/>
          </p:cNvSpPr>
          <p:nvPr>
            <p:ph type="sldNum" sz="quarter" idx="5"/>
          </p:nvPr>
        </p:nvSpPr>
        <p:spPr/>
      </p:sp>
    </p:spTree>
    <p:extLst>
      <p:ext uri="{BB962C8B-B14F-4D97-AF65-F5344CB8AC3E}">
        <p14:creationId xmlns:p14="http://schemas.microsoft.com/office/powerpoint/2010/main" val="38878236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MFCCs dominate (~28</a:t>
            </a:r>
            <a:r>
              <a:rPr lang="en-GB"/>
              <a:t>-</a:t>
            </a:r>
            <a:r>
              <a:t>32% of total importance). Pitch (F₀ max) is top-1 for </a:t>
            </a:r>
            <a:r>
              <a:rPr err="1"/>
              <a:t>ReadText</a:t>
            </a:r>
            <a:r>
              <a:t>. Shimmer (APQ11) is top-2 for </a:t>
            </a:r>
            <a:r>
              <a:rPr err="1"/>
              <a:t>SpontaneousDialogue</a:t>
            </a:r>
            <a:r>
              <a:t>. Cross-task stable features: delta_mfcc_2, </a:t>
            </a:r>
            <a:r>
              <a:rPr err="1"/>
              <a:t>autocorr_harmonicity</a:t>
            </a:r>
            <a:r>
              <a:t>, f0_mean, </a:t>
            </a:r>
            <a:r>
              <a:rPr err="1"/>
              <a:t>shimmer_apq</a:t>
            </a:r>
            <a:r>
              <a:t>. Transition: Permutation importance heatmaps.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Permutation importance measures actual predictive contribution. Sparse activation: a handful of features do most of the work. RF and XGBoost share similar importance profiles. GB importance is more concentrated on fewer features. Transition: Let me address the limitations honestly.</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limitation has a mitigation or justification documented in the thesis. Being explicit about what this study cannot claim is a strength. Transition: Despite these, the contributions are clear.</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Main message: voice-based PD classification is feasible with classical ML, but methodological rigor matters more than model sophistication. This work provides a transparent, reproducible baseline.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thesis concludes that voice-based PD classification is scientifically substantiated but not yet ready for clinical use. Open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Flask web app wrapping the trained RF model. Accepts audio upload or microphone recording. Extracts features → runs inference → displays result with confidence. Research prototype for thesis defense demonstration only.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Full C4 results for all 5 models across both Dataset A tasks.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ReadText ROC-AUC table across all 4 conditions. Shows C1→C3 improvement clearly for SVM, RF, GB.</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4314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27027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3663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3A3ED-0400-4CA3-7964-5F69E335B393}"/>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C788322-F6E4-0D19-50AC-50BD2EFF24D9}"/>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17D24BF-859B-83DF-113D-3B91F10145A9}"/>
              </a:ext>
            </a:extLst>
          </p:cNvPr>
          <p:cNvSpPr>
            <a:spLocks noGrp="1"/>
          </p:cNvSpPr>
          <p:nvPr>
            <p:ph type="dt" sz="half" idx="10"/>
          </p:nvPr>
        </p:nvSpPr>
        <p:spPr>
          <a:xfrm>
            <a:off x="838200" y="6356350"/>
            <a:ext cx="2743200" cy="365125"/>
          </a:xfrm>
          <a:prstGeom prst="rect">
            <a:avLst/>
          </a:prstGeom>
        </p:spPr>
        <p:txBody>
          <a:bodyPr/>
          <a:lstStyle/>
          <a:p>
            <a:fld id="{390E9E7C-8E3C-488F-BD25-F7F6F3BF6374}" type="datetimeFigureOut">
              <a:rPr lang="en-GB" smtClean="0"/>
              <a:t>03/03/2026</a:t>
            </a:fld>
            <a:endParaRPr lang="en-GB"/>
          </a:p>
        </p:txBody>
      </p:sp>
      <p:sp>
        <p:nvSpPr>
          <p:cNvPr id="5" name="Footer Placeholder 4">
            <a:extLst>
              <a:ext uri="{FF2B5EF4-FFF2-40B4-BE49-F238E27FC236}">
                <a16:creationId xmlns:a16="http://schemas.microsoft.com/office/drawing/2014/main" id="{AF286F82-8119-A435-91E8-C464BFB0621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522D39DE-71C4-88A0-77FF-A83628B36E20}"/>
              </a:ext>
            </a:extLst>
          </p:cNvPr>
          <p:cNvSpPr>
            <a:spLocks noGrp="1"/>
          </p:cNvSpPr>
          <p:nvPr>
            <p:ph type="sldNum" sz="quarter" idx="12"/>
          </p:nvPr>
        </p:nvSpPr>
        <p:spPr>
          <a:xfrm>
            <a:off x="8610600" y="6356350"/>
            <a:ext cx="2743200" cy="365125"/>
          </a:xfrm>
          <a:prstGeom prst="rect">
            <a:avLst/>
          </a:prstGeom>
        </p:spPr>
        <p:txBody>
          <a:bodyPr/>
          <a:lstStyle/>
          <a:p>
            <a:fld id="{C5128417-95CA-4AC7-987B-5C7A019F595A}" type="slidenum">
              <a:rPr lang="en-GB" smtClean="0"/>
              <a:t>‹#›</a:t>
            </a:fld>
            <a:endParaRPr lang="en-GB"/>
          </a:p>
        </p:txBody>
      </p:sp>
    </p:spTree>
    <p:extLst>
      <p:ext uri="{BB962C8B-B14F-4D97-AF65-F5344CB8AC3E}">
        <p14:creationId xmlns:p14="http://schemas.microsoft.com/office/powerpoint/2010/main" val="1693296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0FF54-DC94-E903-C331-B947DA901DE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1A7985A-E9DB-9BCF-F15E-DC21B714F7AD}"/>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0B9FBB3-1096-DFF4-D410-F03398331541}"/>
              </a:ext>
            </a:extLst>
          </p:cNvPr>
          <p:cNvSpPr>
            <a:spLocks noGrp="1"/>
          </p:cNvSpPr>
          <p:nvPr>
            <p:ph type="dt" sz="half" idx="10"/>
          </p:nvPr>
        </p:nvSpPr>
        <p:spPr>
          <a:xfrm>
            <a:off x="838200" y="6356350"/>
            <a:ext cx="2743200" cy="365125"/>
          </a:xfrm>
          <a:prstGeom prst="rect">
            <a:avLst/>
          </a:prstGeom>
        </p:spPr>
        <p:txBody>
          <a:bodyPr/>
          <a:lstStyle/>
          <a:p>
            <a:fld id="{390E9E7C-8E3C-488F-BD25-F7F6F3BF6374}" type="datetimeFigureOut">
              <a:rPr lang="en-GB" smtClean="0"/>
              <a:t>03/03/2026</a:t>
            </a:fld>
            <a:endParaRPr lang="en-GB"/>
          </a:p>
        </p:txBody>
      </p:sp>
      <p:sp>
        <p:nvSpPr>
          <p:cNvPr id="5" name="Footer Placeholder 4">
            <a:extLst>
              <a:ext uri="{FF2B5EF4-FFF2-40B4-BE49-F238E27FC236}">
                <a16:creationId xmlns:a16="http://schemas.microsoft.com/office/drawing/2014/main" id="{801113B9-B0D5-5BCE-0742-D1FB576C90EA}"/>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450670D5-12E3-957A-5E35-A66AA1FCE537}"/>
              </a:ext>
            </a:extLst>
          </p:cNvPr>
          <p:cNvSpPr>
            <a:spLocks noGrp="1"/>
          </p:cNvSpPr>
          <p:nvPr>
            <p:ph type="sldNum" sz="quarter" idx="12"/>
          </p:nvPr>
        </p:nvSpPr>
        <p:spPr>
          <a:xfrm>
            <a:off x="8610600" y="6356350"/>
            <a:ext cx="2743200" cy="365125"/>
          </a:xfrm>
          <a:prstGeom prst="rect">
            <a:avLst/>
          </a:prstGeom>
        </p:spPr>
        <p:txBody>
          <a:bodyPr/>
          <a:lstStyle/>
          <a:p>
            <a:fld id="{C5128417-95CA-4AC7-987B-5C7A019F595A}" type="slidenum">
              <a:rPr lang="en-GB" smtClean="0"/>
              <a:t>‹#›</a:t>
            </a:fld>
            <a:endParaRPr lang="en-GB"/>
          </a:p>
        </p:txBody>
      </p:sp>
    </p:spTree>
    <p:extLst>
      <p:ext uri="{BB962C8B-B14F-4D97-AF65-F5344CB8AC3E}">
        <p14:creationId xmlns:p14="http://schemas.microsoft.com/office/powerpoint/2010/main" val="2026567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619CD-C974-5563-87CE-21E5C70436D5}"/>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04836B4-0EDC-5183-025E-5F7E24848961}"/>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FB51DF-8F5F-FA4A-802B-9CCA1AA3CB48}"/>
              </a:ext>
            </a:extLst>
          </p:cNvPr>
          <p:cNvSpPr>
            <a:spLocks noGrp="1"/>
          </p:cNvSpPr>
          <p:nvPr>
            <p:ph type="dt" sz="half" idx="10"/>
          </p:nvPr>
        </p:nvSpPr>
        <p:spPr>
          <a:xfrm>
            <a:off x="838200" y="6356350"/>
            <a:ext cx="2743200" cy="365125"/>
          </a:xfrm>
          <a:prstGeom prst="rect">
            <a:avLst/>
          </a:prstGeom>
        </p:spPr>
        <p:txBody>
          <a:bodyPr/>
          <a:lstStyle/>
          <a:p>
            <a:fld id="{390E9E7C-8E3C-488F-BD25-F7F6F3BF6374}" type="datetimeFigureOut">
              <a:rPr lang="en-GB" smtClean="0"/>
              <a:t>03/03/2026</a:t>
            </a:fld>
            <a:endParaRPr lang="en-GB"/>
          </a:p>
        </p:txBody>
      </p:sp>
      <p:sp>
        <p:nvSpPr>
          <p:cNvPr id="5" name="Footer Placeholder 4">
            <a:extLst>
              <a:ext uri="{FF2B5EF4-FFF2-40B4-BE49-F238E27FC236}">
                <a16:creationId xmlns:a16="http://schemas.microsoft.com/office/drawing/2014/main" id="{6A56DA82-073B-4791-A5CE-A02488CFC63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A380E53A-540F-DE46-FF0D-EEEEE2084055}"/>
              </a:ext>
            </a:extLst>
          </p:cNvPr>
          <p:cNvSpPr>
            <a:spLocks noGrp="1"/>
          </p:cNvSpPr>
          <p:nvPr>
            <p:ph type="sldNum" sz="quarter" idx="12"/>
          </p:nvPr>
        </p:nvSpPr>
        <p:spPr>
          <a:xfrm>
            <a:off x="8610600" y="6356350"/>
            <a:ext cx="2743200" cy="365125"/>
          </a:xfrm>
          <a:prstGeom prst="rect">
            <a:avLst/>
          </a:prstGeom>
        </p:spPr>
        <p:txBody>
          <a:bodyPr/>
          <a:lstStyle/>
          <a:p>
            <a:fld id="{C5128417-95CA-4AC7-987B-5C7A019F595A}" type="slidenum">
              <a:rPr lang="en-GB" smtClean="0"/>
              <a:t>‹#›</a:t>
            </a:fld>
            <a:endParaRPr lang="en-GB"/>
          </a:p>
        </p:txBody>
      </p:sp>
    </p:spTree>
    <p:extLst>
      <p:ext uri="{BB962C8B-B14F-4D97-AF65-F5344CB8AC3E}">
        <p14:creationId xmlns:p14="http://schemas.microsoft.com/office/powerpoint/2010/main" val="3567317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60670-E205-BE15-780A-F8B2F6135A67}"/>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3600449-1353-A601-67AE-B238F71248C0}"/>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955B57E-B784-0D57-B17A-34594E5FCE9F}"/>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5325EF4-E9DE-25E6-5B69-FCD9CA6A6EC0}"/>
              </a:ext>
            </a:extLst>
          </p:cNvPr>
          <p:cNvSpPr>
            <a:spLocks noGrp="1"/>
          </p:cNvSpPr>
          <p:nvPr>
            <p:ph type="dt" sz="half" idx="10"/>
          </p:nvPr>
        </p:nvSpPr>
        <p:spPr>
          <a:xfrm>
            <a:off x="838200" y="6356350"/>
            <a:ext cx="2743200" cy="365125"/>
          </a:xfrm>
          <a:prstGeom prst="rect">
            <a:avLst/>
          </a:prstGeom>
        </p:spPr>
        <p:txBody>
          <a:bodyPr/>
          <a:lstStyle/>
          <a:p>
            <a:fld id="{390E9E7C-8E3C-488F-BD25-F7F6F3BF6374}" type="datetimeFigureOut">
              <a:rPr lang="en-GB" smtClean="0"/>
              <a:t>03/03/2026</a:t>
            </a:fld>
            <a:endParaRPr lang="en-GB"/>
          </a:p>
        </p:txBody>
      </p:sp>
      <p:sp>
        <p:nvSpPr>
          <p:cNvPr id="6" name="Footer Placeholder 5">
            <a:extLst>
              <a:ext uri="{FF2B5EF4-FFF2-40B4-BE49-F238E27FC236}">
                <a16:creationId xmlns:a16="http://schemas.microsoft.com/office/drawing/2014/main" id="{57233081-3669-B215-BE35-3886A9C55968}"/>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C9CF98D3-57AF-DE99-3BE7-8F7578E690A5}"/>
              </a:ext>
            </a:extLst>
          </p:cNvPr>
          <p:cNvSpPr>
            <a:spLocks noGrp="1"/>
          </p:cNvSpPr>
          <p:nvPr>
            <p:ph type="sldNum" sz="quarter" idx="12"/>
          </p:nvPr>
        </p:nvSpPr>
        <p:spPr>
          <a:xfrm>
            <a:off x="8610600" y="6356350"/>
            <a:ext cx="2743200" cy="365125"/>
          </a:xfrm>
          <a:prstGeom prst="rect">
            <a:avLst/>
          </a:prstGeom>
        </p:spPr>
        <p:txBody>
          <a:bodyPr/>
          <a:lstStyle/>
          <a:p>
            <a:fld id="{C5128417-95CA-4AC7-987B-5C7A019F595A}" type="slidenum">
              <a:rPr lang="en-GB" smtClean="0"/>
              <a:t>‹#›</a:t>
            </a:fld>
            <a:endParaRPr lang="en-GB"/>
          </a:p>
        </p:txBody>
      </p:sp>
    </p:spTree>
    <p:extLst>
      <p:ext uri="{BB962C8B-B14F-4D97-AF65-F5344CB8AC3E}">
        <p14:creationId xmlns:p14="http://schemas.microsoft.com/office/powerpoint/2010/main" val="229554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3853D-2999-FE73-943D-7F2209A1ACF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80F7EB7-CC1D-E25D-E3D5-162EFA9AF15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484001-DE97-C90C-B140-24CE19EE27DF}"/>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70E0F05-5829-105D-A8A1-B60E22151828}"/>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9D940F-5B51-842F-3E74-451059438D2E}"/>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694B5FC-EC63-03E2-D6CC-F43EC0EE5064}"/>
              </a:ext>
            </a:extLst>
          </p:cNvPr>
          <p:cNvSpPr>
            <a:spLocks noGrp="1"/>
          </p:cNvSpPr>
          <p:nvPr>
            <p:ph type="dt" sz="half" idx="10"/>
          </p:nvPr>
        </p:nvSpPr>
        <p:spPr>
          <a:xfrm>
            <a:off x="838200" y="6356350"/>
            <a:ext cx="2743200" cy="365125"/>
          </a:xfrm>
          <a:prstGeom prst="rect">
            <a:avLst/>
          </a:prstGeom>
        </p:spPr>
        <p:txBody>
          <a:bodyPr/>
          <a:lstStyle/>
          <a:p>
            <a:fld id="{390E9E7C-8E3C-488F-BD25-F7F6F3BF6374}" type="datetimeFigureOut">
              <a:rPr lang="en-GB" smtClean="0"/>
              <a:t>03/03/2026</a:t>
            </a:fld>
            <a:endParaRPr lang="en-GB"/>
          </a:p>
        </p:txBody>
      </p:sp>
      <p:sp>
        <p:nvSpPr>
          <p:cNvPr id="8" name="Footer Placeholder 7">
            <a:extLst>
              <a:ext uri="{FF2B5EF4-FFF2-40B4-BE49-F238E27FC236}">
                <a16:creationId xmlns:a16="http://schemas.microsoft.com/office/drawing/2014/main" id="{6F1F4261-1461-BCD5-30DD-F43D33740542}"/>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1C14902D-4CA2-2174-57B5-DB5B04C9F4DF}"/>
              </a:ext>
            </a:extLst>
          </p:cNvPr>
          <p:cNvSpPr>
            <a:spLocks noGrp="1"/>
          </p:cNvSpPr>
          <p:nvPr>
            <p:ph type="sldNum" sz="quarter" idx="12"/>
          </p:nvPr>
        </p:nvSpPr>
        <p:spPr>
          <a:xfrm>
            <a:off x="8610600" y="6356350"/>
            <a:ext cx="2743200" cy="365125"/>
          </a:xfrm>
          <a:prstGeom prst="rect">
            <a:avLst/>
          </a:prstGeom>
        </p:spPr>
        <p:txBody>
          <a:bodyPr/>
          <a:lstStyle/>
          <a:p>
            <a:fld id="{C5128417-95CA-4AC7-987B-5C7A019F595A}" type="slidenum">
              <a:rPr lang="en-GB" smtClean="0"/>
              <a:t>‹#›</a:t>
            </a:fld>
            <a:endParaRPr lang="en-GB"/>
          </a:p>
        </p:txBody>
      </p:sp>
    </p:spTree>
    <p:extLst>
      <p:ext uri="{BB962C8B-B14F-4D97-AF65-F5344CB8AC3E}">
        <p14:creationId xmlns:p14="http://schemas.microsoft.com/office/powerpoint/2010/main" val="3393294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25A80-F19B-2519-242C-3FCD98DD40C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A1D668F-1186-9B50-4D37-B628EF0843C5}"/>
              </a:ext>
            </a:extLst>
          </p:cNvPr>
          <p:cNvSpPr>
            <a:spLocks noGrp="1"/>
          </p:cNvSpPr>
          <p:nvPr>
            <p:ph type="dt" sz="half" idx="10"/>
          </p:nvPr>
        </p:nvSpPr>
        <p:spPr>
          <a:xfrm>
            <a:off x="838200" y="6356350"/>
            <a:ext cx="2743200" cy="365125"/>
          </a:xfrm>
          <a:prstGeom prst="rect">
            <a:avLst/>
          </a:prstGeom>
        </p:spPr>
        <p:txBody>
          <a:bodyPr/>
          <a:lstStyle/>
          <a:p>
            <a:fld id="{390E9E7C-8E3C-488F-BD25-F7F6F3BF6374}" type="datetimeFigureOut">
              <a:rPr lang="en-GB" smtClean="0"/>
              <a:t>03/03/2026</a:t>
            </a:fld>
            <a:endParaRPr lang="en-GB"/>
          </a:p>
        </p:txBody>
      </p:sp>
      <p:sp>
        <p:nvSpPr>
          <p:cNvPr id="4" name="Footer Placeholder 3">
            <a:extLst>
              <a:ext uri="{FF2B5EF4-FFF2-40B4-BE49-F238E27FC236}">
                <a16:creationId xmlns:a16="http://schemas.microsoft.com/office/drawing/2014/main" id="{4F1F52BB-CF73-AC20-A448-D13F9476FC1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7FE2568A-8611-FCAF-8ADC-6246D48657F6}"/>
              </a:ext>
            </a:extLst>
          </p:cNvPr>
          <p:cNvSpPr>
            <a:spLocks noGrp="1"/>
          </p:cNvSpPr>
          <p:nvPr>
            <p:ph type="sldNum" sz="quarter" idx="12"/>
          </p:nvPr>
        </p:nvSpPr>
        <p:spPr>
          <a:xfrm>
            <a:off x="8610600" y="6356350"/>
            <a:ext cx="2743200" cy="365125"/>
          </a:xfrm>
          <a:prstGeom prst="rect">
            <a:avLst/>
          </a:prstGeom>
        </p:spPr>
        <p:txBody>
          <a:bodyPr/>
          <a:lstStyle/>
          <a:p>
            <a:fld id="{C5128417-95CA-4AC7-987B-5C7A019F595A}" type="slidenum">
              <a:rPr lang="en-GB" smtClean="0"/>
              <a:t>‹#›</a:t>
            </a:fld>
            <a:endParaRPr lang="en-GB"/>
          </a:p>
        </p:txBody>
      </p:sp>
    </p:spTree>
    <p:extLst>
      <p:ext uri="{BB962C8B-B14F-4D97-AF65-F5344CB8AC3E}">
        <p14:creationId xmlns:p14="http://schemas.microsoft.com/office/powerpoint/2010/main" val="2675793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2F756-2322-2C22-AEED-2E74073A8919}"/>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13F020C-2E63-E8EB-B570-C45C6B560F3A}"/>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FA9D790-1CB6-27B8-ECAB-F8CD121587C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C51FF0-5B74-B6DB-C400-0003ED78D086}"/>
              </a:ext>
            </a:extLst>
          </p:cNvPr>
          <p:cNvSpPr>
            <a:spLocks noGrp="1"/>
          </p:cNvSpPr>
          <p:nvPr>
            <p:ph type="dt" sz="half" idx="10"/>
          </p:nvPr>
        </p:nvSpPr>
        <p:spPr>
          <a:xfrm>
            <a:off x="838200" y="6356350"/>
            <a:ext cx="2743200" cy="365125"/>
          </a:xfrm>
          <a:prstGeom prst="rect">
            <a:avLst/>
          </a:prstGeom>
        </p:spPr>
        <p:txBody>
          <a:bodyPr/>
          <a:lstStyle/>
          <a:p>
            <a:fld id="{390E9E7C-8E3C-488F-BD25-F7F6F3BF6374}" type="datetimeFigureOut">
              <a:rPr lang="en-GB" smtClean="0"/>
              <a:t>03/03/2026</a:t>
            </a:fld>
            <a:endParaRPr lang="en-GB"/>
          </a:p>
        </p:txBody>
      </p:sp>
      <p:sp>
        <p:nvSpPr>
          <p:cNvPr id="6" name="Footer Placeholder 5">
            <a:extLst>
              <a:ext uri="{FF2B5EF4-FFF2-40B4-BE49-F238E27FC236}">
                <a16:creationId xmlns:a16="http://schemas.microsoft.com/office/drawing/2014/main" id="{3576106A-F0D9-E770-477B-073F56580D47}"/>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23E10D3E-C6C4-591A-2475-E7BC079F1082}"/>
              </a:ext>
            </a:extLst>
          </p:cNvPr>
          <p:cNvSpPr>
            <a:spLocks noGrp="1"/>
          </p:cNvSpPr>
          <p:nvPr>
            <p:ph type="sldNum" sz="quarter" idx="12"/>
          </p:nvPr>
        </p:nvSpPr>
        <p:spPr>
          <a:xfrm>
            <a:off x="8610600" y="6356350"/>
            <a:ext cx="2743200" cy="365125"/>
          </a:xfrm>
          <a:prstGeom prst="rect">
            <a:avLst/>
          </a:prstGeom>
        </p:spPr>
        <p:txBody>
          <a:bodyPr/>
          <a:lstStyle/>
          <a:p>
            <a:fld id="{C5128417-95CA-4AC7-987B-5C7A019F595A}" type="slidenum">
              <a:rPr lang="en-GB" smtClean="0"/>
              <a:t>‹#›</a:t>
            </a:fld>
            <a:endParaRPr lang="en-GB"/>
          </a:p>
        </p:txBody>
      </p:sp>
    </p:spTree>
    <p:extLst>
      <p:ext uri="{BB962C8B-B14F-4D97-AF65-F5344CB8AC3E}">
        <p14:creationId xmlns:p14="http://schemas.microsoft.com/office/powerpoint/2010/main" val="30916836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6B359-3A7F-1FED-F404-899A535F832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132C7E9-44C8-4DB1-6E34-A2E5FB7E80AD}"/>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F05D781-17DC-F1CD-D79F-7B147E6E45E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19993F-CF43-0980-2166-8C2818E923AA}"/>
              </a:ext>
            </a:extLst>
          </p:cNvPr>
          <p:cNvSpPr>
            <a:spLocks noGrp="1"/>
          </p:cNvSpPr>
          <p:nvPr>
            <p:ph type="dt" sz="half" idx="10"/>
          </p:nvPr>
        </p:nvSpPr>
        <p:spPr>
          <a:xfrm>
            <a:off x="838200" y="6356350"/>
            <a:ext cx="2743200" cy="365125"/>
          </a:xfrm>
          <a:prstGeom prst="rect">
            <a:avLst/>
          </a:prstGeom>
        </p:spPr>
        <p:txBody>
          <a:bodyPr/>
          <a:lstStyle/>
          <a:p>
            <a:fld id="{390E9E7C-8E3C-488F-BD25-F7F6F3BF6374}" type="datetimeFigureOut">
              <a:rPr lang="en-GB" smtClean="0"/>
              <a:t>03/03/2026</a:t>
            </a:fld>
            <a:endParaRPr lang="en-GB"/>
          </a:p>
        </p:txBody>
      </p:sp>
      <p:sp>
        <p:nvSpPr>
          <p:cNvPr id="6" name="Footer Placeholder 5">
            <a:extLst>
              <a:ext uri="{FF2B5EF4-FFF2-40B4-BE49-F238E27FC236}">
                <a16:creationId xmlns:a16="http://schemas.microsoft.com/office/drawing/2014/main" id="{2182F11A-AEBE-06C7-BFB7-C9C7C696233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B7097787-AE11-5728-9F2C-1F8068E3365A}"/>
              </a:ext>
            </a:extLst>
          </p:cNvPr>
          <p:cNvSpPr>
            <a:spLocks noGrp="1"/>
          </p:cNvSpPr>
          <p:nvPr>
            <p:ph type="sldNum" sz="quarter" idx="12"/>
          </p:nvPr>
        </p:nvSpPr>
        <p:spPr>
          <a:xfrm>
            <a:off x="8610600" y="6356350"/>
            <a:ext cx="2743200" cy="365125"/>
          </a:xfrm>
          <a:prstGeom prst="rect">
            <a:avLst/>
          </a:prstGeom>
        </p:spPr>
        <p:txBody>
          <a:bodyPr/>
          <a:lstStyle/>
          <a:p>
            <a:fld id="{C5128417-95CA-4AC7-987B-5C7A019F595A}" type="slidenum">
              <a:rPr lang="en-GB" smtClean="0"/>
              <a:t>‹#›</a:t>
            </a:fld>
            <a:endParaRPr lang="en-GB"/>
          </a:p>
        </p:txBody>
      </p:sp>
    </p:spTree>
    <p:extLst>
      <p:ext uri="{BB962C8B-B14F-4D97-AF65-F5344CB8AC3E}">
        <p14:creationId xmlns:p14="http://schemas.microsoft.com/office/powerpoint/2010/main" val="282290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629F0-427D-DF68-8ED0-7B7E342CCCA7}"/>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0ABABE0-A129-8B0C-3EA9-5B18082CDF0C}"/>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5A91716-4F68-5FA9-B696-76A246BA7B72}"/>
              </a:ext>
            </a:extLst>
          </p:cNvPr>
          <p:cNvSpPr>
            <a:spLocks noGrp="1"/>
          </p:cNvSpPr>
          <p:nvPr>
            <p:ph type="dt" sz="half" idx="10"/>
          </p:nvPr>
        </p:nvSpPr>
        <p:spPr>
          <a:xfrm>
            <a:off x="838200" y="6356350"/>
            <a:ext cx="2743200" cy="365125"/>
          </a:xfrm>
          <a:prstGeom prst="rect">
            <a:avLst/>
          </a:prstGeom>
        </p:spPr>
        <p:txBody>
          <a:bodyPr/>
          <a:lstStyle/>
          <a:p>
            <a:fld id="{390E9E7C-8E3C-488F-BD25-F7F6F3BF6374}" type="datetimeFigureOut">
              <a:rPr lang="en-GB" smtClean="0"/>
              <a:t>03/03/2026</a:t>
            </a:fld>
            <a:endParaRPr lang="en-GB"/>
          </a:p>
        </p:txBody>
      </p:sp>
      <p:sp>
        <p:nvSpPr>
          <p:cNvPr id="5" name="Footer Placeholder 4">
            <a:extLst>
              <a:ext uri="{FF2B5EF4-FFF2-40B4-BE49-F238E27FC236}">
                <a16:creationId xmlns:a16="http://schemas.microsoft.com/office/drawing/2014/main" id="{DF55D8BA-8A42-E913-CDCD-6DDC48FAF94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974D895C-857A-3F7A-DF60-2B4978BFD82B}"/>
              </a:ext>
            </a:extLst>
          </p:cNvPr>
          <p:cNvSpPr>
            <a:spLocks noGrp="1"/>
          </p:cNvSpPr>
          <p:nvPr>
            <p:ph type="sldNum" sz="quarter" idx="12"/>
          </p:nvPr>
        </p:nvSpPr>
        <p:spPr>
          <a:xfrm>
            <a:off x="8610600" y="6356350"/>
            <a:ext cx="2743200" cy="365125"/>
          </a:xfrm>
          <a:prstGeom prst="rect">
            <a:avLst/>
          </a:prstGeom>
        </p:spPr>
        <p:txBody>
          <a:bodyPr/>
          <a:lstStyle/>
          <a:p>
            <a:fld id="{C5128417-95CA-4AC7-987B-5C7A019F595A}" type="slidenum">
              <a:rPr lang="en-GB" smtClean="0"/>
              <a:t>‹#›</a:t>
            </a:fld>
            <a:endParaRPr lang="en-GB"/>
          </a:p>
        </p:txBody>
      </p:sp>
    </p:spTree>
    <p:extLst>
      <p:ext uri="{BB962C8B-B14F-4D97-AF65-F5344CB8AC3E}">
        <p14:creationId xmlns:p14="http://schemas.microsoft.com/office/powerpoint/2010/main" val="17351999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12E3B4-1572-BBD0-1AF1-B269EE7D07C6}"/>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BD04431-5D53-D3B0-C8DF-05ABC4D30C41}"/>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86D1872-0717-B1C2-AC51-0376BF6ACE49}"/>
              </a:ext>
            </a:extLst>
          </p:cNvPr>
          <p:cNvSpPr>
            <a:spLocks noGrp="1"/>
          </p:cNvSpPr>
          <p:nvPr>
            <p:ph type="dt" sz="half" idx="10"/>
          </p:nvPr>
        </p:nvSpPr>
        <p:spPr>
          <a:xfrm>
            <a:off x="838200" y="6356350"/>
            <a:ext cx="2743200" cy="365125"/>
          </a:xfrm>
          <a:prstGeom prst="rect">
            <a:avLst/>
          </a:prstGeom>
        </p:spPr>
        <p:txBody>
          <a:bodyPr/>
          <a:lstStyle/>
          <a:p>
            <a:fld id="{390E9E7C-8E3C-488F-BD25-F7F6F3BF6374}" type="datetimeFigureOut">
              <a:rPr lang="en-GB" smtClean="0"/>
              <a:t>03/03/2026</a:t>
            </a:fld>
            <a:endParaRPr lang="en-GB"/>
          </a:p>
        </p:txBody>
      </p:sp>
      <p:sp>
        <p:nvSpPr>
          <p:cNvPr id="5" name="Footer Placeholder 4">
            <a:extLst>
              <a:ext uri="{FF2B5EF4-FFF2-40B4-BE49-F238E27FC236}">
                <a16:creationId xmlns:a16="http://schemas.microsoft.com/office/drawing/2014/main" id="{94A8B04B-6FBE-2AA3-EDD3-A84E2FF7FE0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9567DD9B-A251-36AA-4D0C-9ABE02E011A6}"/>
              </a:ext>
            </a:extLst>
          </p:cNvPr>
          <p:cNvSpPr>
            <a:spLocks noGrp="1"/>
          </p:cNvSpPr>
          <p:nvPr>
            <p:ph type="sldNum" sz="quarter" idx="12"/>
          </p:nvPr>
        </p:nvSpPr>
        <p:spPr>
          <a:xfrm>
            <a:off x="8610600" y="6356350"/>
            <a:ext cx="2743200" cy="365125"/>
          </a:xfrm>
          <a:prstGeom prst="rect">
            <a:avLst/>
          </a:prstGeom>
        </p:spPr>
        <p:txBody>
          <a:bodyPr/>
          <a:lstStyle/>
          <a:p>
            <a:fld id="{C5128417-95CA-4AC7-987B-5C7A019F595A}" type="slidenum">
              <a:rPr lang="en-GB" smtClean="0"/>
              <a:t>‹#›</a:t>
            </a:fld>
            <a:endParaRPr lang="en-GB"/>
          </a:p>
        </p:txBody>
      </p:sp>
    </p:spTree>
    <p:extLst>
      <p:ext uri="{BB962C8B-B14F-4D97-AF65-F5344CB8AC3E}">
        <p14:creationId xmlns:p14="http://schemas.microsoft.com/office/powerpoint/2010/main" val="30535988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12192000" cy="900000"/>
          </a:xfrm>
          <a:prstGeom prst="rect">
            <a:avLst/>
          </a:prstGeom>
          <a:solidFill>
            <a:srgbClr val="002B5C"/>
          </a:solidFill>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166018"/>
            <a:ext cx="1124712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3E7665CD-9D90-8073-EDA9-D3D72209D16B}"/>
              </a:ext>
            </a:extLst>
          </p:cNvPr>
          <p:cNvSpPr txBox="1">
            <a:spLocks/>
          </p:cNvSpPr>
          <p:nvPr userDrawn="1"/>
        </p:nvSpPr>
        <p:spPr>
          <a:xfrm>
            <a:off x="457200" y="6480048"/>
            <a:ext cx="2865120" cy="317594"/>
          </a:xfrm>
          <a:prstGeom prst="rect">
            <a:avLst/>
          </a:prstGeom>
        </p:spPr>
        <p:txBody>
          <a:bodyPr vert="horz" lIns="91440" tIns="45720" rIns="91440" bIns="45720" rtlCol="0" anchor="ctr"/>
          <a:lstStyle>
            <a:defPPr>
              <a:defRPr lang="en-US"/>
            </a:defPPr>
            <a:lvl1pPr marL="0" algn="r" defTabSz="457200" rtl="0" eaLnBrk="1" latinLnBrk="0" hangingPunct="1">
              <a:defRPr sz="1100" kern="1200">
                <a:solidFill>
                  <a:srgbClr val="002B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l-GR" sz="1000">
                <a:solidFill>
                  <a:srgbClr val="E86C00"/>
                </a:solidFill>
                <a:latin typeface="Aptos" panose="020B0004020202020204" pitchFamily="34" charset="0"/>
              </a:rPr>
              <a:t>Μάριος-Χρήστος Συρμακέζης</a:t>
            </a:r>
            <a:endParaRPr lang="en-US" sz="1000">
              <a:solidFill>
                <a:srgbClr val="E86C00"/>
              </a:solidFill>
              <a:latin typeface="Aptos" panose="020B0004020202020204" pitchFamily="34" charset="0"/>
            </a:endParaRPr>
          </a:p>
        </p:txBody>
      </p:sp>
      <p:sp>
        <p:nvSpPr>
          <p:cNvPr id="12" name="Rectangle 11">
            <a:extLst>
              <a:ext uri="{FF2B5EF4-FFF2-40B4-BE49-F238E27FC236}">
                <a16:creationId xmlns:a16="http://schemas.microsoft.com/office/drawing/2014/main" id="{7F8C5E39-BC28-8C9E-0579-4F6BFA0091DF}"/>
              </a:ext>
            </a:extLst>
          </p:cNvPr>
          <p:cNvSpPr/>
          <p:nvPr userDrawn="1"/>
        </p:nvSpPr>
        <p:spPr>
          <a:xfrm>
            <a:off x="0" y="900000"/>
            <a:ext cx="12191695"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2216B43A-2BE9-2B66-DB9D-9449C972909E}"/>
              </a:ext>
            </a:extLst>
          </p:cNvPr>
          <p:cNvSpPr/>
          <p:nvPr userDrawn="1"/>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ooter Placeholder 4">
            <a:extLst>
              <a:ext uri="{FF2B5EF4-FFF2-40B4-BE49-F238E27FC236}">
                <a16:creationId xmlns:a16="http://schemas.microsoft.com/office/drawing/2014/main" id="{56615EAF-8ABF-D0B2-4C81-237C6B653C44}"/>
              </a:ext>
            </a:extLst>
          </p:cNvPr>
          <p:cNvSpPr txBox="1">
            <a:spLocks/>
          </p:cNvSpPr>
          <p:nvPr userDrawn="1"/>
        </p:nvSpPr>
        <p:spPr>
          <a:xfrm>
            <a:off x="8961120" y="6480048"/>
            <a:ext cx="2743200" cy="317594"/>
          </a:xfrm>
          <a:prstGeom prst="rect">
            <a:avLst/>
          </a:prstGeom>
        </p:spPr>
        <p:txBody>
          <a:bodyPr vert="horz" lIns="91440" tIns="45720" rIns="91440" bIns="45720" rtlCol="0" anchor="ctr"/>
          <a:lstStyle>
            <a:defPPr>
              <a:defRPr lang="en-US"/>
            </a:defPPr>
            <a:lvl1pPr marL="0" algn="r" defTabSz="457200" rtl="0" eaLnBrk="1" latinLnBrk="0" hangingPunct="1">
              <a:defRPr sz="1100" kern="1200">
                <a:solidFill>
                  <a:srgbClr val="002B5C"/>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l-GR" sz="1000">
                <a:solidFill>
                  <a:srgbClr val="E86C00"/>
                </a:solidFill>
                <a:latin typeface="Aptos" panose="020B0004020202020204" pitchFamily="34" charset="0"/>
              </a:rPr>
              <a:t>Διπλωματική Εργασία – Μάρτιος 2026</a:t>
            </a:r>
            <a:endParaRPr lang="en-US" sz="800">
              <a:solidFill>
                <a:srgbClr val="E86C00"/>
              </a:solidFill>
              <a:latin typeface="Aptos" panose="020B0004020202020204" pitchFamily="34" charset="0"/>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0" r:id="rId1"/>
    <p:sldLayoutId id="2147483654" r:id="rId2"/>
    <p:sldLayoutId id="2147483655" r:id="rId3"/>
  </p:sldLayoutIdLst>
  <p:txStyles>
    <p:titleStyle>
      <a:lvl1pPr algn="l" defTabSz="457200" rtl="0" eaLnBrk="1" latinLnBrk="0" hangingPunct="1">
        <a:spcBef>
          <a:spcPct val="0"/>
        </a:spcBef>
        <a:buNone/>
        <a:defRPr sz="3200" b="1" kern="1200">
          <a:solidFill>
            <a:schemeClr val="bg1"/>
          </a:solidFill>
          <a:latin typeface="Aptos" panose="020B0004020202020204" pitchFamily="34" charset="0"/>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Aptos" panose="020B0004020202020204" pitchFamily="34"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Aptos" panose="020B0004020202020204" pitchFamily="34"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Aptos" panose="020B0004020202020204" pitchFamily="34"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Aptos" panose="020B0004020202020204" pitchFamily="34"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Aptos" panose="020B0004020202020204" pitchFamily="34"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140278"/>
      </p:ext>
    </p:extLst>
  </p:cSld>
  <p:clrMap bg1="lt1" tx1="dk1" bg2="lt2" tx2="dk2" accent1="accent1" accent2="accent2" accent3="accent3" accent4="accent4" accent5="accent5" accent6="accent6" hlink="hlink" folHlink="folHlink"/>
  <p:sldLayoutIdLst>
    <p:sldLayoutId id="2147483667" r:id="rId1"/>
    <p:sldLayoutId id="2147483661" r:id="rId2"/>
    <p:sldLayoutId id="2147483662" r:id="rId3"/>
    <p:sldLayoutId id="2147483663" r:id="rId4"/>
    <p:sldLayoutId id="2147483664" r:id="rId5"/>
    <p:sldLayoutId id="2147483665" r:id="rId6"/>
    <p:sldLayoutId id="2147483666"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pic>
        <p:nvPicPr>
          <p:cNvPr id="2" name="Picture 1" descr="ntua-logo.png"/>
          <p:cNvPicPr>
            <a:picLocks noChangeAspect="1"/>
          </p:cNvPicPr>
          <p:nvPr/>
        </p:nvPicPr>
        <p:blipFill>
          <a:blip r:embed="rId3">
            <a:lum bright="70000" contrast="-70000"/>
            <a:extLst>
              <a:ext uri="{BEBA8EAE-BF5A-486C-A8C5-ECC9F3942E4B}">
                <a14:imgProps xmlns:a14="http://schemas.microsoft.com/office/drawing/2010/main">
                  <a14:imgLayer r:embed="rId4">
                    <a14:imgEffect>
                      <a14:brightnessContrast bright="6000"/>
                    </a14:imgEffect>
                  </a14:imgLayer>
                </a14:imgProps>
              </a:ext>
            </a:extLst>
          </a:blip>
          <a:stretch>
            <a:fillRect/>
          </a:stretch>
        </p:blipFill>
        <p:spPr>
          <a:xfrm>
            <a:off x="5120640" y="365760"/>
            <a:ext cx="1367983" cy="1371600"/>
          </a:xfrm>
          <a:prstGeom prst="rect">
            <a:avLst/>
          </a:prstGeom>
          <a:ln>
            <a:noFill/>
          </a:ln>
        </p:spPr>
      </p:pic>
      <p:sp>
        <p:nvSpPr>
          <p:cNvPr id="3" name="TextBox 2"/>
          <p:cNvSpPr txBox="1"/>
          <p:nvPr/>
        </p:nvSpPr>
        <p:spPr>
          <a:xfrm>
            <a:off x="914400" y="1828800"/>
            <a:ext cx="10362895" cy="1138773"/>
          </a:xfrm>
          <a:prstGeom prst="rect">
            <a:avLst/>
          </a:prstGeom>
          <a:noFill/>
        </p:spPr>
        <p:txBody>
          <a:bodyPr wrap="square" lIns="91440" tIns="45720" rIns="91440" bIns="45720" anchor="t">
            <a:spAutoFit/>
          </a:bodyPr>
          <a:lstStyle/>
          <a:p>
            <a:pPr algn="ctr">
              <a:defRPr sz="3400" b="1">
                <a:solidFill>
                  <a:srgbClr val="FFFFFF"/>
                </a:solidFill>
                <a:latin typeface="Calibri"/>
              </a:defRPr>
            </a:pPr>
            <a:r>
              <a:rPr lang="en-US">
                <a:latin typeface="Aptos Display"/>
                <a:ea typeface="+mn-lt"/>
                <a:cs typeface="+mn-lt"/>
              </a:rPr>
              <a:t>Ταξινόμηση Νόσου Parkinson μέσω Φωνής με Χρήση Κλασικής Μηχανικής Μάθησης</a:t>
            </a:r>
            <a:endParaRPr lang="en-US">
              <a:latin typeface="Aptos Display"/>
            </a:endParaRPr>
          </a:p>
        </p:txBody>
      </p:sp>
      <p:sp>
        <p:nvSpPr>
          <p:cNvPr id="5" name="Rectangle 4"/>
          <p:cNvSpPr/>
          <p:nvPr/>
        </p:nvSpPr>
        <p:spPr>
          <a:xfrm>
            <a:off x="3368233" y="3052722"/>
            <a:ext cx="4876495" cy="27432"/>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3936" y="3427198"/>
            <a:ext cx="10362895" cy="400110"/>
          </a:xfrm>
          <a:prstGeom prst="rect">
            <a:avLst/>
          </a:prstGeom>
          <a:noFill/>
        </p:spPr>
        <p:txBody>
          <a:bodyPr wrap="square" lIns="91440" tIns="45720" rIns="91440" bIns="45720" anchor="t">
            <a:spAutoFit/>
          </a:bodyPr>
          <a:lstStyle/>
          <a:p>
            <a:pPr algn="ctr">
              <a:defRPr sz="2000" b="0">
                <a:solidFill>
                  <a:srgbClr val="D6E8F7"/>
                </a:solidFill>
                <a:latin typeface="Calibri"/>
              </a:defRPr>
            </a:pPr>
            <a:r>
              <a:rPr lang="el-GR">
                <a:latin typeface="+mj-lt"/>
              </a:rPr>
              <a:t>Μάριος</a:t>
            </a:r>
            <a:r>
              <a:rPr>
                <a:latin typeface="+mj-lt"/>
              </a:rPr>
              <a:t> Χρήστος Συρμακέζης</a:t>
            </a:r>
            <a:endParaRPr lang="en-US">
              <a:latin typeface="+mj-lt"/>
            </a:endParaRPr>
          </a:p>
        </p:txBody>
      </p:sp>
      <p:sp>
        <p:nvSpPr>
          <p:cNvPr id="7" name="TextBox 6"/>
          <p:cNvSpPr txBox="1"/>
          <p:nvPr/>
        </p:nvSpPr>
        <p:spPr>
          <a:xfrm>
            <a:off x="933226" y="3892734"/>
            <a:ext cx="10362895" cy="369332"/>
          </a:xfrm>
          <a:prstGeom prst="rect">
            <a:avLst/>
          </a:prstGeom>
          <a:noFill/>
        </p:spPr>
        <p:txBody>
          <a:bodyPr wrap="square" lIns="91440" tIns="45720" rIns="91440" bIns="45720" anchor="t">
            <a:spAutoFit/>
          </a:bodyPr>
          <a:lstStyle/>
          <a:p>
            <a:pPr algn="ctr">
              <a:defRPr sz="1800" b="0">
                <a:solidFill>
                  <a:srgbClr val="D6E8F7"/>
                </a:solidFill>
                <a:latin typeface="Calibri"/>
              </a:defRPr>
            </a:pPr>
            <a:r>
              <a:rPr lang="en-US" i="1">
                <a:latin typeface="+mj-lt"/>
                <a:ea typeface="Calibri"/>
                <a:cs typeface="Calibri"/>
              </a:rPr>
              <a:t>Διπλωματική Εργασία</a:t>
            </a:r>
          </a:p>
        </p:txBody>
      </p:sp>
      <p:sp>
        <p:nvSpPr>
          <p:cNvPr id="8" name="TextBox 7"/>
          <p:cNvSpPr txBox="1"/>
          <p:nvPr/>
        </p:nvSpPr>
        <p:spPr>
          <a:xfrm>
            <a:off x="625962" y="5757931"/>
            <a:ext cx="10671087" cy="338554"/>
          </a:xfrm>
          <a:prstGeom prst="rect">
            <a:avLst/>
          </a:prstGeom>
          <a:noFill/>
        </p:spPr>
        <p:txBody>
          <a:bodyPr wrap="square" lIns="91440" tIns="45720" rIns="91440" bIns="45720" anchor="t">
            <a:spAutoFit/>
          </a:bodyPr>
          <a:lstStyle/>
          <a:p>
            <a:pPr algn="ctr">
              <a:defRPr sz="1600" b="0">
                <a:solidFill>
                  <a:srgbClr val="999999"/>
                </a:solidFill>
                <a:latin typeface="Calibri"/>
              </a:defRPr>
            </a:pPr>
            <a:r>
              <a:rPr lang="el-GR">
                <a:latin typeface="+mj-lt"/>
              </a:rPr>
              <a:t>Εθνικό Μετσόβιο Πολυτεχνείο</a:t>
            </a:r>
            <a:endParaRPr lang="en-US">
              <a:latin typeface="+mj-lt"/>
            </a:endParaRPr>
          </a:p>
        </p:txBody>
      </p:sp>
      <p:sp>
        <p:nvSpPr>
          <p:cNvPr id="9" name="TextBox 8"/>
          <p:cNvSpPr txBox="1"/>
          <p:nvPr/>
        </p:nvSpPr>
        <p:spPr>
          <a:xfrm>
            <a:off x="896038" y="6091781"/>
            <a:ext cx="10362895" cy="338554"/>
          </a:xfrm>
          <a:prstGeom prst="rect">
            <a:avLst/>
          </a:prstGeom>
          <a:noFill/>
        </p:spPr>
        <p:txBody>
          <a:bodyPr wrap="square" lIns="91440" tIns="45720" rIns="91440" bIns="45720" anchor="t">
            <a:spAutoFit/>
          </a:bodyPr>
          <a:lstStyle/>
          <a:p>
            <a:pPr algn="ctr">
              <a:defRPr sz="1600" b="0">
                <a:solidFill>
                  <a:srgbClr val="999999"/>
                </a:solidFill>
                <a:latin typeface="Calibri"/>
              </a:defRPr>
            </a:pPr>
            <a:r>
              <a:rPr lang="el-GR">
                <a:latin typeface="+mj-lt"/>
              </a:rPr>
              <a:t>Μάρτιος 2026</a:t>
            </a:r>
            <a:endParaRPr>
              <a:latin typeface="+mj-lt"/>
            </a:endParaRPr>
          </a:p>
        </p:txBody>
      </p:sp>
      <p:sp>
        <p:nvSpPr>
          <p:cNvPr id="11" name="TextBox 10">
            <a:extLst>
              <a:ext uri="{FF2B5EF4-FFF2-40B4-BE49-F238E27FC236}">
                <a16:creationId xmlns:a16="http://schemas.microsoft.com/office/drawing/2014/main" id="{9D902C10-EBB3-6164-917E-BB16591A9F9B}"/>
              </a:ext>
            </a:extLst>
          </p:cNvPr>
          <p:cNvSpPr txBox="1"/>
          <p:nvPr/>
        </p:nvSpPr>
        <p:spPr>
          <a:xfrm>
            <a:off x="913935" y="4548633"/>
            <a:ext cx="4893857" cy="923330"/>
          </a:xfrm>
          <a:prstGeom prst="rect">
            <a:avLst/>
          </a:prstGeom>
          <a:noFill/>
        </p:spPr>
        <p:txBody>
          <a:bodyPr wrap="square" lIns="91440" tIns="45720" rIns="91440" bIns="45720" anchor="t">
            <a:spAutoFit/>
          </a:bodyPr>
          <a:lstStyle/>
          <a:p>
            <a:pPr algn="ctr">
              <a:defRPr sz="1800" b="0">
                <a:solidFill>
                  <a:srgbClr val="D6E8F7"/>
                </a:solidFill>
                <a:latin typeface="Calibri"/>
              </a:defRPr>
            </a:pPr>
            <a:r>
              <a:rPr lang="en-US">
                <a:latin typeface="+mj-lt"/>
                <a:ea typeface="Calibri"/>
                <a:cs typeface="Calibri"/>
              </a:rPr>
              <a:t>Επιβλέπων: </a:t>
            </a:r>
            <a:endParaRPr lang="en-US">
              <a:ea typeface="Calibri"/>
              <a:cs typeface="Calibri"/>
            </a:endParaRPr>
          </a:p>
          <a:p>
            <a:pPr algn="ctr">
              <a:defRPr sz="1800" b="0">
                <a:solidFill>
                  <a:srgbClr val="D6E8F7"/>
                </a:solidFill>
                <a:latin typeface="Calibri"/>
              </a:defRPr>
            </a:pPr>
            <a:r>
              <a:rPr lang="en-US">
                <a:ea typeface="+mn-lt"/>
                <a:cs typeface="+mn-lt"/>
              </a:rPr>
              <a:t>Γεώργιος Ματσόπουλος </a:t>
            </a:r>
            <a:endParaRPr lang="en-US">
              <a:ea typeface="Calibri"/>
              <a:cs typeface="Calibri"/>
            </a:endParaRPr>
          </a:p>
          <a:p>
            <a:pPr algn="ctr">
              <a:defRPr sz="1800" b="0">
                <a:solidFill>
                  <a:srgbClr val="D6E8F7"/>
                </a:solidFill>
                <a:latin typeface="Calibri"/>
              </a:defRPr>
            </a:pPr>
            <a:r>
              <a:rPr lang="en-US">
                <a:ea typeface="+mn-lt"/>
                <a:cs typeface="+mn-lt"/>
              </a:rPr>
              <a:t>Καθηγητής, Ε.Μ.Π.</a:t>
            </a:r>
            <a:endParaRPr lang="en-US">
              <a:ea typeface="Calibri"/>
              <a:cs typeface="Calibri"/>
            </a:endParaRPr>
          </a:p>
        </p:txBody>
      </p:sp>
      <p:sp>
        <p:nvSpPr>
          <p:cNvPr id="12" name="TextBox 11">
            <a:extLst>
              <a:ext uri="{FF2B5EF4-FFF2-40B4-BE49-F238E27FC236}">
                <a16:creationId xmlns:a16="http://schemas.microsoft.com/office/drawing/2014/main" id="{0D711051-0D50-48E6-2578-6A8A2240D156}"/>
              </a:ext>
            </a:extLst>
          </p:cNvPr>
          <p:cNvSpPr txBox="1"/>
          <p:nvPr/>
        </p:nvSpPr>
        <p:spPr>
          <a:xfrm>
            <a:off x="5804238" y="4548632"/>
            <a:ext cx="5472591" cy="923330"/>
          </a:xfrm>
          <a:prstGeom prst="rect">
            <a:avLst/>
          </a:prstGeom>
          <a:noFill/>
        </p:spPr>
        <p:txBody>
          <a:bodyPr wrap="square" lIns="91440" tIns="45720" rIns="91440" bIns="45720" anchor="t">
            <a:spAutoFit/>
          </a:bodyPr>
          <a:lstStyle/>
          <a:p>
            <a:pPr algn="ctr">
              <a:defRPr sz="1800" b="0">
                <a:solidFill>
                  <a:srgbClr val="D6E8F7"/>
                </a:solidFill>
                <a:latin typeface="Calibri"/>
              </a:defRPr>
            </a:pPr>
            <a:r>
              <a:rPr lang="en-US">
                <a:ea typeface="+mn-lt"/>
                <a:cs typeface="+mn-lt"/>
              </a:rPr>
              <a:t>Συνεπιβλέπουσα</a:t>
            </a:r>
            <a:r>
              <a:rPr lang="en-US">
                <a:latin typeface="+mj-lt"/>
                <a:ea typeface="Calibri"/>
                <a:cs typeface="Calibri"/>
              </a:rPr>
              <a:t>: </a:t>
            </a:r>
            <a:endParaRPr lang="en-US">
              <a:ea typeface="Calibri"/>
              <a:cs typeface="Calibri"/>
            </a:endParaRPr>
          </a:p>
          <a:p>
            <a:pPr algn="ctr">
              <a:defRPr sz="1800" b="0">
                <a:solidFill>
                  <a:srgbClr val="D6E8F7"/>
                </a:solidFill>
                <a:latin typeface="Calibri"/>
              </a:defRPr>
            </a:pPr>
            <a:r>
              <a:rPr lang="en-US">
                <a:ea typeface="+mn-lt"/>
                <a:cs typeface="+mn-lt"/>
              </a:rPr>
              <a:t>Δρ. Ουρανία Πετροπούλου</a:t>
            </a:r>
            <a:endParaRPr lang="en-US"/>
          </a:p>
          <a:p>
            <a:pPr algn="ctr">
              <a:defRPr sz="1800" b="0">
                <a:solidFill>
                  <a:srgbClr val="D6E8F7"/>
                </a:solidFill>
                <a:latin typeface="Calibri"/>
              </a:defRPr>
            </a:pPr>
            <a:r>
              <a:rPr lang="en-US">
                <a:ea typeface="+mn-lt"/>
                <a:cs typeface="+mn-lt"/>
              </a:rPr>
              <a:t>ΕΔΙΠ, Ε.Μ.Π.</a:t>
            </a:r>
            <a:endParaRPr lang="en-US">
              <a:ea typeface="Calibri"/>
              <a:cs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a:extLst>
            <a:ext uri="{FF2B5EF4-FFF2-40B4-BE49-F238E27FC236}">
              <a16:creationId xmlns:a16="http://schemas.microsoft.com/office/drawing/2014/main" id="{9AFC605B-D68F-FDA9-E765-64609F0F00C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E7E8BE1-E322-DDF5-6A7B-08D31DF394F7}"/>
              </a:ext>
            </a:extLst>
          </p:cNvPr>
          <p:cNvSpPr txBox="1"/>
          <p:nvPr/>
        </p:nvSpPr>
        <p:spPr>
          <a:xfrm>
            <a:off x="3513565" y="1593609"/>
            <a:ext cx="5164870" cy="4193456"/>
          </a:xfrm>
          <a:prstGeom prst="rect">
            <a:avLst/>
          </a:prstGeom>
          <a:noFill/>
        </p:spPr>
        <p:txBody>
          <a:bodyPr wrap="square" lIns="91440" tIns="45720" rIns="91440" bIns="45720" anchor="t">
            <a:spAutoFit/>
          </a:bodyPr>
          <a:lstStyle/>
          <a:p>
            <a:pPr marL="360045" indent="-360045">
              <a:spcBef>
                <a:spcPts val="1800"/>
              </a:spcBef>
              <a:spcAft>
                <a:spcPts val="300"/>
              </a:spcAft>
              <a:buAutoNum type="arabicPeriod"/>
              <a:defRPr sz="1800" b="0">
                <a:solidFill>
                  <a:srgbClr val="1A1A1A"/>
                </a:solidFill>
                <a:latin typeface="Calibri"/>
              </a:defRPr>
            </a:pPr>
            <a:r>
              <a:rPr lang="en-US" err="1">
                <a:solidFill>
                  <a:schemeClr val="bg1"/>
                </a:solidFill>
                <a:latin typeface="Calibri"/>
                <a:ea typeface="+mn-lt"/>
                <a:cs typeface="+mn-lt"/>
              </a:rPr>
              <a:t>Εισ</a:t>
            </a:r>
            <a:r>
              <a:rPr lang="en-US">
                <a:solidFill>
                  <a:schemeClr val="bg1"/>
                </a:solidFill>
                <a:latin typeface="Calibri"/>
                <a:ea typeface="+mn-lt"/>
                <a:cs typeface="+mn-lt"/>
              </a:rPr>
              <a:t>αγωγή</a:t>
            </a:r>
            <a:endParaRPr lang="en-US">
              <a:solidFill>
                <a:schemeClr val="bg1"/>
              </a:solidFill>
              <a:latin typeface="Calibri"/>
              <a:ea typeface="Calibri"/>
              <a:cs typeface="Calibri"/>
            </a:endParaRPr>
          </a:p>
          <a:p>
            <a:pPr marL="360045" indent="-360045">
              <a:spcBef>
                <a:spcPts val="1800"/>
              </a:spcBef>
              <a:spcAft>
                <a:spcPts val="300"/>
              </a:spcAft>
              <a:buAutoNum type="arabicPeriod"/>
              <a:defRPr sz="1800">
                <a:solidFill>
                  <a:srgbClr val="1A1A1A"/>
                </a:solidFill>
                <a:latin typeface="Calibri"/>
              </a:defRPr>
            </a:pPr>
            <a:r>
              <a:rPr lang="en-US" err="1">
                <a:solidFill>
                  <a:schemeClr val="bg1"/>
                </a:solidFill>
                <a:latin typeface="Calibri"/>
                <a:ea typeface="+mn-lt"/>
                <a:cs typeface="+mn-lt"/>
              </a:rPr>
              <a:t>Βι</a:t>
            </a:r>
            <a:r>
              <a:rPr lang="en-US">
                <a:solidFill>
                  <a:schemeClr val="bg1"/>
                </a:solidFill>
                <a:latin typeface="Calibri"/>
                <a:ea typeface="+mn-lt"/>
                <a:cs typeface="+mn-lt"/>
              </a:rPr>
              <a:t>βλιογραφική Ανασκόπηση</a:t>
            </a:r>
          </a:p>
          <a:p>
            <a:pPr marL="360045" indent="-360045">
              <a:spcBef>
                <a:spcPts val="1800"/>
              </a:spcBef>
              <a:spcAft>
                <a:spcPts val="300"/>
              </a:spcAft>
              <a:buAutoNum type="arabicPeriod"/>
              <a:defRPr sz="1800">
                <a:solidFill>
                  <a:srgbClr val="1A1A1A"/>
                </a:solidFill>
                <a:latin typeface="Calibri"/>
              </a:defRPr>
            </a:pPr>
            <a:r>
              <a:rPr lang="el-GR">
                <a:solidFill>
                  <a:schemeClr val="bg1"/>
                </a:solidFill>
                <a:latin typeface="Calibri"/>
                <a:ea typeface="Calibri"/>
                <a:cs typeface="Calibri"/>
              </a:rPr>
              <a:t>Περιγραφή Δεδομένων</a:t>
            </a:r>
            <a:endParaRPr>
              <a:solidFill>
                <a:schemeClr val="bg1"/>
              </a:solidFill>
              <a:latin typeface="Calibri"/>
              <a:ea typeface="Calibri"/>
              <a:cs typeface="Calibri"/>
            </a:endParaRPr>
          </a:p>
          <a:p>
            <a:pPr marL="360045" indent="-360045">
              <a:spcBef>
                <a:spcPts val="1800"/>
              </a:spcBef>
              <a:spcAft>
                <a:spcPts val="300"/>
              </a:spcAft>
              <a:buFont typeface="+mj-lt"/>
              <a:buAutoNum type="arabicPeriod"/>
              <a:defRPr sz="1800">
                <a:solidFill>
                  <a:srgbClr val="1A1A1A"/>
                </a:solidFill>
                <a:latin typeface="Calibri"/>
              </a:defRPr>
            </a:pPr>
            <a:r>
              <a:rPr lang="el-GR">
                <a:solidFill>
                  <a:schemeClr val="bg1"/>
                </a:solidFill>
                <a:latin typeface="Calibri"/>
                <a:ea typeface="Calibri"/>
                <a:cs typeface="Calibri"/>
              </a:rPr>
              <a:t>Μεθοδολογία (</a:t>
            </a:r>
            <a:r>
              <a:rPr lang="el-GR" err="1">
                <a:solidFill>
                  <a:schemeClr val="bg1"/>
                </a:solidFill>
                <a:latin typeface="Calibri"/>
                <a:ea typeface="Calibri"/>
                <a:cs typeface="Calibri"/>
              </a:rPr>
              <a:t>Feature</a:t>
            </a:r>
            <a:r>
              <a:rPr lang="el-GR">
                <a:solidFill>
                  <a:schemeClr val="bg1"/>
                </a:solidFill>
                <a:latin typeface="Calibri"/>
                <a:ea typeface="Calibri"/>
                <a:cs typeface="Calibri"/>
              </a:rPr>
              <a:t> </a:t>
            </a:r>
            <a:r>
              <a:rPr lang="el-GR" err="1">
                <a:solidFill>
                  <a:schemeClr val="bg1"/>
                </a:solidFill>
                <a:latin typeface="Calibri"/>
                <a:ea typeface="Calibri"/>
                <a:cs typeface="Calibri"/>
              </a:rPr>
              <a:t>Extraction</a:t>
            </a:r>
            <a:r>
              <a:rPr lang="el-GR">
                <a:solidFill>
                  <a:schemeClr val="bg1"/>
                </a:solidFill>
                <a:latin typeface="Calibri"/>
                <a:ea typeface="Calibri"/>
                <a:cs typeface="Calibri"/>
              </a:rPr>
              <a:t> + ML </a:t>
            </a:r>
            <a:r>
              <a:rPr lang="el-GR" err="1">
                <a:solidFill>
                  <a:schemeClr val="bg1"/>
                </a:solidFill>
                <a:latin typeface="Calibri"/>
                <a:ea typeface="Calibri"/>
                <a:cs typeface="Calibri"/>
              </a:rPr>
              <a:t>Pipeline</a:t>
            </a:r>
            <a:r>
              <a:rPr lang="el-GR">
                <a:solidFill>
                  <a:schemeClr val="bg1"/>
                </a:solidFill>
                <a:latin typeface="Calibri"/>
                <a:ea typeface="Calibri"/>
                <a:cs typeface="Calibri"/>
              </a:rPr>
              <a:t>)</a:t>
            </a:r>
            <a:endParaRPr>
              <a:solidFill>
                <a:schemeClr val="bg1"/>
              </a:solidFill>
              <a:latin typeface="Calibri"/>
              <a:ea typeface="Calibri"/>
              <a:cs typeface="Calibri"/>
            </a:endParaRPr>
          </a:p>
          <a:p>
            <a:pPr marL="360045" indent="-360045">
              <a:spcBef>
                <a:spcPts val="1800"/>
              </a:spcBef>
              <a:spcAft>
                <a:spcPts val="300"/>
              </a:spcAft>
              <a:buFont typeface="+mj-lt"/>
              <a:buAutoNum type="arabicPeriod"/>
              <a:defRPr sz="1800">
                <a:solidFill>
                  <a:srgbClr val="1A1A1A"/>
                </a:solidFill>
                <a:latin typeface="Calibri"/>
              </a:defRPr>
            </a:pPr>
            <a:r>
              <a:rPr lang="el-GR">
                <a:solidFill>
                  <a:schemeClr val="bg1"/>
                </a:solidFill>
                <a:latin typeface="Calibri"/>
                <a:ea typeface="Calibri"/>
                <a:cs typeface="Calibri"/>
              </a:rPr>
              <a:t>Σχεδιασμός πειράματος (2×2×5)</a:t>
            </a:r>
          </a:p>
          <a:p>
            <a:pPr marL="360045" indent="-360045">
              <a:spcBef>
                <a:spcPts val="1800"/>
              </a:spcBef>
              <a:spcAft>
                <a:spcPts val="300"/>
              </a:spcAft>
              <a:buFont typeface="+mj-lt"/>
              <a:buAutoNum type="arabicPeriod"/>
              <a:defRPr sz="1800">
                <a:solidFill>
                  <a:srgbClr val="1A1A1A"/>
                </a:solidFill>
                <a:latin typeface="Calibri"/>
              </a:defRPr>
            </a:pPr>
            <a:r>
              <a:rPr lang="el-GR">
                <a:solidFill>
                  <a:schemeClr val="bg1"/>
                </a:solidFill>
                <a:latin typeface="Calibri"/>
                <a:ea typeface="Calibri"/>
                <a:cs typeface="Calibri"/>
              </a:rPr>
              <a:t>Αποτελέσματα </a:t>
            </a:r>
            <a:r>
              <a:rPr>
                <a:solidFill>
                  <a:schemeClr val="bg1"/>
                </a:solidFill>
                <a:latin typeface="Calibri"/>
                <a:ea typeface="Calibri"/>
                <a:cs typeface="Calibri"/>
              </a:rPr>
              <a:t>(ROC-AUC</a:t>
            </a:r>
            <a:r>
              <a:rPr lang="en-US">
                <a:solidFill>
                  <a:schemeClr val="bg1"/>
                </a:solidFill>
                <a:latin typeface="Calibri"/>
                <a:ea typeface="Calibri"/>
                <a:cs typeface="Calibri"/>
              </a:rPr>
              <a:t>, Confusion Matrices)</a:t>
            </a:r>
            <a:endParaRPr>
              <a:solidFill>
                <a:schemeClr val="bg1"/>
              </a:solidFill>
              <a:latin typeface="Calibri"/>
              <a:ea typeface="Calibri"/>
              <a:cs typeface="Calibri"/>
            </a:endParaRPr>
          </a:p>
          <a:p>
            <a:pPr marL="360045" indent="-360045">
              <a:spcBef>
                <a:spcPts val="1800"/>
              </a:spcBef>
              <a:spcAft>
                <a:spcPts val="300"/>
              </a:spcAft>
              <a:buFont typeface="+mj-lt"/>
              <a:buAutoNum type="arabicPeriod"/>
              <a:defRPr sz="1800">
                <a:solidFill>
                  <a:srgbClr val="1A1A1A"/>
                </a:solidFill>
                <a:latin typeface="Calibri"/>
              </a:defRPr>
            </a:pPr>
            <a:r>
              <a:rPr lang="el-GR">
                <a:solidFill>
                  <a:schemeClr val="bg1"/>
                </a:solidFill>
                <a:latin typeface="Calibri"/>
                <a:ea typeface="Calibri"/>
                <a:cs typeface="Calibri"/>
              </a:rPr>
              <a:t>Συζήτηση </a:t>
            </a:r>
            <a:r>
              <a:rPr>
                <a:solidFill>
                  <a:schemeClr val="bg1"/>
                </a:solidFill>
                <a:latin typeface="Calibri"/>
                <a:ea typeface="Calibri"/>
                <a:cs typeface="Calibri"/>
              </a:rPr>
              <a:t>&amp; Feature Importance</a:t>
            </a:r>
            <a:r>
              <a:rPr lang="en-US">
                <a:solidFill>
                  <a:schemeClr val="bg1"/>
                </a:solidFill>
                <a:latin typeface="Calibri"/>
                <a:ea typeface="Calibri"/>
                <a:cs typeface="Calibri"/>
              </a:rPr>
              <a:t> Heatmaps</a:t>
            </a:r>
            <a:endParaRPr>
              <a:solidFill>
                <a:schemeClr val="bg1"/>
              </a:solidFill>
              <a:latin typeface="Calibri"/>
              <a:ea typeface="Calibri"/>
              <a:cs typeface="Calibri"/>
            </a:endParaRPr>
          </a:p>
          <a:p>
            <a:pPr marL="360045" indent="-360045">
              <a:spcBef>
                <a:spcPts val="1800"/>
              </a:spcBef>
              <a:spcAft>
                <a:spcPts val="300"/>
              </a:spcAft>
              <a:buFont typeface="+mj-lt"/>
              <a:buAutoNum type="arabicPeriod"/>
              <a:defRPr sz="1800">
                <a:solidFill>
                  <a:srgbClr val="1A1A1A"/>
                </a:solidFill>
                <a:latin typeface="Calibri"/>
              </a:defRPr>
            </a:pPr>
            <a:r>
              <a:rPr lang="el-GR">
                <a:solidFill>
                  <a:schemeClr val="bg1"/>
                </a:solidFill>
                <a:latin typeface="Calibri"/>
                <a:ea typeface="Calibri"/>
                <a:cs typeface="Calibri"/>
              </a:rPr>
              <a:t>Περιορισμοί &amp; Συμπεράσματα</a:t>
            </a:r>
            <a:endParaRPr>
              <a:solidFill>
                <a:schemeClr val="bg1"/>
              </a:solidFill>
              <a:latin typeface="Calibri"/>
              <a:ea typeface="Calibri"/>
              <a:cs typeface="Calibri"/>
            </a:endParaRPr>
          </a:p>
        </p:txBody>
      </p:sp>
      <p:sp>
        <p:nvSpPr>
          <p:cNvPr id="7" name="Title 6">
            <a:extLst>
              <a:ext uri="{FF2B5EF4-FFF2-40B4-BE49-F238E27FC236}">
                <a16:creationId xmlns:a16="http://schemas.microsoft.com/office/drawing/2014/main" id="{A09EF478-E5B8-E451-A9C5-CE59EA4EBBF5}"/>
              </a:ext>
            </a:extLst>
          </p:cNvPr>
          <p:cNvSpPr>
            <a:spLocks noGrp="1"/>
          </p:cNvSpPr>
          <p:nvPr>
            <p:ph type="title" idx="4294967295"/>
          </p:nvPr>
        </p:nvSpPr>
        <p:spPr>
          <a:xfrm>
            <a:off x="2079171" y="308201"/>
            <a:ext cx="8033657" cy="900113"/>
          </a:xfrm>
          <a:prstGeom prst="rect">
            <a:avLst/>
          </a:prstGeom>
        </p:spPr>
        <p:txBody>
          <a:bodyPr/>
          <a:lstStyle/>
          <a:p>
            <a:pPr algn="ctr"/>
            <a:r>
              <a:rPr lang="en-US" sz="4000" b="1" err="1">
                <a:solidFill>
                  <a:schemeClr val="bg1"/>
                </a:solidFill>
                <a:latin typeface="Aptos"/>
              </a:rPr>
              <a:t>Περιεχόμεν</a:t>
            </a:r>
            <a:r>
              <a:rPr lang="en-US" sz="4000" b="1">
                <a:solidFill>
                  <a:schemeClr val="bg1"/>
                </a:solidFill>
                <a:latin typeface="Aptos"/>
              </a:rPr>
              <a:t>α Διπλωματικής</a:t>
            </a:r>
            <a:endParaRPr lang="en-US" sz="4000" b="1">
              <a:solidFill>
                <a:schemeClr val="bg1"/>
              </a:solidFill>
            </a:endParaRPr>
          </a:p>
        </p:txBody>
      </p:sp>
      <p:sp>
        <p:nvSpPr>
          <p:cNvPr id="2" name="Rectangle 1">
            <a:extLst>
              <a:ext uri="{FF2B5EF4-FFF2-40B4-BE49-F238E27FC236}">
                <a16:creationId xmlns:a16="http://schemas.microsoft.com/office/drawing/2014/main" id="{C8E82E43-F917-E415-79A3-19BBC4D2818A}"/>
              </a:ext>
            </a:extLst>
          </p:cNvPr>
          <p:cNvSpPr/>
          <p:nvPr/>
        </p:nvSpPr>
        <p:spPr>
          <a:xfrm>
            <a:off x="914552" y="1043503"/>
            <a:ext cx="10362895" cy="27432"/>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Tree>
    <p:extLst>
      <p:ext uri="{BB962C8B-B14F-4D97-AF65-F5344CB8AC3E}">
        <p14:creationId xmlns:p14="http://schemas.microsoft.com/office/powerpoint/2010/main" val="721651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fade">
                                      <p:cBhvr>
                                        <p:cTn id="11" dur="500"/>
                                        <p:tgtEl>
                                          <p:spTgt spid="4">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500"/>
                                        <p:tgtEl>
                                          <p:spTgt spid="4">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500"/>
                                        <p:tgtEl>
                                          <p:spTgt spid="4">
                                            <p:txEl>
                                              <p:pRg st="6" end="6"/>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Effect transition="in" filter="fade">
                                      <p:cBhvr>
                                        <p:cTn id="35"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4" name="TextBox 3"/>
          <p:cNvSpPr txBox="1"/>
          <p:nvPr/>
        </p:nvSpPr>
        <p:spPr>
          <a:xfrm>
            <a:off x="457201" y="1280160"/>
            <a:ext cx="3763453" cy="5047536"/>
          </a:xfrm>
          <a:prstGeom prst="rect">
            <a:avLst/>
          </a:prstGeom>
          <a:noFill/>
        </p:spPr>
        <p:txBody>
          <a:bodyPr wrap="square" lIns="91440" tIns="45720" rIns="91440" bIns="45720" anchor="t">
            <a:spAutoFit/>
          </a:bodyPr>
          <a:lstStyle/>
          <a:p>
            <a:pPr marL="269875" indent="-269875">
              <a:spcBef>
                <a:spcPts val="1800"/>
              </a:spcBef>
              <a:spcAft>
                <a:spcPts val="300"/>
              </a:spcAft>
              <a:buFont typeface="Arial" panose="020B0604020202020204" pitchFamily="34" charset="0"/>
              <a:buChar char="•"/>
              <a:defRPr sz="1800" b="0">
                <a:solidFill>
                  <a:srgbClr val="1A1A1A"/>
                </a:solidFill>
                <a:latin typeface="Calibri"/>
              </a:defRPr>
            </a:pPr>
            <a:r>
              <a:rPr>
                <a:solidFill>
                  <a:srgbClr val="002B5C"/>
                </a:solidFill>
                <a:latin typeface="Aptos"/>
              </a:rPr>
              <a:t>PD: </a:t>
            </a:r>
            <a:r>
              <a:rPr lang="en-US" b="1">
                <a:solidFill>
                  <a:srgbClr val="002B5C"/>
                </a:solidFill>
                <a:latin typeface="Aptos"/>
              </a:rPr>
              <a:t>2η </a:t>
            </a:r>
            <a:r>
              <a:rPr lang="el-GR" b="1">
                <a:solidFill>
                  <a:srgbClr val="002B5C"/>
                </a:solidFill>
                <a:latin typeface="Aptos"/>
              </a:rPr>
              <a:t>πιο συχνή</a:t>
            </a:r>
            <a:r>
              <a:rPr>
                <a:solidFill>
                  <a:srgbClr val="002B5C"/>
                </a:solidFill>
                <a:latin typeface="Aptos"/>
              </a:rPr>
              <a:t> </a:t>
            </a:r>
            <a:r>
              <a:rPr lang="en-US">
                <a:solidFill>
                  <a:srgbClr val="002B5C"/>
                </a:solidFill>
              </a:rPr>
              <a:t>νευροεκφυλιστική νόσος</a:t>
            </a:r>
            <a:br>
              <a:rPr lang="en-US">
                <a:solidFill>
                  <a:srgbClr val="002B5C"/>
                </a:solidFill>
                <a:ea typeface="Calibri"/>
                <a:cs typeface="Calibri"/>
              </a:rPr>
            </a:br>
            <a:r>
              <a:rPr>
                <a:solidFill>
                  <a:srgbClr val="002B5C"/>
                </a:solidFill>
                <a:latin typeface="Aptos"/>
              </a:rPr>
              <a:t>(~10M </a:t>
            </a:r>
            <a:r>
              <a:rPr lang="en-US">
                <a:solidFill>
                  <a:srgbClr val="002B5C"/>
                </a:solidFill>
              </a:rPr>
              <a:t>παγκοσμίως</a:t>
            </a:r>
            <a:r>
              <a:rPr>
                <a:solidFill>
                  <a:srgbClr val="002B5C"/>
                </a:solidFill>
                <a:latin typeface="Aptos"/>
              </a:rPr>
              <a:t>)</a:t>
            </a:r>
            <a:endParaRPr lang="en-US">
              <a:solidFill>
                <a:srgbClr val="002B5C"/>
              </a:solidFill>
            </a:endParaRPr>
          </a:p>
          <a:p>
            <a:pPr marL="269875" indent="-269875">
              <a:spcBef>
                <a:spcPts val="1800"/>
              </a:spcBef>
              <a:spcAft>
                <a:spcPts val="300"/>
              </a:spcAft>
              <a:buFont typeface="Arial" panose="020B0604020202020204" pitchFamily="34" charset="0"/>
              <a:buChar char="•"/>
              <a:defRPr sz="1800">
                <a:solidFill>
                  <a:srgbClr val="1A1A1A"/>
                </a:solidFill>
                <a:latin typeface="Calibri"/>
              </a:defRPr>
            </a:pPr>
            <a:r>
              <a:rPr>
                <a:solidFill>
                  <a:srgbClr val="002B5C"/>
                </a:solidFill>
              </a:rPr>
              <a:t>70</a:t>
            </a:r>
            <a:r>
              <a:rPr lang="en-GB">
                <a:solidFill>
                  <a:srgbClr val="002B5C"/>
                </a:solidFill>
              </a:rPr>
              <a:t>-</a:t>
            </a:r>
            <a:r>
              <a:rPr>
                <a:solidFill>
                  <a:srgbClr val="002B5C"/>
                </a:solidFill>
              </a:rPr>
              <a:t>90% </a:t>
            </a:r>
            <a:r>
              <a:rPr lang="el-GR">
                <a:solidFill>
                  <a:srgbClr val="002B5C"/>
                </a:solidFill>
              </a:rPr>
              <a:t>των ατόμων με </a:t>
            </a:r>
            <a:r>
              <a:rPr lang="en-US">
                <a:solidFill>
                  <a:srgbClr val="002B5C"/>
                </a:solidFill>
              </a:rPr>
              <a:t>PD</a:t>
            </a:r>
            <a:r>
              <a:rPr>
                <a:solidFill>
                  <a:srgbClr val="002B5C"/>
                </a:solidFill>
              </a:rPr>
              <a:t> </a:t>
            </a:r>
            <a:r>
              <a:rPr lang="en-US">
                <a:solidFill>
                  <a:srgbClr val="002B5C"/>
                </a:solidFill>
              </a:rPr>
              <a:t>εμφανίζουν μετρήσιμες διαταραχές ομιλίας</a:t>
            </a:r>
            <a:endParaRPr lang="en-US">
              <a:solidFill>
                <a:srgbClr val="002B5C"/>
              </a:solidFill>
              <a:ea typeface="Calibri"/>
              <a:cs typeface="Calibri"/>
            </a:endParaRPr>
          </a:p>
          <a:p>
            <a:pPr marL="269875" indent="-269875">
              <a:spcBef>
                <a:spcPts val="1800"/>
              </a:spcBef>
              <a:spcAft>
                <a:spcPts val="300"/>
              </a:spcAft>
              <a:buFont typeface="Arial" panose="020B0604020202020204" pitchFamily="34" charset="0"/>
              <a:buChar char="•"/>
              <a:defRPr sz="1800">
                <a:solidFill>
                  <a:srgbClr val="1A1A1A"/>
                </a:solidFill>
                <a:latin typeface="Calibri"/>
              </a:defRPr>
            </a:pPr>
            <a:r>
              <a:rPr lang="en-US">
                <a:solidFill>
                  <a:srgbClr val="002B5C"/>
                </a:solidFill>
              </a:rPr>
              <a:t>ϒποκινητική Δυσαρθρία </a:t>
            </a:r>
            <a:r>
              <a:rPr>
                <a:solidFill>
                  <a:srgbClr val="002B5C"/>
                </a:solidFill>
              </a:rPr>
              <a:t>: </a:t>
            </a:r>
            <a:r>
              <a:rPr lang="en-US">
                <a:solidFill>
                  <a:srgbClr val="002B5C"/>
                </a:solidFill>
              </a:rPr>
              <a:t>μειωμένη ένταση</a:t>
            </a:r>
            <a:r>
              <a:rPr>
                <a:solidFill>
                  <a:srgbClr val="002B5C"/>
                </a:solidFill>
              </a:rPr>
              <a:t>, </a:t>
            </a:r>
            <a:r>
              <a:rPr lang="en-US" b="1">
                <a:solidFill>
                  <a:srgbClr val="002B5C"/>
                </a:solidFill>
              </a:rPr>
              <a:t>monopitch</a:t>
            </a:r>
            <a:r>
              <a:rPr>
                <a:solidFill>
                  <a:srgbClr val="002B5C"/>
                </a:solidFill>
              </a:rPr>
              <a:t>, </a:t>
            </a:r>
            <a:r>
              <a:rPr lang="el-GR">
                <a:solidFill>
                  <a:srgbClr val="002B5C"/>
                </a:solidFill>
              </a:rPr>
              <a:t>βραχνάδα</a:t>
            </a:r>
            <a:r>
              <a:rPr lang="en-US">
                <a:solidFill>
                  <a:srgbClr val="002B5C"/>
                </a:solidFill>
              </a:rPr>
              <a:t> </a:t>
            </a:r>
            <a:endParaRPr>
              <a:solidFill>
                <a:srgbClr val="002B5C"/>
              </a:solidFill>
              <a:ea typeface="Calibri"/>
              <a:cs typeface="Calibri"/>
            </a:endParaRPr>
          </a:p>
          <a:p>
            <a:pPr marL="269875" indent="-269875">
              <a:spcBef>
                <a:spcPts val="1800"/>
              </a:spcBef>
              <a:spcAft>
                <a:spcPts val="300"/>
              </a:spcAft>
              <a:buFont typeface="Arial" panose="020B0604020202020204" pitchFamily="34" charset="0"/>
              <a:buChar char="•"/>
              <a:defRPr sz="1800">
                <a:solidFill>
                  <a:srgbClr val="1A1A1A"/>
                </a:solidFill>
                <a:latin typeface="Calibri"/>
              </a:defRPr>
            </a:pPr>
            <a:r>
              <a:rPr lang="el-GR">
                <a:solidFill>
                  <a:srgbClr val="002B5C"/>
                </a:solidFill>
              </a:rPr>
              <a:t>Αλλαγές</a:t>
            </a:r>
            <a:r>
              <a:rPr>
                <a:solidFill>
                  <a:srgbClr val="002B5C"/>
                </a:solidFill>
              </a:rPr>
              <a:t> </a:t>
            </a:r>
            <a:r>
              <a:rPr lang="el-GR">
                <a:solidFill>
                  <a:srgbClr val="002B5C"/>
                </a:solidFill>
              </a:rPr>
              <a:t>στη </a:t>
            </a:r>
            <a:r>
              <a:rPr lang="en-US">
                <a:solidFill>
                  <a:srgbClr val="002B5C"/>
                </a:solidFill>
              </a:rPr>
              <a:t>φωνή εμφανίζονται </a:t>
            </a:r>
            <a:r>
              <a:rPr lang="en-US" b="1">
                <a:solidFill>
                  <a:srgbClr val="002B5C"/>
                </a:solidFill>
              </a:rPr>
              <a:t>πριν τα </a:t>
            </a:r>
            <a:br>
              <a:rPr lang="en-US" b="1"/>
            </a:br>
            <a:r>
              <a:rPr lang="en-US" b="1">
                <a:solidFill>
                  <a:srgbClr val="002B5C"/>
                </a:solidFill>
              </a:rPr>
              <a:t>κινητικά </a:t>
            </a:r>
            <a:r>
              <a:rPr>
                <a:solidFill>
                  <a:srgbClr val="002B5C"/>
                </a:solidFill>
              </a:rPr>
              <a:t>(Harel et al. 2004)</a:t>
            </a:r>
            <a:endParaRPr>
              <a:solidFill>
                <a:srgbClr val="002B5C"/>
              </a:solidFill>
              <a:ea typeface="Calibri"/>
              <a:cs typeface="Calibri"/>
            </a:endParaRPr>
          </a:p>
          <a:p>
            <a:pPr marL="269875" indent="-269875">
              <a:spcBef>
                <a:spcPts val="1800"/>
              </a:spcBef>
              <a:spcAft>
                <a:spcPts val="300"/>
              </a:spcAft>
              <a:buFont typeface="Arial" panose="020B0604020202020204" pitchFamily="34" charset="0"/>
              <a:buChar char="•"/>
              <a:defRPr sz="1800">
                <a:solidFill>
                  <a:srgbClr val="1A1A1A"/>
                </a:solidFill>
                <a:latin typeface="Calibri"/>
              </a:defRPr>
            </a:pPr>
            <a:r>
              <a:rPr lang="en-US">
                <a:solidFill>
                  <a:srgbClr val="002B5C"/>
                </a:solidFill>
              </a:rPr>
              <a:t>Σήμερα η διάγνωση βασίζεται σε υποκειμενική αξιολόγηση: δεν υπάρχει αντικειμενικός βιοδείκτης</a:t>
            </a:r>
            <a:endParaRPr lang="en-US">
              <a:solidFill>
                <a:srgbClr val="002B5C"/>
              </a:solidFill>
              <a:ea typeface="Calibri"/>
              <a:cs typeface="Calibri"/>
            </a:endParaRPr>
          </a:p>
        </p:txBody>
      </p:sp>
      <p:pic>
        <p:nvPicPr>
          <p:cNvPr id="5" name="Picture 4" descr="Speech_Language_Assessment_Parkinson_Disease_Diagram.png"/>
          <p:cNvPicPr>
            <a:picLocks noChangeAspect="1"/>
          </p:cNvPicPr>
          <p:nvPr/>
        </p:nvPicPr>
        <p:blipFill>
          <a:blip r:embed="rId3"/>
          <a:stretch>
            <a:fillRect/>
          </a:stretch>
        </p:blipFill>
        <p:spPr>
          <a:xfrm>
            <a:off x="4504320" y="1831156"/>
            <a:ext cx="7199887" cy="3484745"/>
          </a:xfrm>
          <a:prstGeom prst="rect">
            <a:avLst/>
          </a:prstGeom>
          <a:ln>
            <a:solidFill>
              <a:schemeClr val="bg1">
                <a:lumMod val="50000"/>
              </a:schemeClr>
            </a:solidFill>
          </a:ln>
        </p:spPr>
      </p:pic>
      <p:sp>
        <p:nvSpPr>
          <p:cNvPr id="6" name="Rectangle 5"/>
          <p:cNvSpPr>
            <a:spLocks noChangeAspect="1"/>
          </p:cNvSpPr>
          <p:nvPr/>
        </p:nvSpPr>
        <p:spPr>
          <a:xfrm>
            <a:off x="4504320" y="5315901"/>
            <a:ext cx="7200000" cy="199803"/>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n-US" sz="800">
                <a:solidFill>
                  <a:schemeClr val="tx1"/>
                </a:solidFill>
                <a:latin typeface="Aptos"/>
              </a:rPr>
              <a:t>Σχήμα 1.1</a:t>
            </a:r>
            <a:r>
              <a:rPr sz="800">
                <a:solidFill>
                  <a:schemeClr val="tx1"/>
                </a:solidFill>
                <a:latin typeface="Aptos"/>
              </a:rPr>
              <a:t>: Clinical speech-language assessment in PD</a:t>
            </a:r>
            <a:r>
              <a:rPr lang="en-US" sz="800">
                <a:solidFill>
                  <a:schemeClr val="tx1"/>
                </a:solidFill>
                <a:latin typeface="Aptos"/>
              </a:rPr>
              <a:t> </a:t>
            </a:r>
            <a:r>
              <a:rPr sz="800">
                <a:solidFill>
                  <a:schemeClr val="tx1"/>
                </a:solidFill>
                <a:latin typeface="Aptos"/>
              </a:rPr>
              <a:t>| </a:t>
            </a:r>
            <a:r>
              <a:rPr lang="el-GR" sz="800">
                <a:solidFill>
                  <a:schemeClr val="tx1"/>
                </a:solidFill>
                <a:latin typeface="Aptos"/>
              </a:rPr>
              <a:t>Πήγη</a:t>
            </a:r>
            <a:r>
              <a:rPr lang="en-US" sz="800">
                <a:solidFill>
                  <a:schemeClr val="tx1"/>
                </a:solidFill>
                <a:latin typeface="Aptos"/>
              </a:rPr>
              <a:t>: </a:t>
            </a:r>
            <a:r>
              <a:rPr lang="el-GR" sz="800">
                <a:solidFill>
                  <a:schemeClr val="tx1"/>
                </a:solidFill>
                <a:latin typeface="Aptos"/>
              </a:rPr>
              <a:t>Προσαρμογή από </a:t>
            </a:r>
            <a:r>
              <a:rPr sz="800">
                <a:solidFill>
                  <a:schemeClr val="tx1"/>
                </a:solidFill>
                <a:latin typeface="Aptos"/>
              </a:rPr>
              <a:t>Cao et al. (2025)</a:t>
            </a:r>
            <a:endParaRPr lang="en-US" sz="800">
              <a:solidFill>
                <a:schemeClr val="tx1"/>
              </a:solidFill>
              <a:latin typeface="Aptos"/>
            </a:endParaRPr>
          </a:p>
        </p:txBody>
      </p:sp>
      <p:sp>
        <p:nvSpPr>
          <p:cNvPr id="9" name="Title 8">
            <a:extLst>
              <a:ext uri="{FF2B5EF4-FFF2-40B4-BE49-F238E27FC236}">
                <a16:creationId xmlns:a16="http://schemas.microsoft.com/office/drawing/2014/main" id="{8FC4C7F4-72C5-6F32-52DC-8F146858597C}"/>
              </a:ext>
            </a:extLst>
          </p:cNvPr>
          <p:cNvSpPr>
            <a:spLocks noGrp="1"/>
          </p:cNvSpPr>
          <p:nvPr>
            <p:ph type="title"/>
          </p:nvPr>
        </p:nvSpPr>
        <p:spPr/>
        <p:txBody>
          <a:bodyPr>
            <a:normAutofit/>
          </a:bodyPr>
          <a:lstStyle/>
          <a:p>
            <a:r>
              <a:rPr lang="en-GB">
                <a:latin typeface="Aptos"/>
              </a:rPr>
              <a:t>Νόσος Πάρκινσον &amp; Διαταραχές Ομιλίας</a:t>
            </a: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4" name="TextBox 3"/>
          <p:cNvSpPr txBox="1"/>
          <p:nvPr/>
        </p:nvSpPr>
        <p:spPr>
          <a:xfrm>
            <a:off x="457200" y="1045297"/>
            <a:ext cx="3831021" cy="5324535"/>
          </a:xfrm>
          <a:prstGeom prst="rect">
            <a:avLst/>
          </a:prstGeom>
          <a:noFill/>
        </p:spPr>
        <p:txBody>
          <a:bodyPr wrap="square" lIns="91440" tIns="45720" rIns="91440" bIns="45720" anchor="t">
            <a:spAutoFit/>
          </a:bodyPr>
          <a:lstStyle/>
          <a:p>
            <a:pPr marL="285750" indent="-285750">
              <a:spcBef>
                <a:spcPts val="1800"/>
              </a:spcBef>
              <a:spcAft>
                <a:spcPts val="300"/>
              </a:spcAft>
              <a:buFont typeface="Arial" panose="020B0604020202020204" pitchFamily="34" charset="0"/>
              <a:buChar char="•"/>
              <a:defRPr sz="1800" b="0">
                <a:solidFill>
                  <a:srgbClr val="1A1A1A"/>
                </a:solidFill>
                <a:latin typeface="Calibri"/>
              </a:defRPr>
            </a:pPr>
            <a:r>
              <a:rPr lang="en-US">
                <a:solidFill>
                  <a:srgbClr val="002B5C"/>
                </a:solidFill>
                <a:ea typeface="+mn-lt"/>
                <a:cs typeface="+mn-lt"/>
              </a:rPr>
              <a:t>Οι ηχογραφήσεις φωνής καταγράφουν αντικειμενικά τις ακουστικές αλλαγές που σχετίζονται με (PD)</a:t>
            </a:r>
            <a:endParaRPr lang="en-US">
              <a:solidFill>
                <a:srgbClr val="002B5C"/>
              </a:solidFill>
              <a:latin typeface="Aptos" panose="020B0004020202020204" pitchFamily="34" charset="0"/>
            </a:endParaRPr>
          </a:p>
          <a:p>
            <a:pPr marL="285750" indent="-285750">
              <a:spcBef>
                <a:spcPts val="1800"/>
              </a:spcBef>
              <a:spcAft>
                <a:spcPts val="300"/>
              </a:spcAft>
              <a:buFont typeface="Arial" panose="020B0604020202020204" pitchFamily="34" charset="0"/>
              <a:buChar char="•"/>
              <a:defRPr sz="1800">
                <a:solidFill>
                  <a:srgbClr val="1A1A1A"/>
                </a:solidFill>
                <a:latin typeface="Calibri"/>
              </a:defRPr>
            </a:pPr>
            <a:r>
              <a:rPr lang="en-US">
                <a:solidFill>
                  <a:srgbClr val="002B5C"/>
                </a:solidFill>
                <a:ea typeface="+mn-lt"/>
                <a:cs typeface="+mn-lt"/>
              </a:rPr>
              <a:t>Μπορούν να συλλεχθούν μέσω smartphone</a:t>
            </a:r>
          </a:p>
          <a:p>
            <a:pPr marL="285750" indent="-285750">
              <a:spcBef>
                <a:spcPts val="1800"/>
              </a:spcBef>
              <a:spcAft>
                <a:spcPts val="300"/>
              </a:spcAft>
              <a:buFont typeface="Arial" panose="020B0604020202020204" pitchFamily="34" charset="0"/>
              <a:buChar char="•"/>
              <a:defRPr sz="1800">
                <a:solidFill>
                  <a:srgbClr val="1A1A1A"/>
                </a:solidFill>
                <a:latin typeface="Calibri"/>
              </a:defRPr>
            </a:pPr>
            <a:r>
              <a:rPr lang="en-US">
                <a:solidFill>
                  <a:srgbClr val="002B5C"/>
                </a:solidFill>
                <a:ea typeface="+mn-lt"/>
                <a:cs typeface="+mn-lt"/>
              </a:rPr>
              <a:t>Τα ακουστικά χαρακτηριστικά (jitter, shimmer, </a:t>
            </a:r>
            <a:r>
              <a:rPr lang="en-US" b="1">
                <a:solidFill>
                  <a:srgbClr val="002B5C"/>
                </a:solidFill>
                <a:ea typeface="+mn-lt"/>
                <a:cs typeface="+mn-lt"/>
              </a:rPr>
              <a:t>MFCCs</a:t>
            </a:r>
            <a:r>
              <a:rPr lang="en-US">
                <a:solidFill>
                  <a:srgbClr val="002B5C"/>
                </a:solidFill>
                <a:ea typeface="+mn-lt"/>
                <a:cs typeface="+mn-lt"/>
              </a:rPr>
              <a:t>, F₀) είναι ποσοτικοποιήσιμα</a:t>
            </a:r>
          </a:p>
          <a:p>
            <a:pPr marL="285750" indent="-285750">
              <a:spcBef>
                <a:spcPts val="1800"/>
              </a:spcBef>
              <a:spcAft>
                <a:spcPts val="300"/>
              </a:spcAft>
              <a:buFont typeface="Arial" panose="020B0604020202020204" pitchFamily="34" charset="0"/>
              <a:buChar char="•"/>
              <a:defRPr sz="1800">
                <a:solidFill>
                  <a:srgbClr val="1A1A1A"/>
                </a:solidFill>
                <a:latin typeface="Calibri"/>
              </a:defRPr>
            </a:pPr>
            <a:r>
              <a:rPr lang="en-US">
                <a:solidFill>
                  <a:srgbClr val="002B5C"/>
                </a:solidFill>
                <a:ea typeface="+mn-lt"/>
                <a:cs typeface="+mn-lt"/>
              </a:rPr>
              <a:t>Η κλασική ML μπορεί να ταξινομήσει PD/HC από διανύσματα χαρακτηριστικών</a:t>
            </a:r>
          </a:p>
          <a:p>
            <a:pPr marL="285750" indent="-285750">
              <a:spcBef>
                <a:spcPts val="1800"/>
              </a:spcBef>
              <a:spcAft>
                <a:spcPts val="300"/>
              </a:spcAft>
              <a:buFont typeface="Arial" panose="020B0604020202020204" pitchFamily="34" charset="0"/>
              <a:buChar char="•"/>
              <a:defRPr sz="1800">
                <a:solidFill>
                  <a:srgbClr val="1A1A1A"/>
                </a:solidFill>
                <a:latin typeface="Calibri"/>
              </a:defRPr>
            </a:pPr>
            <a:r>
              <a:rPr lang="en-US">
                <a:solidFill>
                  <a:srgbClr val="002B5C"/>
                </a:solidFill>
                <a:ea typeface="+mn-lt"/>
                <a:cs typeface="+mn-lt"/>
              </a:rPr>
              <a:t>Αυξανόμενη βιβλιογραφία, αλλά παραμένουν </a:t>
            </a:r>
            <a:r>
              <a:rPr lang="en-US" b="1">
                <a:solidFill>
                  <a:srgbClr val="002B5C"/>
                </a:solidFill>
                <a:ea typeface="+mn-lt"/>
                <a:cs typeface="+mn-lt"/>
              </a:rPr>
              <a:t>μεθοδολογικά προβλήματα</a:t>
            </a:r>
            <a:endParaRPr b="1">
              <a:solidFill>
                <a:srgbClr val="002B5C"/>
              </a:solidFill>
              <a:ea typeface="Calibri"/>
              <a:cs typeface="Calibri"/>
            </a:endParaRPr>
          </a:p>
        </p:txBody>
      </p:sp>
      <p:pic>
        <p:nvPicPr>
          <p:cNvPr id="5" name="Picture 4" descr="speech_signal_hc_vs_pd.png"/>
          <p:cNvPicPr>
            <a:picLocks noChangeAspect="1"/>
          </p:cNvPicPr>
          <p:nvPr/>
        </p:nvPicPr>
        <p:blipFill>
          <a:blip r:embed="rId3"/>
          <a:stretch>
            <a:fillRect/>
          </a:stretch>
        </p:blipFill>
        <p:spPr>
          <a:xfrm>
            <a:off x="4781520" y="2333731"/>
            <a:ext cx="6922210" cy="2572755"/>
          </a:xfrm>
          <a:prstGeom prst="rect">
            <a:avLst/>
          </a:prstGeom>
          <a:ln>
            <a:solidFill>
              <a:schemeClr val="bg1">
                <a:lumMod val="50000"/>
              </a:schemeClr>
            </a:solidFill>
          </a:ln>
        </p:spPr>
      </p:pic>
      <p:sp>
        <p:nvSpPr>
          <p:cNvPr id="6" name="Rectangle 5"/>
          <p:cNvSpPr/>
          <p:nvPr/>
        </p:nvSpPr>
        <p:spPr>
          <a:xfrm>
            <a:off x="4781520" y="4912519"/>
            <a:ext cx="6922800" cy="292608"/>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l-GR" sz="800">
                <a:solidFill>
                  <a:schemeClr val="tx1"/>
                </a:solidFill>
                <a:latin typeface="Aptos"/>
              </a:rPr>
              <a:t>Σχήμα 2.1</a:t>
            </a:r>
            <a:r>
              <a:rPr sz="800">
                <a:solidFill>
                  <a:schemeClr val="tx1"/>
                </a:solidFill>
                <a:latin typeface="Aptos"/>
              </a:rPr>
              <a:t>: Speech signal comparison (HC vs PD) </a:t>
            </a:r>
            <a:r>
              <a:rPr lang="en-US" sz="800">
                <a:solidFill>
                  <a:schemeClr val="tx1"/>
                </a:solidFill>
                <a:latin typeface="Aptos"/>
              </a:rPr>
              <a:t>|</a:t>
            </a:r>
            <a:r>
              <a:rPr sz="800">
                <a:solidFill>
                  <a:schemeClr val="tx1"/>
                </a:solidFill>
                <a:latin typeface="Aptos"/>
              </a:rPr>
              <a:t> </a:t>
            </a:r>
            <a:r>
              <a:rPr lang="el-GR" sz="800">
                <a:solidFill>
                  <a:schemeClr val="tx1"/>
                </a:solidFill>
                <a:latin typeface="Aptos"/>
              </a:rPr>
              <a:t>Πήγη</a:t>
            </a:r>
            <a:r>
              <a:rPr sz="800">
                <a:solidFill>
                  <a:schemeClr val="tx1"/>
                </a:solidFill>
                <a:latin typeface="Aptos"/>
              </a:rPr>
              <a:t>: </a:t>
            </a:r>
            <a:r>
              <a:rPr lang="el-GR" sz="800">
                <a:solidFill>
                  <a:schemeClr val="tx1"/>
                </a:solidFill>
                <a:latin typeface="Aptos"/>
              </a:rPr>
              <a:t>Προσαρμογή από </a:t>
            </a:r>
            <a:r>
              <a:rPr sz="800">
                <a:solidFill>
                  <a:schemeClr val="tx1"/>
                </a:solidFill>
                <a:latin typeface="Aptos"/>
              </a:rPr>
              <a:t>Little et al. (2009)</a:t>
            </a:r>
            <a:endParaRPr lang="en-US" sz="800">
              <a:solidFill>
                <a:schemeClr val="tx1"/>
              </a:solidFill>
              <a:latin typeface="Aptos"/>
            </a:endParaRPr>
          </a:p>
        </p:txBody>
      </p:sp>
      <p:sp>
        <p:nvSpPr>
          <p:cNvPr id="7" name="Rectangle 6"/>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itle 9">
            <a:extLst>
              <a:ext uri="{FF2B5EF4-FFF2-40B4-BE49-F238E27FC236}">
                <a16:creationId xmlns:a16="http://schemas.microsoft.com/office/drawing/2014/main" id="{C6AB77C3-7DA3-067A-B7C4-52BC194561F0}"/>
              </a:ext>
            </a:extLst>
          </p:cNvPr>
          <p:cNvSpPr>
            <a:spLocks noGrp="1"/>
          </p:cNvSpPr>
          <p:nvPr>
            <p:ph type="title"/>
          </p:nvPr>
        </p:nvSpPr>
        <p:spPr/>
        <p:txBody>
          <a:bodyPr>
            <a:normAutofit/>
          </a:bodyPr>
          <a:lstStyle/>
          <a:p>
            <a:r>
              <a:rPr lang="en-GB">
                <a:latin typeface="Aptos"/>
              </a:rPr>
              <a:t>Η Φωνή ως πιθανός Βιοδείκτης</a:t>
            </a:r>
            <a:endParaRPr lang="en-GB"/>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4" name="TextBox 3"/>
          <p:cNvSpPr txBox="1"/>
          <p:nvPr/>
        </p:nvSpPr>
        <p:spPr>
          <a:xfrm>
            <a:off x="457200" y="1843831"/>
            <a:ext cx="11247120" cy="3170099"/>
          </a:xfrm>
          <a:prstGeom prst="rect">
            <a:avLst/>
          </a:prstGeom>
          <a:noFill/>
        </p:spPr>
        <p:txBody>
          <a:bodyPr wrap="square" lIns="91440" tIns="45720" rIns="91440" bIns="45720" anchor="t">
            <a:spAutoFit/>
          </a:bodyPr>
          <a:lstStyle/>
          <a:p>
            <a:pPr marL="715645" indent="-715645">
              <a:spcBef>
                <a:spcPts val="3000"/>
              </a:spcBef>
              <a:spcAft>
                <a:spcPts val="300"/>
              </a:spcAft>
              <a:defRPr sz="1800" b="0">
                <a:solidFill>
                  <a:srgbClr val="1A1A1A"/>
                </a:solidFill>
                <a:latin typeface="Calibri"/>
              </a:defRPr>
            </a:pPr>
            <a:r>
              <a:rPr b="1">
                <a:solidFill>
                  <a:srgbClr val="E86C00"/>
                </a:solidFill>
                <a:latin typeface="Aptos"/>
              </a:rPr>
              <a:t>RQ1</a:t>
            </a:r>
            <a:r>
              <a:rPr>
                <a:solidFill>
                  <a:srgbClr val="E86C00"/>
                </a:solidFill>
                <a:latin typeface="Aptos"/>
              </a:rPr>
              <a:t>:</a:t>
            </a:r>
            <a:r>
              <a:rPr lang="en-US">
                <a:solidFill>
                  <a:srgbClr val="002B5C"/>
                </a:solidFill>
                <a:latin typeface="Aptos"/>
              </a:rPr>
              <a:t>	</a:t>
            </a:r>
            <a:r>
              <a:rPr lang="en-US" err="1">
                <a:solidFill>
                  <a:srgbClr val="002B5C"/>
                </a:solidFill>
                <a:ea typeface="+mn-lt"/>
                <a:cs typeface="+mn-lt"/>
              </a:rPr>
              <a:t>Πόσο</a:t>
            </a:r>
            <a:r>
              <a:rPr lang="en-US">
                <a:solidFill>
                  <a:srgbClr val="002B5C"/>
                </a:solidFill>
                <a:ea typeface="+mn-lt"/>
                <a:cs typeface="+mn-lt"/>
              </a:rPr>
              <a:t> κα</a:t>
            </a:r>
            <a:r>
              <a:rPr lang="en-US" err="1">
                <a:solidFill>
                  <a:srgbClr val="002B5C"/>
                </a:solidFill>
                <a:ea typeface="+mn-lt"/>
                <a:cs typeface="+mn-lt"/>
              </a:rPr>
              <a:t>λά</a:t>
            </a:r>
            <a:r>
              <a:rPr lang="en-US">
                <a:solidFill>
                  <a:srgbClr val="002B5C"/>
                </a:solidFill>
                <a:ea typeface="+mn-lt"/>
                <a:cs typeface="+mn-lt"/>
              </a:rPr>
              <a:t> απ</a:t>
            </a:r>
            <a:r>
              <a:rPr lang="en-US" err="1">
                <a:solidFill>
                  <a:srgbClr val="002B5C"/>
                </a:solidFill>
                <a:ea typeface="+mn-lt"/>
                <a:cs typeface="+mn-lt"/>
              </a:rPr>
              <a:t>οδίδουν</a:t>
            </a:r>
            <a:r>
              <a:rPr lang="en-US">
                <a:solidFill>
                  <a:srgbClr val="002B5C"/>
                </a:solidFill>
                <a:ea typeface="+mn-lt"/>
                <a:cs typeface="+mn-lt"/>
              </a:rPr>
              <a:t> τα </a:t>
            </a:r>
            <a:r>
              <a:rPr lang="en-US" err="1">
                <a:solidFill>
                  <a:srgbClr val="002B5C"/>
                </a:solidFill>
                <a:ea typeface="+mn-lt"/>
                <a:cs typeface="+mn-lt"/>
              </a:rPr>
              <a:t>κλ</a:t>
            </a:r>
            <a:r>
              <a:rPr lang="en-US">
                <a:solidFill>
                  <a:srgbClr val="002B5C"/>
                </a:solidFill>
                <a:ea typeface="+mn-lt"/>
                <a:cs typeface="+mn-lt"/>
              </a:rPr>
              <a:t>ασικά μοντέλα μηχανικής μάθησης στην ταξινόμηση φωνής για τη (PD);</a:t>
            </a:r>
            <a:endParaRPr lang="en-US">
              <a:solidFill>
                <a:srgbClr val="002B5C"/>
              </a:solidFill>
              <a:ea typeface="Calibri"/>
              <a:cs typeface="Calibri"/>
            </a:endParaRPr>
          </a:p>
          <a:p>
            <a:pPr marL="715645" indent="-715645">
              <a:spcBef>
                <a:spcPts val="3000"/>
              </a:spcBef>
              <a:spcAft>
                <a:spcPts val="300"/>
              </a:spcAft>
              <a:defRPr sz="1800">
                <a:solidFill>
                  <a:srgbClr val="1A1A1A"/>
                </a:solidFill>
                <a:latin typeface="Calibri"/>
              </a:defRPr>
            </a:pPr>
            <a:r>
              <a:rPr b="1">
                <a:solidFill>
                  <a:srgbClr val="E86C00"/>
                </a:solidFill>
                <a:latin typeface="Aptos"/>
              </a:rPr>
              <a:t>RQ2</a:t>
            </a:r>
            <a:r>
              <a:rPr>
                <a:solidFill>
                  <a:srgbClr val="E86C00"/>
                </a:solidFill>
                <a:latin typeface="Aptos"/>
              </a:rPr>
              <a:t>:</a:t>
            </a:r>
            <a:r>
              <a:rPr lang="en-US">
                <a:solidFill>
                  <a:srgbClr val="002B5C"/>
                </a:solidFill>
                <a:latin typeface="Aptos"/>
              </a:rPr>
              <a:t>	</a:t>
            </a:r>
            <a:r>
              <a:rPr lang="en-US">
                <a:solidFill>
                  <a:srgbClr val="002B5C"/>
                </a:solidFill>
                <a:latin typeface="Calibri"/>
                <a:ea typeface="Calibri"/>
                <a:cs typeface="Calibri"/>
              </a:rPr>
              <a:t>Η</a:t>
            </a:r>
            <a:r>
              <a:rPr lang="en-US">
                <a:solidFill>
                  <a:srgbClr val="002B5C"/>
                </a:solidFill>
                <a:ea typeface="+mn-lt"/>
                <a:cs typeface="+mn-lt"/>
              </a:rPr>
              <a:t> α</a:t>
            </a:r>
            <a:r>
              <a:rPr lang="en-US" err="1">
                <a:solidFill>
                  <a:srgbClr val="002B5C"/>
                </a:solidFill>
                <a:ea typeface="+mn-lt"/>
                <a:cs typeface="+mn-lt"/>
              </a:rPr>
              <a:t>ύξηση</a:t>
            </a:r>
            <a:r>
              <a:rPr lang="en-US">
                <a:solidFill>
                  <a:srgbClr val="002B5C"/>
                </a:solidFill>
                <a:ea typeface="+mn-lt"/>
                <a:cs typeface="+mn-lt"/>
              </a:rPr>
              <a:t> </a:t>
            </a:r>
            <a:r>
              <a:rPr lang="en-US" err="1">
                <a:solidFill>
                  <a:srgbClr val="002B5C"/>
                </a:solidFill>
                <a:ea typeface="+mn-lt"/>
                <a:cs typeface="+mn-lt"/>
              </a:rPr>
              <a:t>των</a:t>
            </a:r>
            <a:r>
              <a:rPr lang="en-US">
                <a:solidFill>
                  <a:srgbClr val="002B5C"/>
                </a:solidFill>
                <a:ea typeface="+mn-lt"/>
                <a:cs typeface="+mn-lt"/>
              </a:rPr>
              <a:t> χαρα</a:t>
            </a:r>
            <a:r>
              <a:rPr lang="en-US" err="1">
                <a:solidFill>
                  <a:srgbClr val="002B5C"/>
                </a:solidFill>
                <a:ea typeface="+mn-lt"/>
                <a:cs typeface="+mn-lt"/>
              </a:rPr>
              <a:t>κτηριστικών</a:t>
            </a:r>
            <a:r>
              <a:rPr lang="en-US">
                <a:solidFill>
                  <a:srgbClr val="002B5C"/>
                </a:solidFill>
                <a:ea typeface="+mn-lt"/>
                <a:cs typeface="+mn-lt"/>
              </a:rPr>
              <a:t> από 47 </a:t>
            </a:r>
            <a:r>
              <a:rPr lang="en-US" err="1">
                <a:solidFill>
                  <a:srgbClr val="002B5C"/>
                </a:solidFill>
                <a:ea typeface="+mn-lt"/>
                <a:cs typeface="+mn-lt"/>
              </a:rPr>
              <a:t>σε</a:t>
            </a:r>
            <a:r>
              <a:rPr lang="en-US">
                <a:solidFill>
                  <a:srgbClr val="002B5C"/>
                </a:solidFill>
                <a:ea typeface="+mn-lt"/>
                <a:cs typeface="+mn-lt"/>
              </a:rPr>
              <a:t> 78 β</a:t>
            </a:r>
            <a:r>
              <a:rPr lang="en-US" err="1">
                <a:solidFill>
                  <a:srgbClr val="002B5C"/>
                </a:solidFill>
                <a:ea typeface="+mn-lt"/>
                <a:cs typeface="+mn-lt"/>
              </a:rPr>
              <a:t>ελτιώνει</a:t>
            </a:r>
            <a:r>
              <a:rPr lang="en-US">
                <a:solidFill>
                  <a:srgbClr val="002B5C"/>
                </a:solidFill>
                <a:ea typeface="+mn-lt"/>
                <a:cs typeface="+mn-lt"/>
              </a:rPr>
              <a:t> </a:t>
            </a:r>
            <a:r>
              <a:rPr lang="en-US" err="1">
                <a:solidFill>
                  <a:srgbClr val="002B5C"/>
                </a:solidFill>
                <a:ea typeface="+mn-lt"/>
                <a:cs typeface="+mn-lt"/>
              </a:rPr>
              <a:t>την</a:t>
            </a:r>
            <a:r>
              <a:rPr lang="en-US">
                <a:solidFill>
                  <a:srgbClr val="002B5C"/>
                </a:solidFill>
                <a:ea typeface="+mn-lt"/>
                <a:cs typeface="+mn-lt"/>
              </a:rPr>
              <a:t> απ</a:t>
            </a:r>
            <a:r>
              <a:rPr lang="en-US" err="1">
                <a:solidFill>
                  <a:srgbClr val="002B5C"/>
                </a:solidFill>
                <a:ea typeface="+mn-lt"/>
                <a:cs typeface="+mn-lt"/>
              </a:rPr>
              <a:t>όδοση</a:t>
            </a:r>
            <a:r>
              <a:rPr lang="en-US">
                <a:solidFill>
                  <a:srgbClr val="002B5C"/>
                </a:solidFill>
                <a:ea typeface="+mn-lt"/>
                <a:cs typeface="+mn-lt"/>
              </a:rPr>
              <a:t>;</a:t>
            </a:r>
            <a:endParaRPr>
              <a:solidFill>
                <a:srgbClr val="002B5C"/>
              </a:solidFill>
              <a:latin typeface="Aptos"/>
            </a:endParaRPr>
          </a:p>
          <a:p>
            <a:pPr marL="715645" indent="-715645">
              <a:spcBef>
                <a:spcPts val="3000"/>
              </a:spcBef>
              <a:spcAft>
                <a:spcPts val="300"/>
              </a:spcAft>
              <a:defRPr sz="1800">
                <a:solidFill>
                  <a:srgbClr val="1A1A1A"/>
                </a:solidFill>
                <a:latin typeface="Calibri"/>
              </a:defRPr>
            </a:pPr>
            <a:r>
              <a:rPr b="1">
                <a:solidFill>
                  <a:srgbClr val="E86C00"/>
                </a:solidFill>
                <a:latin typeface="Aptos"/>
              </a:rPr>
              <a:t>RQ3</a:t>
            </a:r>
            <a:r>
              <a:rPr>
                <a:solidFill>
                  <a:srgbClr val="E86C00"/>
                </a:solidFill>
                <a:latin typeface="Aptos"/>
              </a:rPr>
              <a:t>:</a:t>
            </a:r>
            <a:r>
              <a:rPr lang="en-US">
                <a:solidFill>
                  <a:srgbClr val="002B5C"/>
                </a:solidFill>
                <a:latin typeface="Aptos"/>
              </a:rPr>
              <a:t>	</a:t>
            </a:r>
            <a:r>
              <a:rPr lang="en-US" err="1">
                <a:solidFill>
                  <a:srgbClr val="002B5C"/>
                </a:solidFill>
                <a:ea typeface="+mn-lt"/>
                <a:cs typeface="+mn-lt"/>
              </a:rPr>
              <a:t>Βοηθά</a:t>
            </a:r>
            <a:r>
              <a:rPr lang="en-US">
                <a:solidFill>
                  <a:srgbClr val="002B5C"/>
                </a:solidFill>
                <a:ea typeface="+mn-lt"/>
                <a:cs typeface="+mn-lt"/>
              </a:rPr>
              <a:t> η </a:t>
            </a:r>
            <a:r>
              <a:rPr lang="en-US" err="1">
                <a:solidFill>
                  <a:srgbClr val="002B5C"/>
                </a:solidFill>
                <a:ea typeface="+mn-lt"/>
                <a:cs typeface="+mn-lt"/>
              </a:rPr>
              <a:t>εξισορρό</a:t>
            </a:r>
            <a:r>
              <a:rPr lang="en-US">
                <a:solidFill>
                  <a:srgbClr val="002B5C"/>
                </a:solidFill>
                <a:ea typeface="+mn-lt"/>
                <a:cs typeface="+mn-lt"/>
              </a:rPr>
              <a:t>πηση βαρών κλάσεων σε μη ισορροπημένα δεδομένα;</a:t>
            </a:r>
            <a:endParaRPr>
              <a:solidFill>
                <a:srgbClr val="002B5C"/>
              </a:solidFill>
              <a:ea typeface="+mn-lt"/>
              <a:cs typeface="+mn-lt"/>
            </a:endParaRPr>
          </a:p>
          <a:p>
            <a:pPr marL="715645" indent="-715645">
              <a:spcBef>
                <a:spcPts val="3000"/>
              </a:spcBef>
              <a:spcAft>
                <a:spcPts val="300"/>
              </a:spcAft>
              <a:defRPr sz="1800">
                <a:solidFill>
                  <a:srgbClr val="1A1A1A"/>
                </a:solidFill>
                <a:latin typeface="Calibri"/>
              </a:defRPr>
            </a:pPr>
            <a:r>
              <a:rPr b="1">
                <a:solidFill>
                  <a:srgbClr val="E86C00"/>
                </a:solidFill>
                <a:latin typeface="Aptos"/>
              </a:rPr>
              <a:t>RQ4</a:t>
            </a:r>
            <a:r>
              <a:rPr>
                <a:solidFill>
                  <a:srgbClr val="E86C00"/>
                </a:solidFill>
                <a:latin typeface="Aptos"/>
              </a:rPr>
              <a:t>:</a:t>
            </a:r>
            <a:r>
              <a:rPr lang="en-US">
                <a:solidFill>
                  <a:srgbClr val="002B5C"/>
                </a:solidFill>
                <a:latin typeface="Aptos"/>
              </a:rPr>
              <a:t>	</a:t>
            </a:r>
            <a:r>
              <a:rPr lang="en-US">
                <a:solidFill>
                  <a:srgbClr val="002B5C"/>
                </a:solidFill>
                <a:ea typeface="+mn-lt"/>
                <a:cs typeface="+mn-lt"/>
              </a:rPr>
              <a:t>Υπ</a:t>
            </a:r>
            <a:r>
              <a:rPr lang="en-US" err="1">
                <a:solidFill>
                  <a:srgbClr val="002B5C"/>
                </a:solidFill>
                <a:ea typeface="+mn-lt"/>
                <a:cs typeface="+mn-lt"/>
              </a:rPr>
              <a:t>άρχουν</a:t>
            </a:r>
            <a:r>
              <a:rPr lang="en-US">
                <a:solidFill>
                  <a:srgbClr val="002B5C"/>
                </a:solidFill>
                <a:ea typeface="+mn-lt"/>
                <a:cs typeface="+mn-lt"/>
              </a:rPr>
              <a:t> </a:t>
            </a:r>
            <a:r>
              <a:rPr lang="en-US" err="1">
                <a:solidFill>
                  <a:srgbClr val="002B5C"/>
                </a:solidFill>
                <a:ea typeface="+mn-lt"/>
                <a:cs typeface="+mn-lt"/>
              </a:rPr>
              <a:t>δι</a:t>
            </a:r>
            <a:r>
              <a:rPr lang="en-US">
                <a:solidFill>
                  <a:srgbClr val="002B5C"/>
                </a:solidFill>
                <a:ea typeface="+mn-lt"/>
                <a:cs typeface="+mn-lt"/>
              </a:rPr>
              <a:t>αφορές μεταξύ</a:t>
            </a:r>
            <a:r>
              <a:rPr lang="en-US">
                <a:solidFill>
                  <a:srgbClr val="002B5C"/>
                </a:solidFill>
                <a:latin typeface="Aptos"/>
              </a:rPr>
              <a:t> </a:t>
            </a:r>
            <a:r>
              <a:rPr>
                <a:solidFill>
                  <a:srgbClr val="002B5C"/>
                </a:solidFill>
                <a:latin typeface="Aptos"/>
              </a:rPr>
              <a:t>subject-level CV </a:t>
            </a:r>
            <a:r>
              <a:rPr lang="en-US">
                <a:solidFill>
                  <a:srgbClr val="002B5C"/>
                </a:solidFill>
                <a:latin typeface="Aptos"/>
              </a:rPr>
              <a:t>&amp; </a:t>
            </a:r>
            <a:r>
              <a:rPr>
                <a:solidFill>
                  <a:srgbClr val="002B5C"/>
                </a:solidFill>
                <a:latin typeface="Aptos"/>
              </a:rPr>
              <a:t>standard CV</a:t>
            </a:r>
            <a:r>
              <a:rPr lang="en-US">
                <a:solidFill>
                  <a:srgbClr val="002B5C"/>
                </a:solidFill>
                <a:latin typeface="Calibri"/>
                <a:ea typeface="Calibri"/>
                <a:cs typeface="Calibri"/>
              </a:rPr>
              <a:t>;</a:t>
            </a:r>
          </a:p>
          <a:p>
            <a:pPr marL="715645" indent="-715645">
              <a:spcBef>
                <a:spcPts val="3000"/>
              </a:spcBef>
              <a:spcAft>
                <a:spcPts val="300"/>
              </a:spcAft>
              <a:defRPr sz="1800">
                <a:solidFill>
                  <a:srgbClr val="1A1A1A"/>
                </a:solidFill>
                <a:latin typeface="Calibri"/>
              </a:defRPr>
            </a:pPr>
            <a:r>
              <a:rPr b="1">
                <a:solidFill>
                  <a:srgbClr val="E86C00"/>
                </a:solidFill>
                <a:latin typeface="Aptos"/>
              </a:rPr>
              <a:t>RQ5</a:t>
            </a:r>
            <a:r>
              <a:rPr>
                <a:solidFill>
                  <a:srgbClr val="E86C00"/>
                </a:solidFill>
                <a:latin typeface="Aptos"/>
              </a:rPr>
              <a:t>:</a:t>
            </a:r>
            <a:r>
              <a:rPr lang="en-US">
                <a:solidFill>
                  <a:srgbClr val="002B5C"/>
                </a:solidFill>
                <a:latin typeface="Aptos"/>
              </a:rPr>
              <a:t>	</a:t>
            </a:r>
            <a:r>
              <a:rPr lang="en-US">
                <a:solidFill>
                  <a:srgbClr val="002B5C"/>
                </a:solidFill>
                <a:ea typeface="+mn-lt"/>
                <a:cs typeface="+mn-lt"/>
              </a:rPr>
              <a:t>Υπ</a:t>
            </a:r>
            <a:r>
              <a:rPr lang="en-US" err="1">
                <a:solidFill>
                  <a:srgbClr val="002B5C"/>
                </a:solidFill>
                <a:ea typeface="+mn-lt"/>
                <a:cs typeface="+mn-lt"/>
              </a:rPr>
              <a:t>άρχει</a:t>
            </a:r>
            <a:r>
              <a:rPr lang="en-US">
                <a:solidFill>
                  <a:srgbClr val="002B5C"/>
                </a:solidFill>
                <a:ea typeface="+mn-lt"/>
                <a:cs typeface="+mn-lt"/>
              </a:rPr>
              <a:t> </a:t>
            </a:r>
            <a:r>
              <a:rPr lang="en-US" err="1">
                <a:solidFill>
                  <a:srgbClr val="002B5C"/>
                </a:solidFill>
                <a:ea typeface="+mn-lt"/>
                <a:cs typeface="+mn-lt"/>
              </a:rPr>
              <a:t>δι</a:t>
            </a:r>
            <a:r>
              <a:rPr lang="en-US">
                <a:solidFill>
                  <a:srgbClr val="002B5C"/>
                </a:solidFill>
                <a:ea typeface="+mn-lt"/>
                <a:cs typeface="+mn-lt"/>
              </a:rPr>
              <a:t>αφορά στην απόδοση μεταξύ δομημένης και αυθόρμητης ομιλίας;</a:t>
            </a:r>
          </a:p>
        </p:txBody>
      </p:sp>
      <p:sp>
        <p:nvSpPr>
          <p:cNvPr id="5" name="Rectangle 4"/>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itle 7">
            <a:extLst>
              <a:ext uri="{FF2B5EF4-FFF2-40B4-BE49-F238E27FC236}">
                <a16:creationId xmlns:a16="http://schemas.microsoft.com/office/drawing/2014/main" id="{ACAEA1AA-B6C6-9310-055B-9B34AD6E85B0}"/>
              </a:ext>
            </a:extLst>
          </p:cNvPr>
          <p:cNvSpPr>
            <a:spLocks noGrp="1"/>
          </p:cNvSpPr>
          <p:nvPr>
            <p:ph type="title"/>
          </p:nvPr>
        </p:nvSpPr>
        <p:spPr/>
        <p:txBody>
          <a:bodyPr>
            <a:normAutofit/>
          </a:bodyPr>
          <a:lstStyle/>
          <a:p>
            <a:r>
              <a:rPr lang="en-GB">
                <a:latin typeface="Aptos"/>
              </a:rPr>
              <a:t>Ερευνητικά Ερωτήματα</a:t>
            </a: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4" name="TextBox 3"/>
          <p:cNvSpPr txBox="1"/>
          <p:nvPr/>
        </p:nvSpPr>
        <p:spPr>
          <a:xfrm>
            <a:off x="457200" y="1875146"/>
            <a:ext cx="11247120" cy="3100849"/>
          </a:xfrm>
          <a:prstGeom prst="rect">
            <a:avLst/>
          </a:prstGeom>
          <a:noFill/>
        </p:spPr>
        <p:txBody>
          <a:bodyPr wrap="square" lIns="91440" tIns="45720" rIns="91440" bIns="45720" anchor="t">
            <a:spAutoFit/>
          </a:bodyPr>
          <a:lstStyle/>
          <a:p>
            <a:pPr marL="285750" indent="-285750">
              <a:spcBef>
                <a:spcPts val="1800"/>
              </a:spcBef>
              <a:spcAft>
                <a:spcPts val="300"/>
              </a:spcAft>
              <a:buFont typeface="Arial" panose="020B0604020202020204" pitchFamily="34" charset="0"/>
              <a:buChar char="•"/>
              <a:defRPr sz="1800" b="0">
                <a:solidFill>
                  <a:srgbClr val="1A1A1A"/>
                </a:solidFill>
                <a:latin typeface="Calibri"/>
              </a:defRPr>
            </a:pPr>
            <a:r>
              <a:rPr lang="en-US">
                <a:solidFill>
                  <a:srgbClr val="002B5C"/>
                </a:solidFill>
                <a:ea typeface="+mn-lt"/>
                <a:cs typeface="+mn-lt"/>
              </a:rPr>
              <a:t>Το SVM </a:t>
            </a:r>
            <a:r>
              <a:rPr lang="en-US" err="1">
                <a:solidFill>
                  <a:srgbClr val="002B5C"/>
                </a:solidFill>
                <a:ea typeface="+mn-lt"/>
                <a:cs typeface="+mn-lt"/>
              </a:rPr>
              <a:t>ιστορικά</a:t>
            </a:r>
            <a:r>
              <a:rPr lang="en-US">
                <a:solidFill>
                  <a:srgbClr val="002B5C"/>
                </a:solidFill>
                <a:ea typeface="+mn-lt"/>
                <a:cs typeface="+mn-lt"/>
              </a:rPr>
              <a:t> </a:t>
            </a:r>
            <a:r>
              <a:rPr lang="en-US" err="1">
                <a:solidFill>
                  <a:srgbClr val="002B5C"/>
                </a:solidFill>
                <a:ea typeface="+mn-lt"/>
                <a:cs typeface="+mn-lt"/>
              </a:rPr>
              <a:t>κυρι</a:t>
            </a:r>
            <a:r>
              <a:rPr lang="en-US">
                <a:solidFill>
                  <a:srgbClr val="002B5C"/>
                </a:solidFill>
                <a:ea typeface="+mn-lt"/>
                <a:cs typeface="+mn-lt"/>
              </a:rPr>
              <a:t>αρχεί (~91% ακρίβεια – Little et al., 2009)</a:t>
            </a:r>
          </a:p>
          <a:p>
            <a:pPr marL="285750" indent="-285750">
              <a:spcBef>
                <a:spcPts val="1800"/>
              </a:spcBef>
              <a:spcAft>
                <a:spcPts val="300"/>
              </a:spcAft>
              <a:buFont typeface="Arial" panose="020B0604020202020204" pitchFamily="34" charset="0"/>
              <a:buChar char="•"/>
              <a:defRPr sz="1800">
                <a:solidFill>
                  <a:srgbClr val="1A1A1A"/>
                </a:solidFill>
                <a:latin typeface="Calibri"/>
              </a:defRPr>
            </a:pPr>
            <a:r>
              <a:rPr lang="en-US">
                <a:solidFill>
                  <a:srgbClr val="002B5C"/>
                </a:solidFill>
                <a:ea typeface="+mn-lt"/>
                <a:cs typeface="+mn-lt"/>
              </a:rPr>
              <a:t>~42% </a:t>
            </a:r>
            <a:r>
              <a:rPr lang="en-US" err="1">
                <a:solidFill>
                  <a:srgbClr val="002B5C"/>
                </a:solidFill>
                <a:ea typeface="+mn-lt"/>
                <a:cs typeface="+mn-lt"/>
              </a:rPr>
              <a:t>των</a:t>
            </a:r>
            <a:r>
              <a:rPr lang="en-US">
                <a:solidFill>
                  <a:srgbClr val="002B5C"/>
                </a:solidFill>
                <a:ea typeface="+mn-lt"/>
                <a:cs typeface="+mn-lt"/>
              </a:rPr>
              <a:t> </a:t>
            </a:r>
            <a:r>
              <a:rPr lang="en-US" err="1">
                <a:solidFill>
                  <a:srgbClr val="002B5C"/>
                </a:solidFill>
                <a:ea typeface="+mn-lt"/>
                <a:cs typeface="+mn-lt"/>
              </a:rPr>
              <a:t>μελετών</a:t>
            </a:r>
            <a:r>
              <a:rPr lang="en-US">
                <a:solidFill>
                  <a:srgbClr val="002B5C"/>
                </a:solidFill>
                <a:ea typeface="+mn-lt"/>
                <a:cs typeface="+mn-lt"/>
              </a:rPr>
              <a:t> </a:t>
            </a:r>
            <a:r>
              <a:rPr lang="en-US" err="1">
                <a:solidFill>
                  <a:srgbClr val="002B5C"/>
                </a:solidFill>
                <a:ea typeface="+mn-lt"/>
                <a:cs typeface="+mn-lt"/>
              </a:rPr>
              <a:t>την</a:t>
            </a:r>
            <a:r>
              <a:rPr lang="en-US">
                <a:solidFill>
                  <a:srgbClr val="002B5C"/>
                </a:solidFill>
                <a:ea typeface="+mn-lt"/>
                <a:cs typeface="+mn-lt"/>
              </a:rPr>
              <a:t> π</a:t>
            </a:r>
            <a:r>
              <a:rPr lang="en-US" err="1">
                <a:solidFill>
                  <a:srgbClr val="002B5C"/>
                </a:solidFill>
                <a:ea typeface="+mn-lt"/>
                <a:cs typeface="+mn-lt"/>
              </a:rPr>
              <a:t>ερίοδο</a:t>
            </a:r>
            <a:r>
              <a:rPr lang="en-US">
                <a:solidFill>
                  <a:srgbClr val="002B5C"/>
                </a:solidFill>
                <a:ea typeface="+mn-lt"/>
                <a:cs typeface="+mn-lt"/>
              </a:rPr>
              <a:t> 2020-2025 </a:t>
            </a:r>
            <a:r>
              <a:rPr lang="en-US" err="1">
                <a:solidFill>
                  <a:srgbClr val="002B5C"/>
                </a:solidFill>
                <a:ea typeface="+mn-lt"/>
                <a:cs typeface="+mn-lt"/>
              </a:rPr>
              <a:t>χρησιμο</a:t>
            </a:r>
            <a:r>
              <a:rPr lang="en-US">
                <a:solidFill>
                  <a:srgbClr val="002B5C"/>
                </a:solidFill>
                <a:ea typeface="+mn-lt"/>
                <a:cs typeface="+mn-lt"/>
              </a:rPr>
              <a:t>ποιούν πλέον βαθιά μάθηση</a:t>
            </a:r>
          </a:p>
          <a:p>
            <a:pPr marL="285750" indent="-285750">
              <a:spcBef>
                <a:spcPts val="1800"/>
              </a:spcBef>
              <a:spcAft>
                <a:spcPts val="300"/>
              </a:spcAft>
              <a:buFont typeface="Arial" panose="020B0604020202020204" pitchFamily="34" charset="0"/>
              <a:buChar char="•"/>
              <a:defRPr sz="1800">
                <a:solidFill>
                  <a:srgbClr val="1A1A1A"/>
                </a:solidFill>
                <a:latin typeface="Calibri"/>
              </a:defRPr>
            </a:pPr>
            <a:r>
              <a:rPr lang="en-US" err="1">
                <a:solidFill>
                  <a:srgbClr val="002B5C"/>
                </a:solidFill>
                <a:ea typeface="+mn-lt"/>
                <a:cs typeface="+mn-lt"/>
              </a:rPr>
              <a:t>Εξωτερική</a:t>
            </a:r>
            <a:r>
              <a:rPr lang="en-US">
                <a:solidFill>
                  <a:srgbClr val="002B5C"/>
                </a:solidFill>
                <a:ea typeface="+mn-lt"/>
                <a:cs typeface="+mn-lt"/>
              </a:rPr>
              <a:t> επ</a:t>
            </a:r>
            <a:r>
              <a:rPr lang="en-US" err="1">
                <a:solidFill>
                  <a:srgbClr val="002B5C"/>
                </a:solidFill>
                <a:ea typeface="+mn-lt"/>
                <a:cs typeface="+mn-lt"/>
              </a:rPr>
              <a:t>ικύρωση</a:t>
            </a:r>
            <a:r>
              <a:rPr lang="en-US">
                <a:solidFill>
                  <a:srgbClr val="002B5C"/>
                </a:solidFill>
                <a:ea typeface="+mn-lt"/>
                <a:cs typeface="+mn-lt"/>
              </a:rPr>
              <a:t> </a:t>
            </a:r>
            <a:r>
              <a:rPr lang="en-US" err="1">
                <a:solidFill>
                  <a:srgbClr val="002B5C"/>
                </a:solidFill>
                <a:ea typeface="+mn-lt"/>
                <a:cs typeface="+mn-lt"/>
              </a:rPr>
              <a:t>σε</a:t>
            </a:r>
            <a:r>
              <a:rPr lang="en-US">
                <a:solidFill>
                  <a:srgbClr val="002B5C"/>
                </a:solidFill>
                <a:ea typeface="+mn-lt"/>
                <a:cs typeface="+mn-lt"/>
              </a:rPr>
              <a:t> &lt; 15% </a:t>
            </a:r>
            <a:r>
              <a:rPr lang="en-US" err="1">
                <a:solidFill>
                  <a:srgbClr val="002B5C"/>
                </a:solidFill>
                <a:ea typeface="+mn-lt"/>
                <a:cs typeface="+mn-lt"/>
              </a:rPr>
              <a:t>των</a:t>
            </a:r>
            <a:r>
              <a:rPr lang="en-US">
                <a:solidFill>
                  <a:srgbClr val="002B5C"/>
                </a:solidFill>
                <a:ea typeface="+mn-lt"/>
                <a:cs typeface="+mn-lt"/>
              </a:rPr>
              <a:t> </a:t>
            </a:r>
            <a:r>
              <a:rPr lang="en-US" err="1">
                <a:solidFill>
                  <a:srgbClr val="002B5C"/>
                </a:solidFill>
                <a:ea typeface="+mn-lt"/>
                <a:cs typeface="+mn-lt"/>
              </a:rPr>
              <a:t>μελετών</a:t>
            </a:r>
            <a:endParaRPr lang="en-US">
              <a:solidFill>
                <a:srgbClr val="002B5C"/>
              </a:solidFill>
              <a:ea typeface="+mn-lt"/>
              <a:cs typeface="+mn-lt"/>
            </a:endParaRPr>
          </a:p>
          <a:p>
            <a:pPr marL="285750" indent="-285750">
              <a:spcBef>
                <a:spcPts val="1800"/>
              </a:spcBef>
              <a:spcAft>
                <a:spcPts val="300"/>
              </a:spcAft>
              <a:buFont typeface="Arial" panose="020B0604020202020204" pitchFamily="34" charset="0"/>
              <a:buChar char="•"/>
              <a:defRPr sz="1800">
                <a:solidFill>
                  <a:srgbClr val="1A1A1A"/>
                </a:solidFill>
                <a:latin typeface="Calibri"/>
              </a:defRPr>
            </a:pPr>
            <a:r>
              <a:rPr lang="en-US" err="1">
                <a:solidFill>
                  <a:srgbClr val="002B5C"/>
                </a:solidFill>
                <a:ea typeface="+mn-lt"/>
                <a:cs typeface="+mn-lt"/>
              </a:rPr>
              <a:t>Ερμηνευσιμότητ</a:t>
            </a:r>
            <a:r>
              <a:rPr lang="en-US">
                <a:solidFill>
                  <a:srgbClr val="002B5C"/>
                </a:solidFill>
                <a:ea typeface="+mn-lt"/>
                <a:cs typeface="+mn-lt"/>
              </a:rPr>
              <a:t>α (SHAP/LIME) σε &lt; 10% των μελετών</a:t>
            </a:r>
          </a:p>
          <a:p>
            <a:pPr marL="285750" indent="-285750">
              <a:spcBef>
                <a:spcPts val="1800"/>
              </a:spcBef>
              <a:spcAft>
                <a:spcPts val="300"/>
              </a:spcAft>
              <a:buFont typeface="Arial" panose="020B0604020202020204" pitchFamily="34" charset="0"/>
              <a:buChar char="•"/>
              <a:defRPr sz="1800">
                <a:solidFill>
                  <a:srgbClr val="1A1A1A"/>
                </a:solidFill>
                <a:latin typeface="Calibri"/>
              </a:defRPr>
            </a:pPr>
            <a:r>
              <a:rPr lang="en-US">
                <a:solidFill>
                  <a:srgbClr val="002B5C"/>
                </a:solidFill>
                <a:ea typeface="+mn-lt"/>
                <a:cs typeface="+mn-lt"/>
              </a:rPr>
              <a:t>94% </a:t>
            </a:r>
            <a:r>
              <a:rPr lang="en-US" err="1">
                <a:solidFill>
                  <a:srgbClr val="002B5C"/>
                </a:solidFill>
                <a:ea typeface="+mn-lt"/>
                <a:cs typeface="+mn-lt"/>
              </a:rPr>
              <a:t>εστιάζουν</a:t>
            </a:r>
            <a:r>
              <a:rPr lang="en-US">
                <a:solidFill>
                  <a:srgbClr val="002B5C"/>
                </a:solidFill>
                <a:ea typeface="+mn-lt"/>
                <a:cs typeface="+mn-lt"/>
              </a:rPr>
              <a:t> </a:t>
            </a:r>
            <a:r>
              <a:rPr lang="en-US" err="1">
                <a:solidFill>
                  <a:srgbClr val="002B5C"/>
                </a:solidFill>
                <a:ea typeface="+mn-lt"/>
                <a:cs typeface="+mn-lt"/>
              </a:rPr>
              <a:t>στην</a:t>
            </a:r>
            <a:r>
              <a:rPr lang="en-US">
                <a:solidFill>
                  <a:srgbClr val="002B5C"/>
                </a:solidFill>
                <a:ea typeface="+mn-lt"/>
                <a:cs typeface="+mn-lt"/>
              </a:rPr>
              <a:t> α</a:t>
            </a:r>
            <a:r>
              <a:rPr lang="en-US" err="1">
                <a:solidFill>
                  <a:srgbClr val="002B5C"/>
                </a:solidFill>
                <a:ea typeface="+mn-lt"/>
                <a:cs typeface="+mn-lt"/>
              </a:rPr>
              <a:t>νίχνευση</a:t>
            </a:r>
            <a:r>
              <a:rPr lang="en-US">
                <a:solidFill>
                  <a:srgbClr val="002B5C"/>
                </a:solidFill>
                <a:ea typeface="+mn-lt"/>
                <a:cs typeface="+mn-lt"/>
              </a:rPr>
              <a:t>, &lt; 12% </a:t>
            </a:r>
            <a:r>
              <a:rPr lang="en-US" err="1">
                <a:solidFill>
                  <a:srgbClr val="002B5C"/>
                </a:solidFill>
                <a:ea typeface="+mn-lt"/>
                <a:cs typeface="+mn-lt"/>
              </a:rPr>
              <a:t>στην</a:t>
            </a:r>
            <a:r>
              <a:rPr lang="en-US">
                <a:solidFill>
                  <a:srgbClr val="002B5C"/>
                </a:solidFill>
                <a:ea typeface="+mn-lt"/>
                <a:cs typeface="+mn-lt"/>
              </a:rPr>
              <a:t> παρα</a:t>
            </a:r>
            <a:r>
              <a:rPr lang="en-US" err="1">
                <a:solidFill>
                  <a:srgbClr val="002B5C"/>
                </a:solidFill>
                <a:ea typeface="+mn-lt"/>
                <a:cs typeface="+mn-lt"/>
              </a:rPr>
              <a:t>κολούθηση</a:t>
            </a:r>
            <a:r>
              <a:rPr lang="en-US">
                <a:solidFill>
                  <a:srgbClr val="002B5C"/>
                </a:solidFill>
                <a:ea typeface="+mn-lt"/>
                <a:cs typeface="+mn-lt"/>
              </a:rPr>
              <a:t> </a:t>
            </a:r>
            <a:r>
              <a:rPr lang="en-US" err="1">
                <a:solidFill>
                  <a:srgbClr val="002B5C"/>
                </a:solidFill>
                <a:ea typeface="+mn-lt"/>
                <a:cs typeface="+mn-lt"/>
              </a:rPr>
              <a:t>εξέλιξης</a:t>
            </a:r>
            <a:r>
              <a:rPr lang="en-US">
                <a:solidFill>
                  <a:srgbClr val="002B5C"/>
                </a:solidFill>
                <a:ea typeface="+mn-lt"/>
                <a:cs typeface="+mn-lt"/>
              </a:rPr>
              <a:t> </a:t>
            </a:r>
            <a:r>
              <a:rPr lang="en-US" err="1">
                <a:solidFill>
                  <a:srgbClr val="002B5C"/>
                </a:solidFill>
                <a:ea typeface="+mn-lt"/>
                <a:cs typeface="+mn-lt"/>
              </a:rPr>
              <a:t>της</a:t>
            </a:r>
            <a:r>
              <a:rPr lang="en-US">
                <a:solidFill>
                  <a:srgbClr val="002B5C"/>
                </a:solidFill>
                <a:ea typeface="+mn-lt"/>
                <a:cs typeface="+mn-lt"/>
              </a:rPr>
              <a:t> </a:t>
            </a:r>
            <a:r>
              <a:rPr lang="en-US" err="1">
                <a:solidFill>
                  <a:srgbClr val="002B5C"/>
                </a:solidFill>
                <a:ea typeface="+mn-lt"/>
                <a:cs typeface="+mn-lt"/>
              </a:rPr>
              <a:t>νόσου</a:t>
            </a:r>
            <a:endParaRPr lang="en-US">
              <a:solidFill>
                <a:srgbClr val="002B5C"/>
              </a:solidFill>
              <a:ea typeface="+mn-lt"/>
              <a:cs typeface="+mn-lt"/>
            </a:endParaRPr>
          </a:p>
          <a:p>
            <a:pPr marL="285750" indent="-285750">
              <a:spcBef>
                <a:spcPts val="1800"/>
              </a:spcBef>
              <a:spcAft>
                <a:spcPts val="300"/>
              </a:spcAft>
              <a:buFont typeface="Arial" panose="020B0604020202020204" pitchFamily="34" charset="0"/>
              <a:buChar char="•"/>
              <a:defRPr sz="1800">
                <a:solidFill>
                  <a:srgbClr val="1A1A1A"/>
                </a:solidFill>
                <a:latin typeface="Calibri"/>
              </a:defRPr>
            </a:pPr>
            <a:r>
              <a:rPr lang="en-US">
                <a:solidFill>
                  <a:srgbClr val="002B5C"/>
                </a:solidFill>
                <a:ea typeface="+mn-lt"/>
                <a:cs typeface="+mn-lt"/>
              </a:rPr>
              <a:t>Η π</a:t>
            </a:r>
            <a:r>
              <a:rPr lang="en-US" err="1">
                <a:solidFill>
                  <a:srgbClr val="002B5C"/>
                </a:solidFill>
                <a:ea typeface="+mn-lt"/>
                <a:cs typeface="+mn-lt"/>
              </a:rPr>
              <a:t>οιότητ</a:t>
            </a:r>
            <a:r>
              <a:rPr lang="en-US">
                <a:solidFill>
                  <a:srgbClr val="002B5C"/>
                </a:solidFill>
                <a:ea typeface="+mn-lt"/>
                <a:cs typeface="+mn-lt"/>
              </a:rPr>
              <a:t>α αναφοράς αποτελεσμάτων παρουσιάζει μεγάλη διακύμανση</a:t>
            </a:r>
            <a:r>
              <a:rPr lang="en-US">
                <a:solidFill>
                  <a:srgbClr val="002B5C"/>
                </a:solidFill>
                <a:latin typeface="Aptos"/>
              </a:rPr>
              <a:t> </a:t>
            </a:r>
            <a:r>
              <a:rPr>
                <a:solidFill>
                  <a:srgbClr val="002B5C"/>
                </a:solidFill>
                <a:latin typeface="Aptos"/>
              </a:rPr>
              <a:t>(Sedigh-Malekroodi 2025, Xavier 2025)</a:t>
            </a:r>
          </a:p>
        </p:txBody>
      </p:sp>
      <p:sp>
        <p:nvSpPr>
          <p:cNvPr id="5" name="Rectangle 4"/>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itle 7">
            <a:extLst>
              <a:ext uri="{FF2B5EF4-FFF2-40B4-BE49-F238E27FC236}">
                <a16:creationId xmlns:a16="http://schemas.microsoft.com/office/drawing/2014/main" id="{4CA6732E-DBB4-AD83-8E73-3090048B6AD4}"/>
              </a:ext>
            </a:extLst>
          </p:cNvPr>
          <p:cNvSpPr>
            <a:spLocks noGrp="1"/>
          </p:cNvSpPr>
          <p:nvPr>
            <p:ph type="title"/>
          </p:nvPr>
        </p:nvSpPr>
        <p:spPr>
          <a:prstGeom prst="rect">
            <a:avLst/>
          </a:prstGeom>
        </p:spPr>
        <p:txBody>
          <a:bodyPr>
            <a:normAutofit/>
          </a:bodyPr>
          <a:lstStyle/>
          <a:p>
            <a:r>
              <a:rPr lang="en-GB">
                <a:solidFill>
                  <a:srgbClr val="FFFFFF"/>
                </a:solidFill>
                <a:latin typeface="Aptos"/>
                <a:ea typeface="Calibri"/>
                <a:cs typeface="Calibri"/>
              </a:rPr>
              <a:t>Βιβλιογραφική Ανασκόπηση </a:t>
            </a:r>
            <a:r>
              <a:rPr lang="en-GB">
                <a:latin typeface="Aptos"/>
              </a:rPr>
              <a:t>- Κύρια Ευρήματα</a:t>
            </a: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926794227"/>
              </p:ext>
            </p:extLst>
          </p:nvPr>
        </p:nvGraphicFramePr>
        <p:xfrm>
          <a:off x="1533753" y="1973384"/>
          <a:ext cx="9082740" cy="2910945"/>
        </p:xfrm>
        <a:graphic>
          <a:graphicData uri="http://schemas.openxmlformats.org/drawingml/2006/table">
            <a:tbl>
              <a:tblPr firstRow="1" bandRow="1">
                <a:tableStyleId>{5C22544A-7EE6-4342-B048-85BDC9FD1C3A}</a:tableStyleId>
              </a:tblPr>
              <a:tblGrid>
                <a:gridCol w="4541370">
                  <a:extLst>
                    <a:ext uri="{9D8B030D-6E8A-4147-A177-3AD203B41FA5}">
                      <a16:colId xmlns:a16="http://schemas.microsoft.com/office/drawing/2014/main" val="20000"/>
                    </a:ext>
                  </a:extLst>
                </a:gridCol>
                <a:gridCol w="4541370">
                  <a:extLst>
                    <a:ext uri="{9D8B030D-6E8A-4147-A177-3AD203B41FA5}">
                      <a16:colId xmlns:a16="http://schemas.microsoft.com/office/drawing/2014/main" val="20001"/>
                    </a:ext>
                  </a:extLst>
                </a:gridCol>
              </a:tblGrid>
              <a:tr h="551793">
                <a:tc>
                  <a:txBody>
                    <a:bodyPr/>
                    <a:lstStyle/>
                    <a:p>
                      <a:pPr lvl="0" algn="ctr">
                        <a:buNone/>
                      </a:pPr>
                      <a:r>
                        <a:rPr lang="en-US" sz="1800" b="1" i="0" u="none" strike="noStrike" noProof="0">
                          <a:solidFill>
                            <a:srgbClr val="002B5C"/>
                          </a:solidFill>
                        </a:rPr>
                        <a:t>Συνήθης Πρακτική</a:t>
                      </a:r>
                      <a:endParaRPr sz="1800" b="1">
                        <a:solidFill>
                          <a:srgbClr val="002B5C"/>
                        </a:solidFill>
                        <a:latin typeface="Aptos" panose="020B0004020202020204" pitchFamily="34" charset="0"/>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800" b="1" i="0" u="none" strike="noStrike" noProof="0">
                          <a:solidFill>
                            <a:srgbClr val="E86C00"/>
                          </a:solidFill>
                        </a:rPr>
                        <a:t>Η Παρούσα Μελέτη</a:t>
                      </a:r>
                      <a:endParaRPr sz="1800" b="1">
                        <a:solidFill>
                          <a:srgbClr val="E86C00"/>
                        </a:solidFill>
                        <a:latin typeface="Apto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93192">
                <a:tc>
                  <a:txBody>
                    <a:bodyPr/>
                    <a:lstStyle/>
                    <a:p>
                      <a:pPr lvl="0" algn="ctr">
                        <a:buNone/>
                      </a:pPr>
                      <a:r>
                        <a:rPr lang="en-US" sz="1400" b="0" i="0" u="none" strike="noStrike" noProof="0">
                          <a:solidFill>
                            <a:srgbClr val="002B5C"/>
                          </a:solidFill>
                        </a:rPr>
                        <a:t>Τυχαίος διαχωρισμός train/test</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a:defRPr sz="1300">
                          <a:solidFill>
                            <a:srgbClr val="1A1A1A"/>
                          </a:solidFill>
                          <a:latin typeface="Calibri"/>
                        </a:defRPr>
                      </a:pPr>
                      <a:r>
                        <a:rPr sz="1400">
                          <a:solidFill>
                            <a:srgbClr val="E86C00"/>
                          </a:solidFill>
                          <a:latin typeface="Aptos" panose="020B0004020202020204" pitchFamily="34" charset="0"/>
                        </a:rPr>
                        <a:t>Grouped Stratified 5-Fold CV</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1"/>
                  </a:ext>
                </a:extLst>
              </a:tr>
              <a:tr h="393192">
                <a:tc>
                  <a:txBody>
                    <a:bodyPr/>
                    <a:lstStyle/>
                    <a:p>
                      <a:pPr lvl="0" algn="ctr">
                        <a:buNone/>
                      </a:pPr>
                      <a:r>
                        <a:rPr lang="en-US" sz="1400" b="0" i="0" u="none" strike="noStrike" noProof="0">
                          <a:solidFill>
                            <a:srgbClr val="002B5C"/>
                          </a:solidFill>
                        </a:rPr>
                        <a:t>Αναφορά μόνο του καλύτερου αποτελέσματος</a:t>
                      </a:r>
                      <a:endParaRPr sz="1400">
                        <a:solidFill>
                          <a:srgbClr val="002B5C"/>
                        </a:solidFill>
                        <a:latin typeface="Aptos" panose="020B0004020202020204" pitchFamily="34" charset="0"/>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lvl="0" algn="ctr">
                        <a:buNone/>
                      </a:pPr>
                      <a:r>
                        <a:rPr lang="en-US" sz="1400" b="0" i="0" u="none" strike="noStrike" noProof="0">
                          <a:solidFill>
                            <a:srgbClr val="E86C00"/>
                          </a:solidFill>
                        </a:rPr>
                        <a:t>Αναφορά και των 300 πειραματικών εκτελέσεων</a:t>
                      </a:r>
                      <a:endParaRPr sz="1400">
                        <a:solidFill>
                          <a:srgbClr val="E86C00"/>
                        </a:solidFill>
                        <a:latin typeface="Aptos" panose="020B000402020202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93192">
                <a:tc>
                  <a:txBody>
                    <a:bodyPr/>
                    <a:lstStyle/>
                    <a:p>
                      <a:pPr algn="ctr">
                        <a:defRPr sz="1300">
                          <a:solidFill>
                            <a:srgbClr val="1A1A1A"/>
                          </a:solidFill>
                          <a:latin typeface="Calibri"/>
                        </a:defRPr>
                      </a:pPr>
                      <a:r>
                        <a:rPr sz="1400">
                          <a:solidFill>
                            <a:srgbClr val="002B5C"/>
                          </a:solidFill>
                          <a:latin typeface="Aptos" panose="020B0004020202020204" pitchFamily="34" charset="0"/>
                        </a:rPr>
                        <a:t>Tuned hyperparameters</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lvl="0" algn="ctr">
                        <a:buNone/>
                      </a:pPr>
                      <a:r>
                        <a:rPr lang="en-US" sz="1400" b="0" i="0" u="none" strike="noStrike" noProof="0">
                          <a:solidFill>
                            <a:srgbClr val="E86C00"/>
                          </a:solidFill>
                        </a:rPr>
                        <a:t>Σταθερές </a:t>
                      </a:r>
                      <a:r>
                        <a:rPr sz="1400">
                          <a:solidFill>
                            <a:srgbClr val="E86C00"/>
                          </a:solidFill>
                          <a:latin typeface="Aptos"/>
                        </a:rPr>
                        <a:t>a priori </a:t>
                      </a:r>
                      <a:r>
                        <a:rPr lang="en-US" sz="1400" b="0" i="0" u="none" strike="noStrike" noProof="0">
                          <a:solidFill>
                            <a:srgbClr val="E86C00"/>
                          </a:solidFill>
                        </a:rPr>
                        <a:t>παράμετροι</a:t>
                      </a:r>
                      <a:endParaRPr sz="1400">
                        <a:solidFill>
                          <a:srgbClr val="E86C00"/>
                        </a:solidFill>
                        <a:latin typeface="Apto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3"/>
                  </a:ext>
                </a:extLst>
              </a:tr>
              <a:tr h="393192">
                <a:tc>
                  <a:txBody>
                    <a:bodyPr/>
                    <a:lstStyle/>
                    <a:p>
                      <a:pPr algn="ctr"/>
                      <a:r>
                        <a:rPr lang="el-GR" sz="1400">
                          <a:solidFill>
                            <a:srgbClr val="002B5C"/>
                          </a:solidFill>
                          <a:latin typeface="Aptos"/>
                        </a:rPr>
                        <a:t>Ένα μοναδικό σύνολο χαρακτηριστικών</a:t>
                      </a:r>
                      <a:endParaRPr sz="1400">
                        <a:solidFill>
                          <a:srgbClr val="002B5C"/>
                        </a:solidFill>
                        <a:latin typeface="Aptos"/>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lvl="0" algn="ctr">
                        <a:buNone/>
                      </a:pPr>
                      <a:r>
                        <a:rPr lang="el-GR" sz="1400" b="0" i="0" u="none" strike="noStrike" noProof="0">
                          <a:solidFill>
                            <a:srgbClr val="E86C00"/>
                          </a:solidFill>
                        </a:rPr>
                        <a:t>Ελεγχόμενη μελέτη ablation: 47 .vs 78 χαρακτηριστικών</a:t>
                      </a:r>
                      <a:endParaRPr lang="en-US"/>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93192">
                <a:tc>
                  <a:txBody>
                    <a:bodyPr/>
                    <a:lstStyle/>
                    <a:p>
                      <a:pPr lvl="0" algn="ctr">
                        <a:buNone/>
                      </a:pPr>
                      <a:r>
                        <a:rPr lang="en-US" sz="1400" b="0" i="0" u="none" strike="noStrike" noProof="0">
                          <a:solidFill>
                            <a:srgbClr val="002B5C"/>
                          </a:solidFill>
                        </a:rPr>
                        <a:t>Αγνόηση ανισορροπίας κλάσεων</a:t>
                      </a:r>
                      <a:endParaRPr sz="1400">
                        <a:solidFill>
                          <a:srgbClr val="002B5C"/>
                        </a:solidFill>
                        <a:latin typeface="Aptos" panose="020B0004020202020204" pitchFamily="34" charset="0"/>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lvl="0" algn="ctr">
                        <a:buNone/>
                      </a:pPr>
                      <a:r>
                        <a:rPr lang="en-US" sz="1400" b="0" i="0" u="none" strike="noStrike" noProof="0">
                          <a:solidFill>
                            <a:srgbClr val="E86C00"/>
                          </a:solidFill>
                        </a:rPr>
                        <a:t>Συστηματική ανάλυση στάθμισης κλάσεων</a:t>
                      </a:r>
                      <a:endParaRPr sz="1400">
                        <a:solidFill>
                          <a:srgbClr val="E86C00"/>
                        </a:solidFill>
                        <a:latin typeface="Aptos" panose="020B0004020202020204" pitchFamily="34" charset="0"/>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5"/>
                  </a:ext>
                </a:extLst>
              </a:tr>
              <a:tr h="393192">
                <a:tc>
                  <a:txBody>
                    <a:bodyPr/>
                    <a:lstStyle/>
                    <a:p>
                      <a:pPr lvl="0" algn="ctr">
                        <a:buNone/>
                      </a:pPr>
                      <a:r>
                        <a:rPr lang="en-US" sz="1400" b="0" i="0" u="none" strike="noStrike" noProof="0">
                          <a:solidFill>
                            <a:srgbClr val="002B5C"/>
                          </a:solidFill>
                        </a:rPr>
                        <a:t>Ελάχιστη συζήτηση περιορισμών</a:t>
                      </a:r>
                      <a:endParaRPr sz="1400">
                        <a:solidFill>
                          <a:srgbClr val="002B5C"/>
                        </a:solidFill>
                        <a:latin typeface="Aptos" panose="020B0004020202020204" pitchFamily="34" charset="0"/>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lvl="0" algn="ctr">
                        <a:buNone/>
                      </a:pPr>
                      <a:r>
                        <a:rPr lang="el-GR" sz="1400" b="0" i="0" u="none" strike="noStrike" noProof="0">
                          <a:solidFill>
                            <a:srgbClr val="E86C00"/>
                          </a:solidFill>
                        </a:rPr>
                        <a:t>Πλήρης διαφάνεια ως προς όλους τους περιορισμούς</a:t>
                      </a:r>
                      <a:endParaRPr lang="en-US"/>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bl>
          </a:graphicData>
        </a:graphic>
      </p:graphicFrame>
      <p:sp>
        <p:nvSpPr>
          <p:cNvPr id="5" name="Rectangle 4"/>
          <p:cNvSpPr/>
          <p:nvPr/>
        </p:nvSpPr>
        <p:spPr>
          <a:xfrm>
            <a:off x="1533753" y="4885353"/>
            <a:ext cx="9082740" cy="237744"/>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l-GR" sz="800">
                <a:solidFill>
                  <a:schemeClr val="tx1"/>
                </a:solidFill>
                <a:latin typeface="Aptos"/>
              </a:rPr>
              <a:t>Πίνακας: </a:t>
            </a:r>
            <a:r>
              <a:rPr lang="el-GR" sz="800">
                <a:solidFill>
                  <a:schemeClr val="tx1"/>
                </a:solidFill>
                <a:ea typeface="+mn-lt"/>
                <a:cs typeface="+mn-lt"/>
              </a:rPr>
              <a:t>Ερευνητικό Κενό &amp; Τοποθέτηση Διπλωματικής </a:t>
            </a:r>
            <a:endParaRPr lang="en-US">
              <a:solidFill>
                <a:schemeClr val="tx1"/>
              </a:solidFill>
              <a:ea typeface="+mn-lt"/>
              <a:cs typeface="+mn-lt"/>
            </a:endParaRP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itle 8">
            <a:extLst>
              <a:ext uri="{FF2B5EF4-FFF2-40B4-BE49-F238E27FC236}">
                <a16:creationId xmlns:a16="http://schemas.microsoft.com/office/drawing/2014/main" id="{87C763AE-F328-FC89-AD19-2E14A9BE71AD}"/>
              </a:ext>
            </a:extLst>
          </p:cNvPr>
          <p:cNvSpPr>
            <a:spLocks noGrp="1"/>
          </p:cNvSpPr>
          <p:nvPr>
            <p:ph type="title"/>
          </p:nvPr>
        </p:nvSpPr>
        <p:spPr/>
        <p:txBody>
          <a:bodyPr>
            <a:normAutofit/>
          </a:bodyPr>
          <a:lstStyle/>
          <a:p>
            <a:r>
              <a:rPr lang="en-GB">
                <a:latin typeface="Aptos"/>
              </a:rPr>
              <a:t>Ερευνητικό Κενό &amp; Τοποθέτηση Διπλωματικής</a:t>
            </a: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525228244"/>
              </p:ext>
            </p:extLst>
          </p:nvPr>
        </p:nvGraphicFramePr>
        <p:xfrm>
          <a:off x="2129424" y="2056356"/>
          <a:ext cx="7891767" cy="2749295"/>
        </p:xfrm>
        <a:graphic>
          <a:graphicData uri="http://schemas.openxmlformats.org/drawingml/2006/table">
            <a:tbl>
              <a:tblPr firstRow="1" bandRow="1">
                <a:tableStyleId>{5C22544A-7EE6-4342-B048-85BDC9FD1C3A}</a:tableStyleId>
              </a:tblPr>
              <a:tblGrid>
                <a:gridCol w="3283731">
                  <a:extLst>
                    <a:ext uri="{9D8B030D-6E8A-4147-A177-3AD203B41FA5}">
                      <a16:colId xmlns:a16="http://schemas.microsoft.com/office/drawing/2014/main" val="20000"/>
                    </a:ext>
                  </a:extLst>
                </a:gridCol>
                <a:gridCol w="4608036">
                  <a:extLst>
                    <a:ext uri="{9D8B030D-6E8A-4147-A177-3AD203B41FA5}">
                      <a16:colId xmlns:a16="http://schemas.microsoft.com/office/drawing/2014/main" val="20001"/>
                    </a:ext>
                  </a:extLst>
                </a:gridCol>
              </a:tblGrid>
              <a:tr h="393192">
                <a:tc>
                  <a:txBody>
                    <a:bodyPr/>
                    <a:lstStyle/>
                    <a:p>
                      <a:pPr lvl="0" algn="ctr">
                        <a:buNone/>
                        <a:defRPr sz="1300">
                          <a:solidFill>
                            <a:srgbClr val="1A1A1A"/>
                          </a:solidFill>
                          <a:latin typeface="Calibri"/>
                        </a:defRPr>
                      </a:pPr>
                      <a:r>
                        <a:rPr lang="en-US" sz="1400" b="0" i="0" u="none" strike="noStrike" noProof="0">
                          <a:solidFill>
                            <a:schemeClr val="tx1"/>
                          </a:solidFill>
                        </a:rPr>
                        <a:t>Πηγή</a:t>
                      </a:r>
                      <a:endParaRPr/>
                    </a:p>
                  </a:txBody>
                  <a:tcPr anchor="ctr">
                    <a:solidFill>
                      <a:srgbClr val="F2F2F2"/>
                    </a:solidFill>
                  </a:tcPr>
                </a:tc>
                <a:tc>
                  <a:txBody>
                    <a:bodyPr/>
                    <a:lstStyle/>
                    <a:p>
                      <a:pPr algn="ctr">
                        <a:defRPr sz="1300">
                          <a:solidFill>
                            <a:srgbClr val="1A1A1A"/>
                          </a:solidFill>
                          <a:latin typeface="Calibri"/>
                        </a:defRPr>
                      </a:pPr>
                      <a:r>
                        <a:rPr sz="1400" b="0">
                          <a:solidFill>
                            <a:schemeClr val="tx1"/>
                          </a:solidFill>
                          <a:latin typeface="Aptos"/>
                        </a:rPr>
                        <a:t>King's College London (</a:t>
                      </a:r>
                      <a:r>
                        <a:rPr sz="1400" b="0" err="1">
                          <a:solidFill>
                            <a:schemeClr val="tx1"/>
                          </a:solidFill>
                          <a:latin typeface="Aptos"/>
                        </a:rPr>
                        <a:t>Zenodo</a:t>
                      </a:r>
                      <a:r>
                        <a:rPr sz="1400" b="0">
                          <a:solidFill>
                            <a:schemeClr val="tx1"/>
                          </a:solidFill>
                          <a:latin typeface="Aptos"/>
                        </a:rPr>
                        <a:t>)</a:t>
                      </a:r>
                    </a:p>
                  </a:txBody>
                  <a:tcPr anchor="ctr">
                    <a:solidFill>
                      <a:srgbClr val="F2F2F2"/>
                    </a:solidFill>
                  </a:tcPr>
                </a:tc>
                <a:extLst>
                  <a:ext uri="{0D108BD9-81ED-4DB2-BD59-A6C34878D82A}">
                    <a16:rowId xmlns:a16="http://schemas.microsoft.com/office/drawing/2014/main" val="10001"/>
                  </a:ext>
                </a:extLst>
              </a:tr>
              <a:tr h="393192">
                <a:tc>
                  <a:txBody>
                    <a:bodyPr/>
                    <a:lstStyle/>
                    <a:p>
                      <a:pPr lvl="0" algn="ctr">
                        <a:buNone/>
                        <a:defRPr sz="1300">
                          <a:solidFill>
                            <a:srgbClr val="1A1A1A"/>
                          </a:solidFill>
                          <a:latin typeface="Calibri"/>
                        </a:defRPr>
                      </a:pPr>
                      <a:r>
                        <a:rPr lang="en-US" sz="1400" b="0" i="0" u="none" strike="noStrike" noProof="0">
                          <a:solidFill>
                            <a:schemeClr val="tx1"/>
                          </a:solidFill>
                        </a:rPr>
                        <a:t>Μορφή</a:t>
                      </a:r>
                      <a:endParaRPr/>
                    </a:p>
                  </a:txBody>
                  <a:tcPr anchor="ctr">
                    <a:solidFill>
                      <a:srgbClr val="FFFFFF"/>
                    </a:solidFill>
                  </a:tcPr>
                </a:tc>
                <a:tc>
                  <a:txBody>
                    <a:bodyPr/>
                    <a:lstStyle/>
                    <a:p>
                      <a:pPr algn="ctr">
                        <a:defRPr sz="1300">
                          <a:solidFill>
                            <a:srgbClr val="1A1A1A"/>
                          </a:solidFill>
                          <a:latin typeface="Calibri"/>
                        </a:defRPr>
                      </a:pPr>
                      <a:r>
                        <a:rPr sz="1400">
                          <a:solidFill>
                            <a:schemeClr val="tx1"/>
                          </a:solidFill>
                          <a:latin typeface="Aptos"/>
                        </a:rPr>
                        <a:t>WAV PCM, mono, 16-bit, 44.1 kHz</a:t>
                      </a:r>
                    </a:p>
                  </a:txBody>
                  <a:tcPr anchor="ctr">
                    <a:solidFill>
                      <a:srgbClr val="FFFFFF"/>
                    </a:solidFill>
                  </a:tcPr>
                </a:tc>
                <a:extLst>
                  <a:ext uri="{0D108BD9-81ED-4DB2-BD59-A6C34878D82A}">
                    <a16:rowId xmlns:a16="http://schemas.microsoft.com/office/drawing/2014/main" val="10002"/>
                  </a:ext>
                </a:extLst>
              </a:tr>
              <a:tr h="390143">
                <a:tc>
                  <a:txBody>
                    <a:bodyPr/>
                    <a:lstStyle/>
                    <a:p>
                      <a:pPr lvl="0" algn="ctr">
                        <a:buNone/>
                      </a:pPr>
                      <a:r>
                        <a:rPr lang="en-US" sz="1400">
                          <a:solidFill>
                            <a:schemeClr val="tx1"/>
                          </a:solidFill>
                          <a:latin typeface="Aptos"/>
                        </a:rPr>
                        <a:t>ReadText Subjects</a:t>
                      </a:r>
                      <a:endParaRPr>
                        <a:solidFill>
                          <a:schemeClr val="tx1"/>
                        </a:solidFill>
                      </a:endParaRPr>
                    </a:p>
                  </a:txBody>
                  <a:tcPr anchor="ctr">
                    <a:solidFill>
                      <a:srgbClr val="F2F2F2"/>
                    </a:solidFill>
                  </a:tcPr>
                </a:tc>
                <a:tc>
                  <a:txBody>
                    <a:bodyPr/>
                    <a:lstStyle/>
                    <a:p>
                      <a:pPr algn="ctr">
                        <a:defRPr sz="1300">
                          <a:solidFill>
                            <a:srgbClr val="1A1A1A"/>
                          </a:solidFill>
                          <a:latin typeface="Calibri"/>
                        </a:defRPr>
                      </a:pPr>
                      <a:r>
                        <a:rPr sz="1400">
                          <a:solidFill>
                            <a:schemeClr val="tx1"/>
                          </a:solidFill>
                          <a:latin typeface="Aptos"/>
                        </a:rPr>
                        <a:t>37 (21 HC, 16 PD)</a:t>
                      </a:r>
                    </a:p>
                  </a:txBody>
                  <a:tcPr anchor="ctr">
                    <a:solidFill>
                      <a:srgbClr val="F2F2F2"/>
                    </a:solidFill>
                  </a:tcPr>
                </a:tc>
                <a:extLst>
                  <a:ext uri="{0D108BD9-81ED-4DB2-BD59-A6C34878D82A}">
                    <a16:rowId xmlns:a16="http://schemas.microsoft.com/office/drawing/2014/main" val="10003"/>
                  </a:ext>
                </a:extLst>
              </a:tr>
              <a:tr h="393192">
                <a:tc>
                  <a:txBody>
                    <a:bodyPr/>
                    <a:lstStyle/>
                    <a:p>
                      <a:pPr lvl="0" algn="ctr">
                        <a:buNone/>
                      </a:pPr>
                      <a:r>
                        <a:rPr lang="en-US" sz="1400" err="1">
                          <a:solidFill>
                            <a:schemeClr val="tx1"/>
                          </a:solidFill>
                          <a:latin typeface="Aptos"/>
                        </a:rPr>
                        <a:t>SpontaneousDialogue</a:t>
                      </a:r>
                      <a:r>
                        <a:rPr lang="en-US" sz="1400">
                          <a:solidFill>
                            <a:schemeClr val="tx1"/>
                          </a:solidFill>
                          <a:latin typeface="Aptos"/>
                        </a:rPr>
                        <a:t> Subjects</a:t>
                      </a:r>
                      <a:endParaRPr>
                        <a:solidFill>
                          <a:schemeClr val="tx1"/>
                        </a:solidFill>
                      </a:endParaRPr>
                    </a:p>
                  </a:txBody>
                  <a:tcPr anchor="ctr">
                    <a:solidFill>
                      <a:srgbClr val="FFFFFF"/>
                    </a:solidFill>
                  </a:tcPr>
                </a:tc>
                <a:tc>
                  <a:txBody>
                    <a:bodyPr/>
                    <a:lstStyle/>
                    <a:p>
                      <a:pPr algn="ctr">
                        <a:defRPr sz="1300">
                          <a:solidFill>
                            <a:srgbClr val="1A1A1A"/>
                          </a:solidFill>
                          <a:latin typeface="Calibri"/>
                        </a:defRPr>
                      </a:pPr>
                      <a:r>
                        <a:rPr sz="1400">
                          <a:solidFill>
                            <a:schemeClr val="tx1"/>
                          </a:solidFill>
                          <a:latin typeface="Aptos"/>
                        </a:rPr>
                        <a:t>36 (21 HC, 15 PD)</a:t>
                      </a:r>
                    </a:p>
                  </a:txBody>
                  <a:tcPr anchor="ctr">
                    <a:solidFill>
                      <a:srgbClr val="FFFFFF"/>
                    </a:solidFill>
                  </a:tcPr>
                </a:tc>
                <a:extLst>
                  <a:ext uri="{0D108BD9-81ED-4DB2-BD59-A6C34878D82A}">
                    <a16:rowId xmlns:a16="http://schemas.microsoft.com/office/drawing/2014/main" val="10004"/>
                  </a:ext>
                </a:extLst>
              </a:tr>
              <a:tr h="393192">
                <a:tc>
                  <a:txBody>
                    <a:bodyPr/>
                    <a:lstStyle/>
                    <a:p>
                      <a:pPr lvl="0" algn="ctr">
                        <a:buNone/>
                      </a:pPr>
                      <a:r>
                        <a:rPr lang="en-US" sz="1400" b="0" i="0" u="none" strike="noStrike" noProof="0">
                          <a:solidFill>
                            <a:schemeClr val="tx1"/>
                          </a:solidFill>
                        </a:rPr>
                        <a:t>Συσκευή Καταγραφής</a:t>
                      </a:r>
                      <a:endParaRPr/>
                    </a:p>
                  </a:txBody>
                  <a:tcPr anchor="ctr">
                    <a:solidFill>
                      <a:srgbClr val="F2F2F2"/>
                    </a:solidFill>
                  </a:tcPr>
                </a:tc>
                <a:tc>
                  <a:txBody>
                    <a:bodyPr/>
                    <a:lstStyle/>
                    <a:p>
                      <a:pPr algn="ctr">
                        <a:defRPr sz="1300">
                          <a:solidFill>
                            <a:srgbClr val="1A1A1A"/>
                          </a:solidFill>
                          <a:latin typeface="Calibri"/>
                        </a:defRPr>
                      </a:pPr>
                      <a:r>
                        <a:rPr sz="1400">
                          <a:solidFill>
                            <a:schemeClr val="tx1"/>
                          </a:solidFill>
                          <a:latin typeface="Aptos"/>
                        </a:rPr>
                        <a:t>Smartphone (Moto G4)</a:t>
                      </a:r>
                    </a:p>
                  </a:txBody>
                  <a:tcPr anchor="ctr">
                    <a:solidFill>
                      <a:srgbClr val="F2F2F2"/>
                    </a:solidFill>
                  </a:tcPr>
                </a:tc>
                <a:extLst>
                  <a:ext uri="{0D108BD9-81ED-4DB2-BD59-A6C34878D82A}">
                    <a16:rowId xmlns:a16="http://schemas.microsoft.com/office/drawing/2014/main" val="10005"/>
                  </a:ext>
                </a:extLst>
              </a:tr>
              <a:tr h="393192">
                <a:tc>
                  <a:txBody>
                    <a:bodyPr/>
                    <a:lstStyle/>
                    <a:p>
                      <a:pPr lvl="0" algn="ctr">
                        <a:buNone/>
                      </a:pPr>
                      <a:r>
                        <a:rPr lang="en-US" sz="1400">
                          <a:solidFill>
                            <a:schemeClr val="tx1"/>
                          </a:solidFill>
                          <a:latin typeface="Aptos"/>
                        </a:rPr>
                        <a:t>Subject IDs</a:t>
                      </a:r>
                      <a:endParaRPr>
                        <a:solidFill>
                          <a:schemeClr val="tx1"/>
                        </a:solidFill>
                      </a:endParaRPr>
                    </a:p>
                  </a:txBody>
                  <a:tcPr anchor="ctr">
                    <a:solidFill>
                      <a:srgbClr val="FFFFFF"/>
                    </a:solidFill>
                  </a:tcPr>
                </a:tc>
                <a:tc>
                  <a:txBody>
                    <a:bodyPr/>
                    <a:lstStyle/>
                    <a:p>
                      <a:pPr algn="ctr"/>
                      <a:r>
                        <a:rPr sz="1400">
                          <a:solidFill>
                            <a:schemeClr val="tx1"/>
                          </a:solidFill>
                          <a:latin typeface="Aptos"/>
                        </a:rPr>
                        <a:t>✓ </a:t>
                      </a:r>
                      <a:r>
                        <a:rPr lang="en-US" sz="1400" b="0" i="0" u="none" strike="noStrike" noProof="0">
                          <a:solidFill>
                            <a:schemeClr val="tx1"/>
                          </a:solidFill>
                        </a:rPr>
                        <a:t>Διαθέσιμα </a:t>
                      </a:r>
                      <a:r>
                        <a:rPr sz="1400">
                          <a:solidFill>
                            <a:schemeClr val="tx1"/>
                          </a:solidFill>
                          <a:latin typeface="Aptos"/>
                        </a:rPr>
                        <a:t>→ Grouped CV </a:t>
                      </a:r>
                      <a:endParaRPr sz="1400" b="0" i="0" u="none" strike="noStrike" noProof="0">
                        <a:solidFill>
                          <a:schemeClr val="tx1"/>
                        </a:solidFill>
                      </a:endParaRPr>
                    </a:p>
                  </a:txBody>
                  <a:tcPr anchor="ctr">
                    <a:solidFill>
                      <a:srgbClr val="FFFFFF"/>
                    </a:solidFill>
                  </a:tcPr>
                </a:tc>
                <a:extLst>
                  <a:ext uri="{0D108BD9-81ED-4DB2-BD59-A6C34878D82A}">
                    <a16:rowId xmlns:a16="http://schemas.microsoft.com/office/drawing/2014/main" val="10006"/>
                  </a:ext>
                </a:extLst>
              </a:tr>
              <a:tr h="393192">
                <a:tc>
                  <a:txBody>
                    <a:bodyPr/>
                    <a:lstStyle/>
                    <a:p>
                      <a:pPr lvl="0" algn="ctr">
                        <a:buNone/>
                      </a:pPr>
                      <a:r>
                        <a:rPr lang="en-US" sz="1400" b="0" i="0" u="none" strike="noStrike" noProof="0">
                          <a:solidFill>
                            <a:schemeClr val="tx1"/>
                          </a:solidFill>
                        </a:rPr>
                        <a:t>Αναλογία Κλάσεων</a:t>
                      </a:r>
                      <a:endParaRPr/>
                    </a:p>
                  </a:txBody>
                  <a:tcPr anchor="ctr">
                    <a:solidFill>
                      <a:srgbClr val="F2F2F2"/>
                    </a:solidFill>
                  </a:tcPr>
                </a:tc>
                <a:tc>
                  <a:txBody>
                    <a:bodyPr/>
                    <a:lstStyle/>
                    <a:p>
                      <a:pPr algn="ctr"/>
                      <a:r>
                        <a:rPr sz="1400">
                          <a:solidFill>
                            <a:schemeClr val="tx1"/>
                          </a:solidFill>
                          <a:latin typeface="Aptos"/>
                        </a:rPr>
                        <a:t>~57:43 (HC:PD) </a:t>
                      </a:r>
                      <a:r>
                        <a:rPr lang="en-US" sz="1400">
                          <a:solidFill>
                            <a:schemeClr val="tx1"/>
                          </a:solidFill>
                          <a:latin typeface="Aptos"/>
                        </a:rPr>
                        <a:t>- </a:t>
                      </a:r>
                      <a:r>
                        <a:rPr lang="en-US" sz="1400" b="0" i="0" u="none" strike="noStrike" noProof="0">
                          <a:solidFill>
                            <a:schemeClr val="tx1"/>
                          </a:solidFill>
                        </a:rPr>
                        <a:t>Ήπια ανισορροπία</a:t>
                      </a:r>
                      <a:endParaRPr sz="1400">
                        <a:solidFill>
                          <a:schemeClr val="tx1"/>
                        </a:solidFill>
                        <a:latin typeface="Aptos"/>
                      </a:endParaRPr>
                    </a:p>
                  </a:txBody>
                  <a:tcPr anchor="ctr">
                    <a:solidFill>
                      <a:srgbClr val="F2F2F2"/>
                    </a:solidFill>
                  </a:tcPr>
                </a:tc>
                <a:extLst>
                  <a:ext uri="{0D108BD9-81ED-4DB2-BD59-A6C34878D82A}">
                    <a16:rowId xmlns:a16="http://schemas.microsoft.com/office/drawing/2014/main" val="10007"/>
                  </a:ext>
                </a:extLst>
              </a:tr>
            </a:tbl>
          </a:graphicData>
        </a:graphic>
      </p:graphicFrame>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itle 8">
            <a:extLst>
              <a:ext uri="{FF2B5EF4-FFF2-40B4-BE49-F238E27FC236}">
                <a16:creationId xmlns:a16="http://schemas.microsoft.com/office/drawing/2014/main" id="{82C51A31-A89A-7921-46C2-E84ACE64E15B}"/>
              </a:ext>
            </a:extLst>
          </p:cNvPr>
          <p:cNvSpPr>
            <a:spLocks noGrp="1"/>
          </p:cNvSpPr>
          <p:nvPr>
            <p:ph type="title"/>
          </p:nvPr>
        </p:nvSpPr>
        <p:spPr/>
        <p:txBody>
          <a:bodyPr>
            <a:normAutofit/>
          </a:bodyPr>
          <a:lstStyle/>
          <a:p>
            <a:r>
              <a:rPr lang="it-IT">
                <a:latin typeface="Aptos"/>
              </a:rPr>
              <a:t>Dataset A: Ηχογραφήσεις Φωνής PD/HC</a:t>
            </a:r>
            <a:endParaRPr lang="en-GB">
              <a:latin typeface="Apto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514033053"/>
              </p:ext>
            </p:extLst>
          </p:nvPr>
        </p:nvGraphicFramePr>
        <p:xfrm>
          <a:off x="478077" y="1971183"/>
          <a:ext cx="11247120" cy="2920510"/>
        </p:xfrm>
        <a:graphic>
          <a:graphicData uri="http://schemas.openxmlformats.org/drawingml/2006/table">
            <a:tbl>
              <a:tblPr firstRow="1" bandRow="1">
                <a:tableStyleId>{5C22544A-7EE6-4342-B048-85BDC9FD1C3A}</a:tableStyleId>
              </a:tblPr>
              <a:tblGrid>
                <a:gridCol w="3124200">
                  <a:extLst>
                    <a:ext uri="{9D8B030D-6E8A-4147-A177-3AD203B41FA5}">
                      <a16:colId xmlns:a16="http://schemas.microsoft.com/office/drawing/2014/main" val="20000"/>
                    </a:ext>
                  </a:extLst>
                </a:gridCol>
                <a:gridCol w="4061460">
                  <a:extLst>
                    <a:ext uri="{9D8B030D-6E8A-4147-A177-3AD203B41FA5}">
                      <a16:colId xmlns:a16="http://schemas.microsoft.com/office/drawing/2014/main" val="20001"/>
                    </a:ext>
                  </a:extLst>
                </a:gridCol>
                <a:gridCol w="4061460">
                  <a:extLst>
                    <a:ext uri="{9D8B030D-6E8A-4147-A177-3AD203B41FA5}">
                      <a16:colId xmlns:a16="http://schemas.microsoft.com/office/drawing/2014/main" val="20002"/>
                    </a:ext>
                  </a:extLst>
                </a:gridCol>
              </a:tblGrid>
              <a:tr h="561358">
                <a:tc>
                  <a:txBody>
                    <a:bodyPr/>
                    <a:lstStyle/>
                    <a:p>
                      <a:pPr algn="ctr">
                        <a:defRPr sz="1400" b="1">
                          <a:solidFill>
                            <a:srgbClr val="FFFFFF"/>
                          </a:solidFill>
                          <a:latin typeface="Calibri"/>
                        </a:defRPr>
                      </a:pPr>
                      <a:r>
                        <a:rPr lang="el-GR" sz="1800">
                          <a:latin typeface="Aptos"/>
                        </a:rPr>
                        <a:t>Πτυχή</a:t>
                      </a:r>
                      <a:endParaRPr sz="1800">
                        <a:latin typeface="Aptos" panose="020B0004020202020204" pitchFamily="34" charset="0"/>
                      </a:endParaRP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Dataset A (MDVR-KCL)</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Dataset B (PD Speech)</a:t>
                      </a:r>
                    </a:p>
                  </a:txBody>
                  <a:tcPr anchor="ctr">
                    <a:solidFill>
                      <a:srgbClr val="002B5C"/>
                    </a:solidFill>
                  </a:tcPr>
                </a:tc>
                <a:extLst>
                  <a:ext uri="{0D108BD9-81ED-4DB2-BD59-A6C34878D82A}">
                    <a16:rowId xmlns:a16="http://schemas.microsoft.com/office/drawing/2014/main" val="10000"/>
                  </a:ext>
                </a:extLst>
              </a:tr>
              <a:tr h="393192">
                <a:tc>
                  <a:txBody>
                    <a:bodyPr/>
                    <a:lstStyle/>
                    <a:p>
                      <a:pPr lvl="0" algn="ctr">
                        <a:buNone/>
                        <a:defRPr sz="1300">
                          <a:solidFill>
                            <a:srgbClr val="1A1A1A"/>
                          </a:solidFill>
                          <a:latin typeface="Calibri"/>
                        </a:defRPr>
                      </a:pPr>
                      <a:r>
                        <a:rPr lang="en-US" sz="1400" b="0" i="0" u="none" strike="noStrike" noProof="0"/>
                        <a:t>Είσοδος</a:t>
                      </a:r>
                      <a:endParaRPr sz="1400">
                        <a:latin typeface="Aptos" panose="020B0004020202020204" pitchFamily="34" charset="0"/>
                      </a:endParaRPr>
                    </a:p>
                  </a:txBody>
                  <a:tcPr anchor="ctr">
                    <a:solidFill>
                      <a:srgbClr val="F2F2F2"/>
                    </a:solidFill>
                  </a:tcPr>
                </a:tc>
                <a:tc>
                  <a:txBody>
                    <a:bodyPr/>
                    <a:lstStyle/>
                    <a:p>
                      <a:pPr lvl="0" algn="ctr">
                        <a:buNone/>
                      </a:pPr>
                      <a:r>
                        <a:rPr lang="en-US" sz="1400" b="0" i="0" u="none" strike="noStrike" noProof="0"/>
                        <a:t>Ακατέργαστα αρχεία ήχου </a:t>
                      </a:r>
                      <a:r>
                        <a:rPr sz="1400">
                          <a:latin typeface="Aptos"/>
                        </a:rPr>
                        <a:t>(WAV)</a:t>
                      </a:r>
                    </a:p>
                  </a:txBody>
                  <a:tcPr anchor="ctr">
                    <a:solidFill>
                      <a:srgbClr val="F2F2F2"/>
                    </a:solidFill>
                  </a:tcPr>
                </a:tc>
                <a:tc>
                  <a:txBody>
                    <a:bodyPr/>
                    <a:lstStyle/>
                    <a:p>
                      <a:pPr lvl="0" algn="ctr">
                        <a:buNone/>
                      </a:pPr>
                      <a:r>
                        <a:rPr lang="en-US" sz="1400" b="0" i="0" u="none" strike="noStrike" noProof="0"/>
                        <a:t>Προεξαγόμενα χαρακτηριστικά (CSV)</a:t>
                      </a:r>
                    </a:p>
                  </a:txBody>
                  <a:tcPr anchor="ctr">
                    <a:solidFill>
                      <a:srgbClr val="F2F2F2"/>
                    </a:solidFill>
                  </a:tcPr>
                </a:tc>
                <a:extLst>
                  <a:ext uri="{0D108BD9-81ED-4DB2-BD59-A6C34878D82A}">
                    <a16:rowId xmlns:a16="http://schemas.microsoft.com/office/drawing/2014/main" val="10001"/>
                  </a:ext>
                </a:extLst>
              </a:tr>
              <a:tr h="393192">
                <a:tc>
                  <a:txBody>
                    <a:bodyPr/>
                    <a:lstStyle/>
                    <a:p>
                      <a:pPr lvl="0" algn="ctr">
                        <a:buNone/>
                        <a:defRPr sz="1300">
                          <a:solidFill>
                            <a:srgbClr val="1A1A1A"/>
                          </a:solidFill>
                          <a:latin typeface="Calibri"/>
                        </a:defRPr>
                      </a:pPr>
                      <a:r>
                        <a:rPr lang="en-US" sz="1400" b="0" i="0" u="none" strike="noStrike" noProof="0"/>
                        <a:t>Δείγματα</a:t>
                      </a:r>
                      <a:endParaRPr sz="1400">
                        <a:latin typeface="Aptos" panose="020B0004020202020204" pitchFamily="34" charset="0"/>
                      </a:endParaRPr>
                    </a:p>
                  </a:txBody>
                  <a:tcPr anchor="ctr">
                    <a:solidFill>
                      <a:srgbClr val="FFFFFF"/>
                    </a:solidFill>
                  </a:tcPr>
                </a:tc>
                <a:tc>
                  <a:txBody>
                    <a:bodyPr/>
                    <a:lstStyle/>
                    <a:p>
                      <a:pPr algn="ctr">
                        <a:defRPr sz="1300">
                          <a:solidFill>
                            <a:srgbClr val="1A1A1A"/>
                          </a:solidFill>
                          <a:latin typeface="Calibri"/>
                        </a:defRPr>
                      </a:pPr>
                      <a:r>
                        <a:rPr sz="1400">
                          <a:latin typeface="Aptos"/>
                        </a:rPr>
                        <a:t>37/36 </a:t>
                      </a:r>
                      <a:r>
                        <a:rPr lang="el-GR" sz="1400">
                          <a:latin typeface="Aptos"/>
                        </a:rPr>
                        <a:t>υποκείμενα</a:t>
                      </a:r>
                      <a:endParaRPr sz="1400">
                        <a:latin typeface="Aptos" panose="020B0004020202020204" pitchFamily="34" charset="0"/>
                      </a:endParaRPr>
                    </a:p>
                  </a:txBody>
                  <a:tcPr anchor="ctr">
                    <a:solidFill>
                      <a:srgbClr val="FFFFFF"/>
                    </a:solidFill>
                  </a:tcPr>
                </a:tc>
                <a:tc>
                  <a:txBody>
                    <a:bodyPr/>
                    <a:lstStyle/>
                    <a:p>
                      <a:pPr algn="ctr">
                        <a:defRPr sz="1300">
                          <a:solidFill>
                            <a:srgbClr val="1A1A1A"/>
                          </a:solidFill>
                          <a:latin typeface="Calibri"/>
                        </a:defRPr>
                      </a:pPr>
                      <a:r>
                        <a:rPr sz="1400">
                          <a:latin typeface="Aptos"/>
                        </a:rPr>
                        <a:t>756 </a:t>
                      </a:r>
                      <a:r>
                        <a:rPr lang="en-US" sz="1400" b="0" i="0" u="none" strike="noStrike" noProof="0"/>
                        <a:t>δείγματα</a:t>
                      </a:r>
                      <a:r>
                        <a:rPr sz="1400">
                          <a:latin typeface="Aptos"/>
                        </a:rPr>
                        <a:t>(252 </a:t>
                      </a:r>
                      <a:r>
                        <a:rPr lang="el-GR" sz="1400" b="0" i="0" u="none" strike="noStrike" noProof="0">
                          <a:solidFill>
                            <a:srgbClr val="000000"/>
                          </a:solidFill>
                          <a:latin typeface="Aptos"/>
                        </a:rPr>
                        <a:t>υποκείμενα</a:t>
                      </a:r>
                      <a:r>
                        <a:rPr sz="1400">
                          <a:latin typeface="Aptos"/>
                        </a:rPr>
                        <a:t>)</a:t>
                      </a:r>
                    </a:p>
                  </a:txBody>
                  <a:tcPr anchor="ctr">
                    <a:solidFill>
                      <a:srgbClr val="FFFFFF"/>
                    </a:solidFill>
                  </a:tcPr>
                </a:tc>
                <a:extLst>
                  <a:ext uri="{0D108BD9-81ED-4DB2-BD59-A6C34878D82A}">
                    <a16:rowId xmlns:a16="http://schemas.microsoft.com/office/drawing/2014/main" val="10002"/>
                  </a:ext>
                </a:extLst>
              </a:tr>
              <a:tr h="393192">
                <a:tc>
                  <a:txBody>
                    <a:bodyPr/>
                    <a:lstStyle/>
                    <a:p>
                      <a:pPr algn="ctr">
                        <a:defRPr sz="1300">
                          <a:solidFill>
                            <a:srgbClr val="1A1A1A"/>
                          </a:solidFill>
                          <a:latin typeface="Calibri"/>
                        </a:defRPr>
                      </a:pPr>
                      <a:r>
                        <a:rPr sz="1400">
                          <a:latin typeface="Aptos" panose="020B0004020202020204" pitchFamily="34" charset="0"/>
                        </a:rPr>
                        <a:t>Subject IDs</a:t>
                      </a:r>
                    </a:p>
                  </a:txBody>
                  <a:tcPr anchor="ctr">
                    <a:solidFill>
                      <a:srgbClr val="F2F2F2"/>
                    </a:solidFill>
                  </a:tcPr>
                </a:tc>
                <a:tc>
                  <a:txBody>
                    <a:bodyPr/>
                    <a:lstStyle/>
                    <a:p>
                      <a:pPr algn="ctr">
                        <a:defRPr sz="1300">
                          <a:solidFill>
                            <a:srgbClr val="1A1A1A"/>
                          </a:solidFill>
                          <a:latin typeface="Calibri"/>
                        </a:defRPr>
                      </a:pPr>
                      <a:r>
                        <a:rPr sz="1400">
                          <a:latin typeface="Aptos"/>
                        </a:rPr>
                        <a:t>✓ </a:t>
                      </a:r>
                      <a:r>
                        <a:rPr lang="en-US" sz="1400" b="0" i="0" u="none" strike="noStrike" noProof="0"/>
                        <a:t>Διαθέσιμα</a:t>
                      </a:r>
                      <a:endParaRPr sz="1400">
                        <a:latin typeface="Aptos" panose="020B0004020202020204" pitchFamily="34" charset="0"/>
                      </a:endParaRPr>
                    </a:p>
                  </a:txBody>
                  <a:tcPr anchor="ctr">
                    <a:solidFill>
                      <a:srgbClr val="F2F2F2"/>
                    </a:solidFill>
                  </a:tcPr>
                </a:tc>
                <a:tc>
                  <a:txBody>
                    <a:bodyPr/>
                    <a:lstStyle/>
                    <a:p>
                      <a:pPr algn="ctr"/>
                      <a:r>
                        <a:rPr sz="1400">
                          <a:latin typeface="Aptos"/>
                        </a:rPr>
                        <a:t>✗ </a:t>
                      </a:r>
                      <a:r>
                        <a:rPr lang="en-US" sz="1400" b="0" i="0" u="none" strike="noStrike" noProof="0"/>
                        <a:t>Μη διαθέσιμα</a:t>
                      </a:r>
                      <a:endParaRPr sz="1400">
                        <a:latin typeface="Aptos" panose="020B0004020202020204" pitchFamily="34" charset="0"/>
                      </a:endParaRPr>
                    </a:p>
                  </a:txBody>
                  <a:tcPr anchor="ctr">
                    <a:solidFill>
                      <a:srgbClr val="F2F2F2"/>
                    </a:solidFill>
                  </a:tcPr>
                </a:tc>
                <a:extLst>
                  <a:ext uri="{0D108BD9-81ED-4DB2-BD59-A6C34878D82A}">
                    <a16:rowId xmlns:a16="http://schemas.microsoft.com/office/drawing/2014/main" val="10003"/>
                  </a:ext>
                </a:extLst>
              </a:tr>
              <a:tr h="393192">
                <a:tc>
                  <a:txBody>
                    <a:bodyPr/>
                    <a:lstStyle/>
                    <a:p>
                      <a:pPr algn="ctr">
                        <a:defRPr sz="1300">
                          <a:solidFill>
                            <a:srgbClr val="1A1A1A"/>
                          </a:solidFill>
                          <a:latin typeface="Calibri"/>
                        </a:defRPr>
                      </a:pPr>
                      <a:r>
                        <a:rPr sz="1400">
                          <a:latin typeface="Aptos" panose="020B0004020202020204" pitchFamily="34" charset="0"/>
                        </a:rPr>
                        <a:t>Validation</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Grouped Stratified CV</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Stratified CV</a:t>
                      </a:r>
                    </a:p>
                  </a:txBody>
                  <a:tcPr anchor="ctr">
                    <a:solidFill>
                      <a:srgbClr val="FFFFFF"/>
                    </a:solidFill>
                  </a:tcPr>
                </a:tc>
                <a:extLst>
                  <a:ext uri="{0D108BD9-81ED-4DB2-BD59-A6C34878D82A}">
                    <a16:rowId xmlns:a16="http://schemas.microsoft.com/office/drawing/2014/main" val="10004"/>
                  </a:ext>
                </a:extLst>
              </a:tr>
              <a:tr h="393192">
                <a:tc>
                  <a:txBody>
                    <a:bodyPr/>
                    <a:lstStyle/>
                    <a:p>
                      <a:pPr lvl="0" algn="ctr">
                        <a:buNone/>
                      </a:pPr>
                      <a:r>
                        <a:rPr lang="en-US" sz="1400" b="0" i="0" u="none" strike="noStrike" noProof="0"/>
                        <a:t>Είδος Ομιλίας</a:t>
                      </a:r>
                      <a:endParaRPr sz="1400">
                        <a:latin typeface="Aptos" panose="020B0004020202020204" pitchFamily="34" charset="0"/>
                      </a:endParaRP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Read / Spontaneous</a:t>
                      </a:r>
                    </a:p>
                  </a:txBody>
                  <a:tcPr anchor="ctr">
                    <a:solidFill>
                      <a:srgbClr val="F2F2F2"/>
                    </a:solidFill>
                  </a:tcPr>
                </a:tc>
                <a:tc>
                  <a:txBody>
                    <a:bodyPr/>
                    <a:lstStyle/>
                    <a:p>
                      <a:pPr lvl="0" algn="ctr">
                        <a:buNone/>
                      </a:pPr>
                      <a:r>
                        <a:rPr lang="en-US" sz="1400" b="0" i="0" u="none" strike="noStrike" noProof="0"/>
                        <a:t>Παρατεταμένο φωνήεν /a/</a:t>
                      </a:r>
                    </a:p>
                  </a:txBody>
                  <a:tcPr anchor="ctr">
                    <a:solidFill>
                      <a:srgbClr val="F2F2F2"/>
                    </a:solidFill>
                  </a:tcPr>
                </a:tc>
                <a:extLst>
                  <a:ext uri="{0D108BD9-81ED-4DB2-BD59-A6C34878D82A}">
                    <a16:rowId xmlns:a16="http://schemas.microsoft.com/office/drawing/2014/main" val="10005"/>
                  </a:ext>
                </a:extLst>
              </a:tr>
              <a:tr h="393192">
                <a:tc>
                  <a:txBody>
                    <a:bodyPr/>
                    <a:lstStyle/>
                    <a:p>
                      <a:pPr lvl="0" algn="ctr">
                        <a:buNone/>
                      </a:pPr>
                      <a:r>
                        <a:rPr lang="en-US" sz="1400" b="0" i="0" u="none" strike="noStrike" noProof="0"/>
                        <a:t>Ισορροπία Κλάσεων</a:t>
                      </a:r>
                      <a:endParaRPr sz="1400">
                        <a:latin typeface="Aptos" panose="020B0004020202020204" pitchFamily="34" charset="0"/>
                      </a:endParaRP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57:43 (HC:PD)</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25:75 (HC:PD)</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5" name="Rectangle 4"/>
          <p:cNvSpPr/>
          <p:nvPr/>
        </p:nvSpPr>
        <p:spPr>
          <a:xfrm>
            <a:off x="478077" y="4890381"/>
            <a:ext cx="11247120" cy="237744"/>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n-US" sz="800">
                <a:solidFill>
                  <a:schemeClr val="tx1"/>
                </a:solidFill>
                <a:latin typeface="Aptos"/>
              </a:rPr>
              <a:t>Πίνακας 3.3</a:t>
            </a:r>
            <a:r>
              <a:rPr sz="800">
                <a:solidFill>
                  <a:schemeClr val="tx1"/>
                </a:solidFill>
                <a:latin typeface="Aptos"/>
              </a:rPr>
              <a:t>: </a:t>
            </a:r>
            <a:r>
              <a:rPr lang="el-GR" sz="800">
                <a:solidFill>
                  <a:schemeClr val="tx1"/>
                </a:solidFill>
                <a:latin typeface="Aptos"/>
              </a:rPr>
              <a:t>Σύγκριση Dataset A &amp; Dataset B</a:t>
            </a:r>
            <a:endParaRPr lang="en-US" sz="800">
              <a:solidFill>
                <a:schemeClr val="tx1"/>
              </a:solidFill>
              <a:latin typeface="Aptos" panose="020B0004020202020204" pitchFamily="34" charset="0"/>
            </a:endParaRP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itle 8">
            <a:extLst>
              <a:ext uri="{FF2B5EF4-FFF2-40B4-BE49-F238E27FC236}">
                <a16:creationId xmlns:a16="http://schemas.microsoft.com/office/drawing/2014/main" id="{319CE74D-58BB-B6C6-2AFE-663F364C5DDA}"/>
              </a:ext>
            </a:extLst>
          </p:cNvPr>
          <p:cNvSpPr>
            <a:spLocks noGrp="1"/>
          </p:cNvSpPr>
          <p:nvPr>
            <p:ph type="title"/>
          </p:nvPr>
        </p:nvSpPr>
        <p:spPr/>
        <p:txBody>
          <a:bodyPr>
            <a:normAutofit/>
          </a:bodyPr>
          <a:lstStyle/>
          <a:p>
            <a:r>
              <a:rPr lang="en-GB">
                <a:latin typeface="Aptos"/>
              </a:rPr>
              <a:t>Dataset B &amp; Σύγκριση με Dataset A</a:t>
            </a:r>
            <a:endParaRPr lang="en-GB"/>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pic>
        <p:nvPicPr>
          <p:cNvPr id="4" name="Picture 3" descr="fig_pipeline_overview_thesis.png"/>
          <p:cNvPicPr>
            <a:picLocks noChangeAspect="1"/>
          </p:cNvPicPr>
          <p:nvPr/>
        </p:nvPicPr>
        <p:blipFill>
          <a:blip r:embed="rId3"/>
          <a:stretch>
            <a:fillRect/>
          </a:stretch>
        </p:blipFill>
        <p:spPr>
          <a:xfrm>
            <a:off x="773777" y="1562379"/>
            <a:ext cx="10606815" cy="3729987"/>
          </a:xfrm>
          <a:prstGeom prst="rect">
            <a:avLst/>
          </a:prstGeom>
          <a:ln>
            <a:solidFill>
              <a:schemeClr val="bg1">
                <a:lumMod val="50000"/>
              </a:schemeClr>
            </a:solidFill>
          </a:ln>
        </p:spPr>
      </p:pic>
      <p:sp>
        <p:nvSpPr>
          <p:cNvPr id="5" name="Rectangle 4"/>
          <p:cNvSpPr/>
          <p:nvPr/>
        </p:nvSpPr>
        <p:spPr>
          <a:xfrm>
            <a:off x="773779" y="5299313"/>
            <a:ext cx="10606814" cy="201492"/>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sz="800">
                <a:solidFill>
                  <a:schemeClr val="tx1"/>
                </a:solidFill>
                <a:latin typeface="Aptos"/>
              </a:rPr>
              <a:t>Pipeline A: WAV → </a:t>
            </a:r>
            <a:r>
              <a:rPr lang="en-US" sz="800">
                <a:solidFill>
                  <a:schemeClr val="tx1"/>
                </a:solidFill>
                <a:ea typeface="+mn-lt"/>
                <a:cs typeface="+mn-lt"/>
              </a:rPr>
              <a:t>Προεπεξεργασία</a:t>
            </a:r>
            <a:r>
              <a:rPr sz="800">
                <a:solidFill>
                  <a:schemeClr val="tx1"/>
                </a:solidFill>
                <a:latin typeface="Aptos"/>
              </a:rPr>
              <a:t>→ </a:t>
            </a:r>
            <a:r>
              <a:rPr lang="en-US" sz="800">
                <a:solidFill>
                  <a:schemeClr val="tx1"/>
                </a:solidFill>
                <a:ea typeface="+mn-lt"/>
                <a:cs typeface="+mn-lt"/>
              </a:rPr>
              <a:t>Εξαγωγή Χαρακτηριστικών</a:t>
            </a:r>
            <a:r>
              <a:rPr sz="800">
                <a:solidFill>
                  <a:schemeClr val="tx1"/>
                </a:solidFill>
                <a:latin typeface="Aptos"/>
              </a:rPr>
              <a:t>→ ML → Metrics  |  Pipeline B: CSV → ML → Metrics | Ref: fig:pipeline-overview-thesis</a:t>
            </a:r>
            <a:endParaRPr lang="en-US" sz="800">
              <a:solidFill>
                <a:schemeClr val="tx1"/>
              </a:solidFill>
              <a:latin typeface="Aptos"/>
            </a:endParaRP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itle 8">
            <a:extLst>
              <a:ext uri="{FF2B5EF4-FFF2-40B4-BE49-F238E27FC236}">
                <a16:creationId xmlns:a16="http://schemas.microsoft.com/office/drawing/2014/main" id="{7F41F548-D876-15B1-EE31-9E1A615F66C4}"/>
              </a:ext>
            </a:extLst>
          </p:cNvPr>
          <p:cNvSpPr>
            <a:spLocks noGrp="1"/>
          </p:cNvSpPr>
          <p:nvPr>
            <p:ph type="title"/>
          </p:nvPr>
        </p:nvSpPr>
        <p:spPr/>
        <p:txBody>
          <a:bodyPr>
            <a:normAutofit/>
          </a:bodyPr>
          <a:lstStyle/>
          <a:p>
            <a:r>
              <a:rPr lang="en-GB"/>
              <a:t>Experimental Pipeline Overview</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122191668"/>
              </p:ext>
            </p:extLst>
          </p:nvPr>
        </p:nvGraphicFramePr>
        <p:xfrm>
          <a:off x="457200" y="1371600"/>
          <a:ext cx="11247120" cy="3697329"/>
        </p:xfrm>
        <a:graphic>
          <a:graphicData uri="http://schemas.openxmlformats.org/drawingml/2006/table">
            <a:tbl>
              <a:tblPr firstRow="1" bandRow="1">
                <a:tableStyleId>{5C22544A-7EE6-4342-B048-85BDC9FD1C3A}</a:tableStyleId>
              </a:tblPr>
              <a:tblGrid>
                <a:gridCol w="2811780">
                  <a:extLst>
                    <a:ext uri="{9D8B030D-6E8A-4147-A177-3AD203B41FA5}">
                      <a16:colId xmlns:a16="http://schemas.microsoft.com/office/drawing/2014/main" val="20000"/>
                    </a:ext>
                  </a:extLst>
                </a:gridCol>
                <a:gridCol w="1405890">
                  <a:extLst>
                    <a:ext uri="{9D8B030D-6E8A-4147-A177-3AD203B41FA5}">
                      <a16:colId xmlns:a16="http://schemas.microsoft.com/office/drawing/2014/main" val="20001"/>
                    </a:ext>
                  </a:extLst>
                </a:gridCol>
                <a:gridCol w="7029450">
                  <a:extLst>
                    <a:ext uri="{9D8B030D-6E8A-4147-A177-3AD203B41FA5}">
                      <a16:colId xmlns:a16="http://schemas.microsoft.com/office/drawing/2014/main" val="20002"/>
                    </a:ext>
                  </a:extLst>
                </a:gridCol>
              </a:tblGrid>
              <a:tr h="551793">
                <a:tc>
                  <a:txBody>
                    <a:bodyPr/>
                    <a:lstStyle/>
                    <a:p>
                      <a:pPr algn="ctr">
                        <a:defRPr sz="1400" b="1">
                          <a:solidFill>
                            <a:srgbClr val="FFFFFF"/>
                          </a:solidFill>
                          <a:latin typeface="Calibri"/>
                        </a:defRPr>
                      </a:pPr>
                      <a:r>
                        <a:rPr sz="1800">
                          <a:latin typeface="Aptos" panose="020B0004020202020204" pitchFamily="34" charset="0"/>
                        </a:rPr>
                        <a:t>Category</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Count</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Features</a:t>
                      </a:r>
                    </a:p>
                  </a:txBody>
                  <a:tcPr anchor="ctr">
                    <a:solidFill>
                      <a:srgbClr val="002B5C"/>
                    </a:solidFill>
                  </a:tcPr>
                </a:tc>
                <a:extLst>
                  <a:ext uri="{0D108BD9-81ED-4DB2-BD59-A6C34878D82A}">
                    <a16:rowId xmlns:a16="http://schemas.microsoft.com/office/drawing/2014/main" val="10000"/>
                  </a:ext>
                </a:extLst>
              </a:tr>
              <a:tr h="393192">
                <a:tc>
                  <a:txBody>
                    <a:bodyPr/>
                    <a:lstStyle/>
                    <a:p>
                      <a:pPr lvl="0" algn="ctr">
                        <a:buNone/>
                        <a:defRPr sz="1300">
                          <a:solidFill>
                            <a:srgbClr val="1A1A1A"/>
                          </a:solidFill>
                          <a:latin typeface="Calibri"/>
                        </a:defRPr>
                      </a:pPr>
                      <a:r>
                        <a:rPr lang="en-US" sz="1400" b="0" i="0" u="none" strike="noStrike" noProof="0"/>
                        <a:t>Προσωδιακά</a:t>
                      </a:r>
                      <a:endParaRPr sz="1400">
                        <a:latin typeface="Aptos" panose="020B0004020202020204" pitchFamily="34" charset="0"/>
                      </a:endParaRPr>
                    </a:p>
                  </a:txBody>
                  <a:tcPr anchor="ctr">
                    <a:solidFill>
                      <a:srgbClr val="F2F2F2"/>
                    </a:solidFill>
                  </a:tcPr>
                </a:tc>
                <a:tc>
                  <a:txBody>
                    <a:bodyPr/>
                    <a:lstStyle/>
                    <a:p>
                      <a:pPr algn="ctr">
                        <a:defRPr sz="1300">
                          <a:solidFill>
                            <a:srgbClr val="1A1A1A"/>
                          </a:solidFill>
                          <a:latin typeface="Calibri"/>
                        </a:defRPr>
                      </a:pPr>
                      <a:r>
                        <a:rPr sz="1400">
                          <a:latin typeface="Aptos"/>
                        </a:rPr>
                        <a:t>21</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F₀ (4), Jitter (3), Shimmer (5), HNR (2), Intensity (3), Formants (6)</a:t>
                      </a:r>
                    </a:p>
                  </a:txBody>
                  <a:tcPr anchor="ctr">
                    <a:solidFill>
                      <a:srgbClr val="F2F2F2"/>
                    </a:solidFill>
                  </a:tcPr>
                </a:tc>
                <a:extLst>
                  <a:ext uri="{0D108BD9-81ED-4DB2-BD59-A6C34878D82A}">
                    <a16:rowId xmlns:a16="http://schemas.microsoft.com/office/drawing/2014/main" val="10001"/>
                  </a:ext>
                </a:extLst>
              </a:tr>
              <a:tr h="393192">
                <a:tc>
                  <a:txBody>
                    <a:bodyPr/>
                    <a:lstStyle/>
                    <a:p>
                      <a:pPr algn="ctr">
                        <a:defRPr sz="1300">
                          <a:solidFill>
                            <a:srgbClr val="1A1A1A"/>
                          </a:solidFill>
                          <a:latin typeface="Calibri"/>
                        </a:defRPr>
                      </a:pPr>
                      <a:r>
                        <a:rPr sz="1400">
                          <a:latin typeface="Aptos" panose="020B0004020202020204" pitchFamily="34" charset="0"/>
                        </a:rPr>
                        <a:t>MFCC means</a:t>
                      </a:r>
                    </a:p>
                  </a:txBody>
                  <a:tcPr anchor="ctr">
                    <a:solidFill>
                      <a:srgbClr val="FFFFFF"/>
                    </a:solidFill>
                  </a:tcPr>
                </a:tc>
                <a:tc>
                  <a:txBody>
                    <a:bodyPr/>
                    <a:lstStyle/>
                    <a:p>
                      <a:pPr algn="ctr">
                        <a:defRPr sz="1300">
                          <a:solidFill>
                            <a:srgbClr val="1A1A1A"/>
                          </a:solidFill>
                          <a:latin typeface="Calibri"/>
                        </a:defRPr>
                      </a:pPr>
                      <a:r>
                        <a:rPr sz="1400">
                          <a:latin typeface="Aptos"/>
                        </a:rPr>
                        <a:t>13</a:t>
                      </a:r>
                    </a:p>
                  </a:txBody>
                  <a:tcPr anchor="ctr">
                    <a:solidFill>
                      <a:srgbClr val="FFFFFF"/>
                    </a:solidFill>
                  </a:tcPr>
                </a:tc>
                <a:tc>
                  <a:txBody>
                    <a:bodyPr/>
                    <a:lstStyle/>
                    <a:p>
                      <a:pPr algn="ctr">
                        <a:defRPr sz="1300">
                          <a:solidFill>
                            <a:srgbClr val="1A1A1A"/>
                          </a:solidFill>
                          <a:latin typeface="Calibri"/>
                        </a:defRPr>
                      </a:pPr>
                      <a:r>
                        <a:rPr sz="1400">
                          <a:latin typeface="Aptos"/>
                        </a:rPr>
                        <a:t>13 cepstral coefficients</a:t>
                      </a:r>
                    </a:p>
                  </a:txBody>
                  <a:tcPr anchor="ctr">
                    <a:solidFill>
                      <a:srgbClr val="FFFFFF"/>
                    </a:solidFill>
                  </a:tcPr>
                </a:tc>
                <a:extLst>
                  <a:ext uri="{0D108BD9-81ED-4DB2-BD59-A6C34878D82A}">
                    <a16:rowId xmlns:a16="http://schemas.microsoft.com/office/drawing/2014/main" val="10002"/>
                  </a:ext>
                </a:extLst>
              </a:tr>
              <a:tr h="393192">
                <a:tc>
                  <a:txBody>
                    <a:bodyPr/>
                    <a:lstStyle/>
                    <a:p>
                      <a:pPr algn="ctr">
                        <a:defRPr sz="1300">
                          <a:solidFill>
                            <a:srgbClr val="1A1A1A"/>
                          </a:solidFill>
                          <a:latin typeface="Calibri"/>
                        </a:defRPr>
                      </a:pPr>
                      <a:r>
                        <a:rPr sz="1400">
                          <a:latin typeface="Aptos" panose="020B0004020202020204" pitchFamily="34" charset="0"/>
                        </a:rPr>
                        <a:t>Δ-MFCC means</a:t>
                      </a:r>
                    </a:p>
                  </a:txBody>
                  <a:tcPr anchor="ctr">
                    <a:solidFill>
                      <a:srgbClr val="F2F2F2"/>
                    </a:solidFill>
                  </a:tcPr>
                </a:tc>
                <a:tc>
                  <a:txBody>
                    <a:bodyPr/>
                    <a:lstStyle/>
                    <a:p>
                      <a:pPr algn="ctr">
                        <a:defRPr sz="1300">
                          <a:solidFill>
                            <a:srgbClr val="1A1A1A"/>
                          </a:solidFill>
                          <a:latin typeface="Calibri"/>
                        </a:defRPr>
                      </a:pPr>
                      <a:r>
                        <a:rPr sz="1400">
                          <a:latin typeface="Aptos"/>
                        </a:rPr>
                        <a:t>13</a:t>
                      </a:r>
                    </a:p>
                  </a:txBody>
                  <a:tcPr anchor="ctr">
                    <a:solidFill>
                      <a:srgbClr val="F2F2F2"/>
                    </a:solidFill>
                  </a:tcPr>
                </a:tc>
                <a:tc>
                  <a:txBody>
                    <a:bodyPr/>
                    <a:lstStyle/>
                    <a:p>
                      <a:pPr lvl="0" algn="ctr">
                        <a:buNone/>
                      </a:pPr>
                      <a:r>
                        <a:rPr lang="en-US" sz="1400" b="0" i="0" u="none" strike="noStrike" noProof="0"/>
                        <a:t>Πρώτης τάξης χρονικές παράγωγοι</a:t>
                      </a:r>
                      <a:endParaRPr sz="1400">
                        <a:latin typeface="Aptos" panose="020B0004020202020204" pitchFamily="34" charset="0"/>
                      </a:endParaRPr>
                    </a:p>
                  </a:txBody>
                  <a:tcPr anchor="ctr">
                    <a:solidFill>
                      <a:srgbClr val="F2F2F2"/>
                    </a:solidFill>
                  </a:tcPr>
                </a:tc>
                <a:extLst>
                  <a:ext uri="{0D108BD9-81ED-4DB2-BD59-A6C34878D82A}">
                    <a16:rowId xmlns:a16="http://schemas.microsoft.com/office/drawing/2014/main" val="10003"/>
                  </a:ext>
                </a:extLst>
              </a:tr>
              <a:tr h="393192">
                <a:tc>
                  <a:txBody>
                    <a:bodyPr/>
                    <a:lstStyle/>
                    <a:p>
                      <a:pPr algn="ctr"/>
                      <a:r>
                        <a:rPr lang="en-US" sz="1400" b="1" i="0" u="none" strike="noStrike" noProof="0" err="1">
                          <a:solidFill>
                            <a:srgbClr val="E86C00"/>
                          </a:solidFill>
                        </a:rPr>
                        <a:t>Σύνολο</a:t>
                      </a:r>
                      <a:r>
                        <a:rPr lang="en-US" sz="1400" b="1" i="0" u="none" strike="noStrike" noProof="0">
                          <a:solidFill>
                            <a:srgbClr val="E86C00"/>
                          </a:solidFill>
                        </a:rPr>
                        <a:t> </a:t>
                      </a:r>
                      <a:r>
                        <a:rPr sz="1400" b="1">
                          <a:solidFill>
                            <a:srgbClr val="E86C00"/>
                          </a:solidFill>
                          <a:latin typeface="Aptos"/>
                        </a:rPr>
                        <a:t>Baseline</a:t>
                      </a:r>
                    </a:p>
                  </a:txBody>
                  <a:tcPr anchor="ctr">
                    <a:solidFill>
                      <a:srgbClr val="FFFFFF"/>
                    </a:solidFill>
                  </a:tcPr>
                </a:tc>
                <a:tc>
                  <a:txBody>
                    <a:bodyPr/>
                    <a:lstStyle/>
                    <a:p>
                      <a:pPr algn="ctr">
                        <a:defRPr sz="1300" b="1">
                          <a:solidFill>
                            <a:srgbClr val="E86C00"/>
                          </a:solidFill>
                          <a:latin typeface="Calibri"/>
                        </a:defRPr>
                      </a:pPr>
                      <a:r>
                        <a:rPr sz="1400">
                          <a:latin typeface="Aptos"/>
                        </a:rPr>
                        <a:t>47</a:t>
                      </a:r>
                    </a:p>
                  </a:txBody>
                  <a:tcPr anchor="ctr">
                    <a:solidFill>
                      <a:srgbClr val="FFFFFF"/>
                    </a:solidFill>
                  </a:tcPr>
                </a:tc>
                <a:tc>
                  <a:txBody>
                    <a:bodyPr/>
                    <a:lstStyle/>
                    <a:p>
                      <a:pPr lvl="0" algn="ctr">
                        <a:buNone/>
                      </a:pPr>
                      <a:r>
                        <a:rPr lang="en-US" sz="1400" b="0" i="0" u="none" strike="noStrike" noProof="0" err="1">
                          <a:solidFill>
                            <a:srgbClr val="E86C00"/>
                          </a:solidFill>
                        </a:rPr>
                        <a:t>Προσωδι</a:t>
                      </a:r>
                      <a:r>
                        <a:rPr lang="en-US" sz="1400" b="0" i="0" u="none" strike="noStrike" noProof="0">
                          <a:solidFill>
                            <a:srgbClr val="E86C00"/>
                          </a:solidFill>
                        </a:rPr>
                        <a:t>ακά </a:t>
                      </a:r>
                      <a:r>
                        <a:rPr sz="1400">
                          <a:solidFill>
                            <a:srgbClr val="E86C00"/>
                          </a:solidFill>
                          <a:latin typeface="Aptos"/>
                        </a:rPr>
                        <a:t>+ MFCC + Δ-MFCC</a:t>
                      </a:r>
                    </a:p>
                  </a:txBody>
                  <a:tcPr anchor="ctr">
                    <a:solidFill>
                      <a:srgbClr val="FFFFFF"/>
                    </a:solidFill>
                  </a:tcPr>
                </a:tc>
                <a:extLst>
                  <a:ext uri="{0D108BD9-81ED-4DB2-BD59-A6C34878D82A}">
                    <a16:rowId xmlns:a16="http://schemas.microsoft.com/office/drawing/2014/main" val="10004"/>
                  </a:ext>
                </a:extLst>
              </a:tr>
              <a:tr h="393192">
                <a:tc>
                  <a:txBody>
                    <a:bodyPr/>
                    <a:lstStyle/>
                    <a:p>
                      <a:pPr algn="ctr">
                        <a:defRPr sz="1300">
                          <a:solidFill>
                            <a:srgbClr val="1A1A1A"/>
                          </a:solidFill>
                          <a:latin typeface="Calibri"/>
                        </a:defRPr>
                      </a:pPr>
                      <a:r>
                        <a:rPr sz="1400">
                          <a:latin typeface="Aptos" panose="020B0004020202020204" pitchFamily="34" charset="0"/>
                        </a:rPr>
                        <a:t>MFCC std</a:t>
                      </a:r>
                    </a:p>
                  </a:txBody>
                  <a:tcPr anchor="ctr">
                    <a:solidFill>
                      <a:srgbClr val="F2F2F2"/>
                    </a:solidFill>
                  </a:tcPr>
                </a:tc>
                <a:tc>
                  <a:txBody>
                    <a:bodyPr/>
                    <a:lstStyle/>
                    <a:p>
                      <a:pPr algn="ctr">
                        <a:defRPr sz="1300">
                          <a:solidFill>
                            <a:srgbClr val="1A1A1A"/>
                          </a:solidFill>
                          <a:latin typeface="Calibri"/>
                        </a:defRPr>
                      </a:pPr>
                      <a:r>
                        <a:rPr sz="1400">
                          <a:latin typeface="Aptos"/>
                        </a:rPr>
                        <a:t>+13</a:t>
                      </a:r>
                    </a:p>
                  </a:txBody>
                  <a:tcPr anchor="ctr">
                    <a:solidFill>
                      <a:srgbClr val="F2F2F2"/>
                    </a:solidFill>
                  </a:tcPr>
                </a:tc>
                <a:tc>
                  <a:txBody>
                    <a:bodyPr/>
                    <a:lstStyle/>
                    <a:p>
                      <a:pPr lvl="0" algn="ctr">
                        <a:buNone/>
                      </a:pPr>
                      <a:r>
                        <a:rPr sz="1400">
                          <a:latin typeface="Aptos"/>
                        </a:rPr>
                        <a:t>Cepstral variability (extended)</a:t>
                      </a:r>
                    </a:p>
                  </a:txBody>
                  <a:tcPr anchor="ctr">
                    <a:solidFill>
                      <a:srgbClr val="F2F2F2"/>
                    </a:solidFill>
                  </a:tcPr>
                </a:tc>
                <a:extLst>
                  <a:ext uri="{0D108BD9-81ED-4DB2-BD59-A6C34878D82A}">
                    <a16:rowId xmlns:a16="http://schemas.microsoft.com/office/drawing/2014/main" val="10005"/>
                  </a:ext>
                </a:extLst>
              </a:tr>
              <a:tr h="393192">
                <a:tc>
                  <a:txBody>
                    <a:bodyPr/>
                    <a:lstStyle/>
                    <a:p>
                      <a:pPr algn="ctr">
                        <a:defRPr sz="1300">
                          <a:solidFill>
                            <a:srgbClr val="1A1A1A"/>
                          </a:solidFill>
                          <a:latin typeface="Calibri"/>
                        </a:defRPr>
                      </a:pPr>
                      <a:r>
                        <a:rPr sz="1400">
                          <a:latin typeface="Aptos" panose="020B0004020202020204" pitchFamily="34" charset="0"/>
                        </a:rPr>
                        <a:t>ΔΔ-MFCC means</a:t>
                      </a:r>
                    </a:p>
                  </a:txBody>
                  <a:tcPr anchor="ctr">
                    <a:solidFill>
                      <a:srgbClr val="FFFFFF"/>
                    </a:solidFill>
                  </a:tcPr>
                </a:tc>
                <a:tc>
                  <a:txBody>
                    <a:bodyPr/>
                    <a:lstStyle/>
                    <a:p>
                      <a:pPr algn="ctr">
                        <a:defRPr sz="1300">
                          <a:solidFill>
                            <a:srgbClr val="1A1A1A"/>
                          </a:solidFill>
                          <a:latin typeface="Calibri"/>
                        </a:defRPr>
                      </a:pPr>
                      <a:r>
                        <a:rPr sz="1400">
                          <a:latin typeface="Aptos"/>
                        </a:rPr>
                        <a:t>+13</a:t>
                      </a:r>
                    </a:p>
                  </a:txBody>
                  <a:tcPr anchor="ctr">
                    <a:solidFill>
                      <a:srgbClr val="FFFFFF"/>
                    </a:solidFill>
                  </a:tcPr>
                </a:tc>
                <a:tc>
                  <a:txBody>
                    <a:bodyPr/>
                    <a:lstStyle/>
                    <a:p>
                      <a:pPr lvl="0" algn="ctr">
                        <a:buNone/>
                      </a:pPr>
                      <a:r>
                        <a:rPr lang="en-US" sz="1400" b="0" i="0" u="none" strike="noStrike" noProof="0"/>
                        <a:t>Δεύτερης τάξης</a:t>
                      </a:r>
                      <a:r>
                        <a:rPr lang="en-US" sz="1400">
                          <a:latin typeface="Aptos"/>
                        </a:rPr>
                        <a:t> </a:t>
                      </a:r>
                      <a:r>
                        <a:rPr sz="1400">
                          <a:latin typeface="Aptos"/>
                        </a:rPr>
                        <a:t>dynamics (extended)</a:t>
                      </a:r>
                    </a:p>
                  </a:txBody>
                  <a:tcPr anchor="ctr">
                    <a:solidFill>
                      <a:srgbClr val="FFFFFF"/>
                    </a:solidFill>
                  </a:tcPr>
                </a:tc>
                <a:extLst>
                  <a:ext uri="{0D108BD9-81ED-4DB2-BD59-A6C34878D82A}">
                    <a16:rowId xmlns:a16="http://schemas.microsoft.com/office/drawing/2014/main" val="10006"/>
                  </a:ext>
                </a:extLst>
              </a:tr>
              <a:tr h="393192">
                <a:tc>
                  <a:txBody>
                    <a:bodyPr/>
                    <a:lstStyle/>
                    <a:p>
                      <a:pPr lvl="0" algn="ctr">
                        <a:buNone/>
                      </a:pPr>
                      <a:r>
                        <a:rPr lang="en-US" sz="1400" b="0" i="0" u="none" strike="noStrike" noProof="0"/>
                        <a:t>Φασματικό σχήμα</a:t>
                      </a:r>
                      <a:endParaRPr sz="1400">
                        <a:latin typeface="Aptos" panose="020B0004020202020204" pitchFamily="34" charset="0"/>
                      </a:endParaRPr>
                    </a:p>
                  </a:txBody>
                  <a:tcPr anchor="ctr">
                    <a:solidFill>
                      <a:srgbClr val="F2F2F2"/>
                    </a:solidFill>
                  </a:tcPr>
                </a:tc>
                <a:tc>
                  <a:txBody>
                    <a:bodyPr/>
                    <a:lstStyle/>
                    <a:p>
                      <a:pPr algn="ctr">
                        <a:defRPr sz="1300">
                          <a:solidFill>
                            <a:srgbClr val="1A1A1A"/>
                          </a:solidFill>
                          <a:latin typeface="Calibri"/>
                        </a:defRPr>
                      </a:pPr>
                      <a:r>
                        <a:rPr sz="1400">
                          <a:latin typeface="Aptos"/>
                        </a:rPr>
                        <a:t>+5</a:t>
                      </a:r>
                    </a:p>
                  </a:txBody>
                  <a:tcPr anchor="ctr">
                    <a:solidFill>
                      <a:srgbClr val="F2F2F2"/>
                    </a:solidFill>
                  </a:tcPr>
                </a:tc>
                <a:tc>
                  <a:txBody>
                    <a:bodyPr/>
                    <a:lstStyle/>
                    <a:p>
                      <a:pPr lvl="0" algn="ctr">
                        <a:buNone/>
                      </a:pPr>
                      <a:r>
                        <a:rPr lang="en-US" sz="1400" b="0" i="0" u="none" strike="noStrike" noProof="0"/>
                        <a:t>Κέντρο βάρους</a:t>
                      </a:r>
                      <a:r>
                        <a:rPr lang="en-US" sz="1400">
                          <a:latin typeface="Aptos"/>
                        </a:rPr>
                        <a:t>,</a:t>
                      </a:r>
                      <a:r>
                        <a:rPr sz="1400">
                          <a:latin typeface="Aptos"/>
                        </a:rPr>
                        <a:t> </a:t>
                      </a:r>
                      <a:r>
                        <a:rPr lang="en-US" sz="1400" b="0" i="0" u="none" strike="noStrike" noProof="0"/>
                        <a:t>εύρος ζώνης</a:t>
                      </a:r>
                      <a:r>
                        <a:rPr sz="1400">
                          <a:latin typeface="Aptos"/>
                        </a:rPr>
                        <a:t>, </a:t>
                      </a:r>
                      <a:r>
                        <a:rPr sz="1400" err="1">
                          <a:latin typeface="Aptos"/>
                        </a:rPr>
                        <a:t>rolloff</a:t>
                      </a:r>
                      <a:r>
                        <a:rPr sz="1400">
                          <a:latin typeface="Aptos"/>
                        </a:rPr>
                        <a:t>, flatness, ZCR</a:t>
                      </a:r>
                    </a:p>
                  </a:txBody>
                  <a:tcPr anchor="ctr">
                    <a:solidFill>
                      <a:srgbClr val="F2F2F2"/>
                    </a:solidFill>
                  </a:tcPr>
                </a:tc>
                <a:extLst>
                  <a:ext uri="{0D108BD9-81ED-4DB2-BD59-A6C34878D82A}">
                    <a16:rowId xmlns:a16="http://schemas.microsoft.com/office/drawing/2014/main" val="10007"/>
                  </a:ext>
                </a:extLst>
              </a:tr>
              <a:tr h="393192">
                <a:tc>
                  <a:txBody>
                    <a:bodyPr/>
                    <a:lstStyle/>
                    <a:p>
                      <a:pPr algn="ctr"/>
                      <a:r>
                        <a:rPr lang="en-US" sz="1400" b="1" i="0" u="none" strike="noStrike" noProof="0" err="1">
                          <a:solidFill>
                            <a:srgbClr val="E86C00"/>
                          </a:solidFill>
                        </a:rPr>
                        <a:t>Σύνολο</a:t>
                      </a:r>
                      <a:r>
                        <a:rPr lang="en-US" sz="1400" b="1" i="0" u="none" strike="noStrike" noProof="0">
                          <a:solidFill>
                            <a:srgbClr val="E86C00"/>
                          </a:solidFill>
                        </a:rPr>
                        <a:t> </a:t>
                      </a:r>
                      <a:r>
                        <a:rPr lang="en-US" sz="1400" b="1">
                          <a:solidFill>
                            <a:srgbClr val="E86C00"/>
                          </a:solidFill>
                          <a:latin typeface="Aptos"/>
                        </a:rPr>
                        <a:t>Extended</a:t>
                      </a:r>
                      <a:endParaRPr sz="1400" b="1">
                        <a:solidFill>
                          <a:srgbClr val="E86C00"/>
                        </a:solidFill>
                        <a:latin typeface="Aptos"/>
                      </a:endParaRPr>
                    </a:p>
                  </a:txBody>
                  <a:tcPr anchor="ctr">
                    <a:solidFill>
                      <a:srgbClr val="FFFFFF"/>
                    </a:solidFill>
                  </a:tcPr>
                </a:tc>
                <a:tc>
                  <a:txBody>
                    <a:bodyPr/>
                    <a:lstStyle/>
                    <a:p>
                      <a:pPr algn="ctr">
                        <a:defRPr sz="1300" b="1">
                          <a:solidFill>
                            <a:srgbClr val="E86C00"/>
                          </a:solidFill>
                          <a:latin typeface="Calibri"/>
                        </a:defRPr>
                      </a:pPr>
                      <a:r>
                        <a:rPr sz="1400">
                          <a:latin typeface="Aptos"/>
                        </a:rPr>
                        <a:t>78</a:t>
                      </a:r>
                    </a:p>
                  </a:txBody>
                  <a:tcPr anchor="ctr">
                    <a:solidFill>
                      <a:srgbClr val="FFFFFF"/>
                    </a:solidFill>
                  </a:tcPr>
                </a:tc>
                <a:tc>
                  <a:txBody>
                    <a:bodyPr/>
                    <a:lstStyle/>
                    <a:p>
                      <a:pPr algn="ctr"/>
                      <a:r>
                        <a:rPr sz="1400">
                          <a:solidFill>
                            <a:srgbClr val="E86C00"/>
                          </a:solidFill>
                          <a:latin typeface="Aptos"/>
                        </a:rPr>
                        <a:t>Baseline + 31 </a:t>
                      </a:r>
                      <a:r>
                        <a:rPr lang="en-US" sz="1400" b="0" i="0" u="none" strike="noStrike" noProof="0">
                          <a:solidFill>
                            <a:srgbClr val="E86C00"/>
                          </a:solidFill>
                        </a:rPr>
                        <a:t>επιπ</a:t>
                      </a:r>
                      <a:r>
                        <a:rPr lang="en-US" sz="1400" b="0" i="0" u="none" strike="noStrike" noProof="0" err="1">
                          <a:solidFill>
                            <a:srgbClr val="E86C00"/>
                          </a:solidFill>
                        </a:rPr>
                        <a:t>λέον</a:t>
                      </a:r>
                      <a:r>
                        <a:rPr lang="en-US" sz="1400" b="0" i="0" u="none" strike="noStrike" noProof="0">
                          <a:solidFill>
                            <a:srgbClr val="E86C00"/>
                          </a:solidFill>
                        </a:rPr>
                        <a:t> χαρα</a:t>
                      </a:r>
                      <a:r>
                        <a:rPr lang="en-US" sz="1400" b="0" i="0" u="none" strike="noStrike" noProof="0" err="1">
                          <a:solidFill>
                            <a:srgbClr val="E86C00"/>
                          </a:solidFill>
                        </a:rPr>
                        <a:t>κτηριστικά</a:t>
                      </a:r>
                      <a:endParaRPr sz="1400">
                        <a:solidFill>
                          <a:srgbClr val="E86C00"/>
                        </a:solidFill>
                        <a:latin typeface="Aptos" panose="020B0004020202020204" pitchFamily="34" charset="0"/>
                      </a:endParaRPr>
                    </a:p>
                  </a:txBody>
                  <a:tcPr anchor="ctr">
                    <a:solidFill>
                      <a:srgbClr val="FFFFFF"/>
                    </a:solidFill>
                  </a:tcPr>
                </a:tc>
                <a:extLst>
                  <a:ext uri="{0D108BD9-81ED-4DB2-BD59-A6C34878D82A}">
                    <a16:rowId xmlns:a16="http://schemas.microsoft.com/office/drawing/2014/main" val="10008"/>
                  </a:ext>
                </a:extLst>
              </a:tr>
            </a:tbl>
          </a:graphicData>
        </a:graphic>
      </p:graphicFrame>
      <p:sp>
        <p:nvSpPr>
          <p:cNvPr id="5" name="Rectangle 4"/>
          <p:cNvSpPr/>
          <p:nvPr/>
        </p:nvSpPr>
        <p:spPr>
          <a:xfrm>
            <a:off x="457200" y="5043389"/>
            <a:ext cx="11247120" cy="237744"/>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l-GR" sz="800" b="1">
                <a:solidFill>
                  <a:srgbClr val="666666"/>
                </a:solidFill>
                <a:latin typeface="Aptos"/>
              </a:rPr>
              <a:t>Πίνακας 4.4</a:t>
            </a:r>
            <a:r>
              <a:rPr sz="800" b="1">
                <a:solidFill>
                  <a:srgbClr val="666666"/>
                </a:solidFill>
                <a:latin typeface="Aptos"/>
              </a:rPr>
              <a:t>: </a:t>
            </a:r>
            <a:r>
              <a:rPr lang="el-GR" sz="800" b="1">
                <a:solidFill>
                  <a:srgbClr val="666666"/>
                </a:solidFill>
                <a:latin typeface="Aptos"/>
              </a:rPr>
              <a:t>Αριθμός χαρακτηριστικών ανά ρύθμιση (configuration)</a:t>
            </a:r>
            <a:endParaRPr lang="en-US" sz="800" b="1">
              <a:solidFill>
                <a:srgbClr val="666666"/>
              </a:solidFill>
              <a:latin typeface="Aptos"/>
            </a:endParaRP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itle 8">
            <a:extLst>
              <a:ext uri="{FF2B5EF4-FFF2-40B4-BE49-F238E27FC236}">
                <a16:creationId xmlns:a16="http://schemas.microsoft.com/office/drawing/2014/main" id="{848044CC-86B5-A871-DCB7-655175301C81}"/>
              </a:ext>
            </a:extLst>
          </p:cNvPr>
          <p:cNvSpPr>
            <a:spLocks noGrp="1"/>
          </p:cNvSpPr>
          <p:nvPr>
            <p:ph type="title"/>
          </p:nvPr>
        </p:nvSpPr>
        <p:spPr/>
        <p:txBody>
          <a:bodyPr>
            <a:normAutofit/>
          </a:bodyPr>
          <a:lstStyle/>
          <a:p>
            <a:r>
              <a:rPr lang="en-GB">
                <a:latin typeface="Aptos"/>
              </a:rPr>
              <a:t>Εξαγωγή Χαρακτηριστικών - Baseline (47) vs Extended (78)</a:t>
            </a:r>
            <a:endParaRPr lang="en-US">
              <a:latin typeface="Apto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624194746"/>
              </p:ext>
            </p:extLst>
          </p:nvPr>
        </p:nvGraphicFramePr>
        <p:xfrm>
          <a:off x="457200" y="1371600"/>
          <a:ext cx="11247118" cy="2542032"/>
        </p:xfrm>
        <a:graphic>
          <a:graphicData uri="http://schemas.openxmlformats.org/drawingml/2006/table">
            <a:tbl>
              <a:tblPr firstRow="1" bandRow="1">
                <a:tableStyleId>{5C22544A-7EE6-4342-B048-85BDC9FD1C3A}</a:tableStyleId>
              </a:tblPr>
              <a:tblGrid>
                <a:gridCol w="3647714">
                  <a:extLst>
                    <a:ext uri="{9D8B030D-6E8A-4147-A177-3AD203B41FA5}">
                      <a16:colId xmlns:a16="http://schemas.microsoft.com/office/drawing/2014/main" val="20000"/>
                    </a:ext>
                  </a:extLst>
                </a:gridCol>
                <a:gridCol w="3951690">
                  <a:extLst>
                    <a:ext uri="{9D8B030D-6E8A-4147-A177-3AD203B41FA5}">
                      <a16:colId xmlns:a16="http://schemas.microsoft.com/office/drawing/2014/main" val="20001"/>
                    </a:ext>
                  </a:extLst>
                </a:gridCol>
                <a:gridCol w="3647714">
                  <a:extLst>
                    <a:ext uri="{9D8B030D-6E8A-4147-A177-3AD203B41FA5}">
                      <a16:colId xmlns:a16="http://schemas.microsoft.com/office/drawing/2014/main" val="20002"/>
                    </a:ext>
                  </a:extLst>
                </a:gridCol>
              </a:tblGrid>
              <a:tr h="576072">
                <a:tc>
                  <a:txBody>
                    <a:bodyPr/>
                    <a:lstStyle/>
                    <a:p>
                      <a:pPr algn="ctr">
                        <a:defRPr sz="1400" b="1">
                          <a:solidFill>
                            <a:srgbClr val="FFFFFF"/>
                          </a:solidFill>
                          <a:latin typeface="Calibri"/>
                        </a:defRPr>
                      </a:pPr>
                      <a:r>
                        <a:rPr sz="1800">
                          <a:latin typeface="Aptos" panose="020B0004020202020204" pitchFamily="34" charset="0"/>
                        </a:rPr>
                        <a:t>Model</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Key Parameters</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Notes</a:t>
                      </a:r>
                    </a:p>
                  </a:txBody>
                  <a:tcPr anchor="ctr">
                    <a:solidFill>
                      <a:srgbClr val="002B5C"/>
                    </a:solidFill>
                  </a:tcPr>
                </a:tc>
                <a:extLst>
                  <a:ext uri="{0D108BD9-81ED-4DB2-BD59-A6C34878D82A}">
                    <a16:rowId xmlns:a16="http://schemas.microsoft.com/office/drawing/2014/main" val="10000"/>
                  </a:ext>
                </a:extLst>
              </a:tr>
              <a:tr h="393192">
                <a:tc>
                  <a:txBody>
                    <a:bodyPr/>
                    <a:lstStyle/>
                    <a:p>
                      <a:pPr lvl="0" algn="ctr">
                        <a:buNone/>
                      </a:pPr>
                      <a:r>
                        <a:rPr lang="en-US" sz="1400" b="0" i="0" u="none" strike="noStrike" noProof="0"/>
                        <a:t>Λογιστική Παλινδρόμηση</a:t>
                      </a:r>
                      <a:endParaRPr sz="1400">
                        <a:latin typeface="Aptos" panose="020B0004020202020204" pitchFamily="34" charset="0"/>
                      </a:endParaRPr>
                    </a:p>
                  </a:txBody>
                  <a:tcPr anchor="ctr">
                    <a:solidFill>
                      <a:srgbClr val="F2F2F2"/>
                    </a:solidFill>
                  </a:tcPr>
                </a:tc>
                <a:tc>
                  <a:txBody>
                    <a:bodyPr/>
                    <a:lstStyle/>
                    <a:p>
                      <a:pPr algn="ctr">
                        <a:defRPr sz="1300">
                          <a:solidFill>
                            <a:srgbClr val="1A1A1A"/>
                          </a:solidFill>
                          <a:latin typeface="Calibri"/>
                        </a:defRPr>
                      </a:pPr>
                      <a:r>
                        <a:rPr sz="1400">
                          <a:latin typeface="Aptos"/>
                        </a:rPr>
                        <a:t>C=1.0, L2, </a:t>
                      </a:r>
                      <a:r>
                        <a:rPr sz="1400" err="1">
                          <a:latin typeface="Aptos"/>
                        </a:rPr>
                        <a:t>lbfgs</a:t>
                      </a:r>
                      <a:endParaRPr sz="1400">
                        <a:latin typeface="Aptos"/>
                      </a:endParaRPr>
                    </a:p>
                  </a:txBody>
                  <a:tcPr anchor="ctr">
                    <a:solidFill>
                      <a:srgbClr val="F2F2F2"/>
                    </a:solidFill>
                  </a:tcPr>
                </a:tc>
                <a:tc>
                  <a:txBody>
                    <a:bodyPr/>
                    <a:lstStyle/>
                    <a:p>
                      <a:pPr lvl="0" algn="ctr">
                        <a:buNone/>
                      </a:pPr>
                      <a:r>
                        <a:rPr lang="en-US" sz="1400" b="0" i="0" u="none" strike="noStrike" noProof="0"/>
                        <a:t>Γραμμική </a:t>
                      </a:r>
                      <a:r>
                        <a:rPr sz="1400">
                          <a:latin typeface="Aptos"/>
                        </a:rPr>
                        <a:t>baseline</a:t>
                      </a:r>
                    </a:p>
                  </a:txBody>
                  <a:tcPr anchor="ctr">
                    <a:solidFill>
                      <a:srgbClr val="F2F2F2"/>
                    </a:solidFill>
                  </a:tcPr>
                </a:tc>
                <a:extLst>
                  <a:ext uri="{0D108BD9-81ED-4DB2-BD59-A6C34878D82A}">
                    <a16:rowId xmlns:a16="http://schemas.microsoft.com/office/drawing/2014/main" val="10001"/>
                  </a:ext>
                </a:extLst>
              </a:tr>
              <a:tr h="393192">
                <a:tc>
                  <a:txBody>
                    <a:bodyPr/>
                    <a:lstStyle/>
                    <a:p>
                      <a:pPr algn="ctr">
                        <a:defRPr sz="1300">
                          <a:solidFill>
                            <a:srgbClr val="1A1A1A"/>
                          </a:solidFill>
                          <a:latin typeface="Calibri"/>
                        </a:defRPr>
                      </a:pPr>
                      <a:r>
                        <a:rPr sz="1400">
                          <a:latin typeface="Aptos" panose="020B0004020202020204" pitchFamily="34" charset="0"/>
                        </a:rPr>
                        <a:t>SVM (RBF kernel)</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C=1.0, γ=scale</a:t>
                      </a:r>
                    </a:p>
                  </a:txBody>
                  <a:tcPr anchor="ctr">
                    <a:solidFill>
                      <a:srgbClr val="FFFFFF"/>
                    </a:solidFill>
                  </a:tcPr>
                </a:tc>
                <a:tc>
                  <a:txBody>
                    <a:bodyPr/>
                    <a:lstStyle/>
                    <a:p>
                      <a:pPr algn="ctr"/>
                      <a:r>
                        <a:rPr lang="el-GR" sz="1400">
                          <a:latin typeface="Aptos"/>
                        </a:rPr>
                        <a:t>Μη γραμμικό</a:t>
                      </a:r>
                      <a:r>
                        <a:rPr sz="1400">
                          <a:latin typeface="Aptos"/>
                        </a:rPr>
                        <a:t>, margin-based</a:t>
                      </a:r>
                    </a:p>
                  </a:txBody>
                  <a:tcPr anchor="ctr">
                    <a:solidFill>
                      <a:srgbClr val="FFFFFF"/>
                    </a:solidFill>
                  </a:tcPr>
                </a:tc>
                <a:extLst>
                  <a:ext uri="{0D108BD9-81ED-4DB2-BD59-A6C34878D82A}">
                    <a16:rowId xmlns:a16="http://schemas.microsoft.com/office/drawing/2014/main" val="10002"/>
                  </a:ext>
                </a:extLst>
              </a:tr>
              <a:tr h="393192">
                <a:tc>
                  <a:txBody>
                    <a:bodyPr/>
                    <a:lstStyle/>
                    <a:p>
                      <a:pPr algn="ctr">
                        <a:defRPr sz="1300">
                          <a:solidFill>
                            <a:srgbClr val="1A1A1A"/>
                          </a:solidFill>
                          <a:latin typeface="Calibri"/>
                        </a:defRPr>
                      </a:pPr>
                      <a:r>
                        <a:rPr sz="1400">
                          <a:latin typeface="Aptos" panose="020B0004020202020204" pitchFamily="34" charset="0"/>
                        </a:rPr>
                        <a:t>Random Forest</a:t>
                      </a:r>
                    </a:p>
                  </a:txBody>
                  <a:tcPr anchor="ctr">
                    <a:solidFill>
                      <a:srgbClr val="F2F2F2"/>
                    </a:solidFill>
                  </a:tcPr>
                </a:tc>
                <a:tc>
                  <a:txBody>
                    <a:bodyPr/>
                    <a:lstStyle/>
                    <a:p>
                      <a:pPr algn="ctr">
                        <a:defRPr sz="1300">
                          <a:solidFill>
                            <a:srgbClr val="1A1A1A"/>
                          </a:solidFill>
                          <a:latin typeface="Calibri"/>
                        </a:defRPr>
                      </a:pPr>
                      <a:r>
                        <a:rPr sz="1400">
                          <a:latin typeface="Aptos"/>
                        </a:rPr>
                        <a:t>100 </a:t>
                      </a:r>
                      <a:r>
                        <a:rPr lang="en-US" sz="1400" b="0" i="0" u="none" strike="noStrike" noProof="0"/>
                        <a:t>δέντρα</a:t>
                      </a:r>
                      <a:r>
                        <a:rPr sz="1400">
                          <a:latin typeface="Aptos"/>
                        </a:rPr>
                        <a:t>, </a:t>
                      </a:r>
                      <a:r>
                        <a:rPr lang="en-US" sz="1400" b="0" i="0" u="none" strike="noStrike" noProof="0"/>
                        <a:t>βάθος</a:t>
                      </a:r>
                      <a:r>
                        <a:rPr sz="1400">
                          <a:latin typeface="Aptos"/>
                        </a:rPr>
                        <a:t>=10</a:t>
                      </a:r>
                    </a:p>
                  </a:txBody>
                  <a:tcPr anchor="ctr">
                    <a:solidFill>
                      <a:srgbClr val="F2F2F2"/>
                    </a:solidFill>
                  </a:tcPr>
                </a:tc>
                <a:tc>
                  <a:txBody>
                    <a:bodyPr/>
                    <a:lstStyle/>
                    <a:p>
                      <a:pPr algn="ctr"/>
                      <a:r>
                        <a:rPr sz="1400">
                          <a:latin typeface="Aptos"/>
                        </a:rPr>
                        <a:t>Ensemble, </a:t>
                      </a:r>
                      <a:r>
                        <a:rPr lang="en-US" sz="1400" b="0" i="0" u="none" strike="noStrike" noProof="0"/>
                        <a:t>ανθεκτική στον θόρυβο</a:t>
                      </a:r>
                      <a:endParaRPr sz="1400">
                        <a:latin typeface="Aptos" panose="020B0004020202020204" pitchFamily="34" charset="0"/>
                      </a:endParaRPr>
                    </a:p>
                  </a:txBody>
                  <a:tcPr anchor="ctr">
                    <a:solidFill>
                      <a:srgbClr val="F2F2F2"/>
                    </a:solidFill>
                  </a:tcPr>
                </a:tc>
                <a:extLst>
                  <a:ext uri="{0D108BD9-81ED-4DB2-BD59-A6C34878D82A}">
                    <a16:rowId xmlns:a16="http://schemas.microsoft.com/office/drawing/2014/main" val="10003"/>
                  </a:ext>
                </a:extLst>
              </a:tr>
              <a:tr h="393192">
                <a:tc>
                  <a:txBody>
                    <a:bodyPr/>
                    <a:lstStyle/>
                    <a:p>
                      <a:pPr algn="ctr">
                        <a:defRPr sz="1300">
                          <a:solidFill>
                            <a:srgbClr val="1A1A1A"/>
                          </a:solidFill>
                          <a:latin typeface="Calibri"/>
                        </a:defRPr>
                      </a:pPr>
                      <a:r>
                        <a:rPr sz="1400">
                          <a:latin typeface="Aptos" panose="020B0004020202020204" pitchFamily="34" charset="0"/>
                        </a:rPr>
                        <a:t>Gradient Boosting</a:t>
                      </a:r>
                    </a:p>
                  </a:txBody>
                  <a:tcPr anchor="ctr">
                    <a:solidFill>
                      <a:srgbClr val="FFFFFF"/>
                    </a:solidFill>
                  </a:tcPr>
                </a:tc>
                <a:tc>
                  <a:txBody>
                    <a:bodyPr/>
                    <a:lstStyle/>
                    <a:p>
                      <a:pPr algn="ctr">
                        <a:defRPr sz="1300">
                          <a:solidFill>
                            <a:srgbClr val="1A1A1A"/>
                          </a:solidFill>
                          <a:latin typeface="Calibri"/>
                        </a:defRPr>
                      </a:pPr>
                      <a:r>
                        <a:rPr sz="1400">
                          <a:latin typeface="Aptos"/>
                        </a:rPr>
                        <a:t>100 </a:t>
                      </a:r>
                      <a:r>
                        <a:rPr lang="en-US" sz="1400" b="0" i="0" u="none" strike="noStrike" noProof="0"/>
                        <a:t>δέντρα</a:t>
                      </a:r>
                      <a:r>
                        <a:rPr sz="1400">
                          <a:latin typeface="Aptos"/>
                        </a:rPr>
                        <a:t>, lr=0.1, depth=3</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Sequential ensemble</a:t>
                      </a:r>
                    </a:p>
                  </a:txBody>
                  <a:tcPr anchor="ctr">
                    <a:solidFill>
                      <a:srgbClr val="FFFFFF"/>
                    </a:solidFill>
                  </a:tcPr>
                </a:tc>
                <a:extLst>
                  <a:ext uri="{0D108BD9-81ED-4DB2-BD59-A6C34878D82A}">
                    <a16:rowId xmlns:a16="http://schemas.microsoft.com/office/drawing/2014/main" val="10004"/>
                  </a:ext>
                </a:extLst>
              </a:tr>
              <a:tr h="393192">
                <a:tc>
                  <a:txBody>
                    <a:bodyPr/>
                    <a:lstStyle/>
                    <a:p>
                      <a:pPr algn="ctr">
                        <a:defRPr sz="1300">
                          <a:solidFill>
                            <a:srgbClr val="1A1A1A"/>
                          </a:solidFill>
                          <a:latin typeface="Calibri"/>
                        </a:defRPr>
                      </a:pPr>
                      <a:r>
                        <a:rPr sz="1400">
                          <a:latin typeface="Aptos" panose="020B0004020202020204" pitchFamily="34" charset="0"/>
                        </a:rPr>
                        <a:t>XGBoost</a:t>
                      </a:r>
                    </a:p>
                  </a:txBody>
                  <a:tcPr anchor="ctr">
                    <a:solidFill>
                      <a:srgbClr val="F2F2F2"/>
                    </a:solidFill>
                  </a:tcPr>
                </a:tc>
                <a:tc>
                  <a:txBody>
                    <a:bodyPr/>
                    <a:lstStyle/>
                    <a:p>
                      <a:pPr algn="ctr">
                        <a:defRPr sz="1300">
                          <a:solidFill>
                            <a:srgbClr val="1A1A1A"/>
                          </a:solidFill>
                          <a:latin typeface="Calibri"/>
                        </a:defRPr>
                      </a:pPr>
                      <a:r>
                        <a:rPr sz="1400">
                          <a:latin typeface="Aptos"/>
                        </a:rPr>
                        <a:t>100 </a:t>
                      </a:r>
                      <a:r>
                        <a:rPr lang="en-US" sz="1400" b="0" i="0" u="none" strike="noStrike" noProof="0"/>
                        <a:t>δέντρα</a:t>
                      </a:r>
                      <a:r>
                        <a:rPr sz="1400">
                          <a:latin typeface="Aptos"/>
                        </a:rPr>
                        <a:t>, </a:t>
                      </a:r>
                      <a:r>
                        <a:rPr sz="1400" err="1">
                          <a:latin typeface="Aptos"/>
                        </a:rPr>
                        <a:t>lr</a:t>
                      </a:r>
                      <a:r>
                        <a:rPr sz="1400">
                          <a:latin typeface="Aptos"/>
                        </a:rPr>
                        <a:t>=0.1</a:t>
                      </a:r>
                    </a:p>
                  </a:txBody>
                  <a:tcPr anchor="ctr">
                    <a:solidFill>
                      <a:srgbClr val="F2F2F2"/>
                    </a:solidFill>
                  </a:tcPr>
                </a:tc>
                <a:tc>
                  <a:txBody>
                    <a:bodyPr/>
                    <a:lstStyle/>
                    <a:p>
                      <a:pPr lvl="0" algn="ctr">
                        <a:buNone/>
                      </a:pPr>
                      <a:r>
                        <a:rPr lang="en-US" sz="1400" b="0" i="0" u="none" strike="noStrike" noProof="0"/>
                        <a:t>Κανονικοποιημένο </a:t>
                      </a:r>
                      <a:r>
                        <a:rPr sz="1400">
                          <a:latin typeface="Aptos"/>
                        </a:rPr>
                        <a:t>boosting</a:t>
                      </a:r>
                    </a:p>
                  </a:txBody>
                  <a:tcPr anchor="ctr">
                    <a:solidFill>
                      <a:srgbClr val="F2F2F2"/>
                    </a:solidFill>
                  </a:tcPr>
                </a:tc>
                <a:extLst>
                  <a:ext uri="{0D108BD9-81ED-4DB2-BD59-A6C34878D82A}">
                    <a16:rowId xmlns:a16="http://schemas.microsoft.com/office/drawing/2014/main" val="10005"/>
                  </a:ext>
                </a:extLst>
              </a:tr>
            </a:tbl>
          </a:graphicData>
        </a:graphic>
      </p:graphicFrame>
      <p:sp>
        <p:nvSpPr>
          <p:cNvPr id="5" name="Rectangle 4"/>
          <p:cNvSpPr/>
          <p:nvPr/>
        </p:nvSpPr>
        <p:spPr>
          <a:xfrm>
            <a:off x="457200" y="3913632"/>
            <a:ext cx="11247120" cy="237744"/>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defRPr sz="1000">
                <a:solidFill>
                  <a:srgbClr val="666666"/>
                </a:solidFill>
                <a:latin typeface="Calibri"/>
              </a:defRPr>
            </a:pPr>
            <a:r>
              <a:rPr lang="el-GR" sz="800">
                <a:solidFill>
                  <a:schemeClr val="tx1"/>
                </a:solidFill>
                <a:latin typeface="Aptos"/>
              </a:rPr>
              <a:t>Πίνακας 4.5: Model specifications | </a:t>
            </a:r>
            <a:r>
              <a:rPr sz="800" err="1">
                <a:solidFill>
                  <a:schemeClr val="tx1"/>
                </a:solidFill>
                <a:latin typeface="Aptos"/>
              </a:rPr>
              <a:t>tab:model-specs</a:t>
            </a:r>
            <a:endParaRPr lang="en-US" sz="800">
              <a:solidFill>
                <a:schemeClr val="tx1"/>
              </a:solidFill>
              <a:latin typeface="Aptos"/>
              <a:ea typeface="Calibri"/>
              <a:cs typeface="Calibri"/>
            </a:endParaRP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itle 8">
            <a:extLst>
              <a:ext uri="{FF2B5EF4-FFF2-40B4-BE49-F238E27FC236}">
                <a16:creationId xmlns:a16="http://schemas.microsoft.com/office/drawing/2014/main" id="{33BC16D9-893A-E8B3-3AAB-1D23969B0F72}"/>
              </a:ext>
            </a:extLst>
          </p:cNvPr>
          <p:cNvSpPr>
            <a:spLocks noGrp="1"/>
          </p:cNvSpPr>
          <p:nvPr>
            <p:ph type="title"/>
          </p:nvPr>
        </p:nvSpPr>
        <p:spPr/>
        <p:txBody>
          <a:bodyPr>
            <a:normAutofit/>
          </a:bodyPr>
          <a:lstStyle/>
          <a:p>
            <a:r>
              <a:rPr lang="en-GB">
                <a:latin typeface="Aptos"/>
              </a:rPr>
              <a:t>Μοντέλα &amp; Παράμετροι (Fixed A Priori)</a:t>
            </a:r>
            <a:endParaRPr lang="en-US">
              <a:latin typeface="Apto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4" name="TextBox 3"/>
          <p:cNvSpPr txBox="1"/>
          <p:nvPr/>
        </p:nvSpPr>
        <p:spPr>
          <a:xfrm>
            <a:off x="476491" y="1637046"/>
            <a:ext cx="11247120" cy="3593291"/>
          </a:xfrm>
          <a:prstGeom prst="rect">
            <a:avLst/>
          </a:prstGeom>
          <a:noFill/>
        </p:spPr>
        <p:txBody>
          <a:bodyPr wrap="square" lIns="91440" tIns="45720" rIns="91440" bIns="45720" anchor="t">
            <a:spAutoFit/>
          </a:bodyPr>
          <a:lstStyle/>
          <a:p>
            <a:pPr marL="269875" indent="-269875" algn="l">
              <a:spcBef>
                <a:spcPts val="1800"/>
              </a:spcBef>
              <a:spcAft>
                <a:spcPts val="300"/>
              </a:spcAft>
              <a:buFont typeface="Arial" panose="020B0604020202020204" pitchFamily="34" charset="0"/>
              <a:buChar char="•"/>
              <a:defRPr sz="1800" b="0">
                <a:solidFill>
                  <a:srgbClr val="1A1A1A"/>
                </a:solidFill>
                <a:latin typeface="Calibri"/>
              </a:defRPr>
            </a:pPr>
            <a:r>
              <a:t>Dataset A: </a:t>
            </a:r>
            <a:r>
              <a:rPr b="1"/>
              <a:t>Grouped Stratified 5-Fold CV</a:t>
            </a:r>
          </a:p>
          <a:p>
            <a:pPr lvl="1">
              <a:spcBef>
                <a:spcPts val="200"/>
              </a:spcBef>
              <a:spcAft>
                <a:spcPts val="100"/>
              </a:spcAft>
              <a:defRPr sz="1500">
                <a:solidFill>
                  <a:srgbClr val="666666"/>
                </a:solidFill>
                <a:latin typeface="Calibri"/>
              </a:defRPr>
            </a:pPr>
            <a:r>
              <a:rPr lang="en-US">
                <a:ea typeface="+mn-lt"/>
                <a:cs typeface="+mn-lt"/>
              </a:rPr>
              <a:t>Όλες οι ηχογραφήσεις ενός</a:t>
            </a:r>
            <a:r>
              <a:rPr lang="en-US"/>
              <a:t> </a:t>
            </a:r>
            <a:r>
              <a:t>subject → </a:t>
            </a:r>
            <a:r>
              <a:rPr lang="el-GR"/>
              <a:t>ίδιο fold</a:t>
            </a:r>
            <a:endParaRPr/>
          </a:p>
          <a:p>
            <a:pPr lvl="1">
              <a:spcBef>
                <a:spcPts val="200"/>
              </a:spcBef>
              <a:spcAft>
                <a:spcPts val="100"/>
              </a:spcAft>
              <a:defRPr sz="1500">
                <a:solidFill>
                  <a:srgbClr val="666666"/>
                </a:solidFill>
                <a:latin typeface="Calibri"/>
              </a:defRPr>
            </a:pPr>
            <a:r>
              <a:rPr lang="en-US">
                <a:ea typeface="+mn-lt"/>
                <a:cs typeface="+mn-lt"/>
              </a:rPr>
              <a:t>Αποτρέπει</a:t>
            </a:r>
            <a:r>
              <a:rPr lang="en-US"/>
              <a:t> </a:t>
            </a:r>
            <a:r>
              <a:rPr lang="en-US">
                <a:ea typeface="+mn-lt"/>
                <a:cs typeface="+mn-lt"/>
              </a:rPr>
              <a:t>διαρροή δεδομένων</a:t>
            </a:r>
            <a:r>
              <a:rPr lang="en-US"/>
              <a:t> → </a:t>
            </a:r>
            <a:r>
              <a:rPr lang="en-US">
                <a:ea typeface="+mn-lt"/>
                <a:cs typeface="+mn-lt"/>
              </a:rPr>
              <a:t>η σημαντικότερη σχεδιαστική επιλογή</a:t>
            </a:r>
          </a:p>
          <a:p>
            <a:pPr marL="269875" indent="-269875">
              <a:spcBef>
                <a:spcPts val="1800"/>
              </a:spcBef>
              <a:spcAft>
                <a:spcPts val="300"/>
              </a:spcAft>
              <a:buFont typeface="Arial" panose="020B0604020202020204" pitchFamily="34" charset="0"/>
              <a:buChar char="•"/>
              <a:defRPr sz="1800" b="0">
                <a:solidFill>
                  <a:srgbClr val="1A1A1A"/>
                </a:solidFill>
                <a:latin typeface="Calibri"/>
              </a:defRPr>
            </a:pPr>
            <a:r>
              <a:rPr>
                <a:solidFill>
                  <a:srgbClr val="1A1A1A"/>
                </a:solidFill>
                <a:latin typeface="Calibri"/>
              </a:rPr>
              <a:t>Dataset B: </a:t>
            </a:r>
            <a:r>
              <a:rPr b="1">
                <a:solidFill>
                  <a:srgbClr val="1A1A1A"/>
                </a:solidFill>
                <a:latin typeface="Calibri"/>
              </a:rPr>
              <a:t>Stratified 5-Fold CV</a:t>
            </a:r>
            <a:r>
              <a:rPr>
                <a:solidFill>
                  <a:srgbClr val="1A1A1A"/>
                </a:solidFill>
                <a:latin typeface="Calibri"/>
              </a:rPr>
              <a:t> (sample-level)</a:t>
            </a:r>
          </a:p>
          <a:p>
            <a:pPr lvl="1">
              <a:spcBef>
                <a:spcPts val="200"/>
              </a:spcBef>
              <a:spcAft>
                <a:spcPts val="100"/>
              </a:spcAft>
              <a:defRPr sz="1500">
                <a:solidFill>
                  <a:srgbClr val="666666"/>
                </a:solidFill>
                <a:latin typeface="Calibri"/>
              </a:defRPr>
            </a:pPr>
            <a:r>
              <a:rPr lang="en-US">
                <a:ea typeface="+mn-lt"/>
                <a:cs typeface="+mn-lt"/>
              </a:rPr>
              <a:t>Μη διαθέσιμα Subject IDs</a:t>
            </a:r>
            <a:r>
              <a:rPr lang="en-US"/>
              <a:t> </a:t>
            </a:r>
            <a:r>
              <a:t>→ </a:t>
            </a:r>
            <a:r>
              <a:rPr lang="en-US">
                <a:ea typeface="+mn-lt"/>
                <a:cs typeface="+mn-lt"/>
              </a:rPr>
              <a:t>πιθανή</a:t>
            </a:r>
            <a:r>
              <a:rPr lang="en-US"/>
              <a:t> </a:t>
            </a:r>
            <a:r>
              <a:t>within-subject </a:t>
            </a:r>
            <a:r>
              <a:rPr lang="en-US"/>
              <a:t>διαρροή </a:t>
            </a:r>
            <a:endParaRPr lang="en-US">
              <a:ea typeface="Calibri"/>
              <a:cs typeface="Calibri"/>
            </a:endParaRPr>
          </a:p>
          <a:p>
            <a:pPr lvl="1">
              <a:defRPr sz="1500">
                <a:solidFill>
                  <a:srgbClr val="666666"/>
                </a:solidFill>
                <a:latin typeface="Calibri"/>
              </a:defRPr>
            </a:pPr>
            <a:r>
              <a:rPr lang="en-US">
                <a:ea typeface="+mn-lt"/>
                <a:cs typeface="+mn-lt"/>
              </a:rPr>
              <a:t>Τα αποτελέσματα επισημαίνονται ως </a:t>
            </a:r>
            <a:r>
              <a:rPr lang="en-US" i="1" u="sng">
                <a:ea typeface="+mn-lt"/>
                <a:cs typeface="+mn-lt"/>
              </a:rPr>
              <a:t>δυνητικά αισιόδοξα</a:t>
            </a:r>
            <a:endParaRPr lang="en-US" i="1" u="sng">
              <a:ea typeface="Calibri"/>
              <a:cs typeface="Calibri"/>
            </a:endParaRPr>
          </a:p>
          <a:p>
            <a:pPr marL="269875" indent="-269875">
              <a:spcBef>
                <a:spcPts val="1800"/>
              </a:spcBef>
              <a:spcAft>
                <a:spcPts val="300"/>
              </a:spcAft>
              <a:buFont typeface="Arial" panose="020B0604020202020204" pitchFamily="34" charset="0"/>
              <a:buChar char="•"/>
              <a:defRPr sz="1800" b="0">
                <a:solidFill>
                  <a:srgbClr val="1A1A1A"/>
                </a:solidFill>
                <a:latin typeface="Calibri"/>
              </a:defRPr>
            </a:pPr>
            <a:r>
              <a:rPr lang="en-US">
                <a:solidFill>
                  <a:srgbClr val="1A1A1A"/>
                </a:solidFill>
                <a:ea typeface="+mn-lt"/>
                <a:cs typeface="+mn-lt"/>
              </a:rPr>
              <a:t>Μετρικές</a:t>
            </a:r>
            <a:r>
              <a:rPr>
                <a:solidFill>
                  <a:srgbClr val="1A1A1A"/>
                </a:solidFill>
                <a:latin typeface="Calibri"/>
              </a:rPr>
              <a:t>: mean ± std across 5 folds</a:t>
            </a:r>
          </a:p>
          <a:p>
            <a:pPr marL="269875" indent="-269875">
              <a:spcBef>
                <a:spcPts val="1800"/>
              </a:spcBef>
              <a:spcAft>
                <a:spcPts val="300"/>
              </a:spcAft>
              <a:buFont typeface="Arial" panose="020B0604020202020204" pitchFamily="34" charset="0"/>
              <a:buChar char="•"/>
              <a:defRPr sz="1800" b="0">
                <a:solidFill>
                  <a:srgbClr val="1A1A1A"/>
                </a:solidFill>
                <a:latin typeface="Calibri"/>
              </a:defRPr>
            </a:pPr>
            <a:r>
              <a:rPr lang="en-US">
                <a:solidFill>
                  <a:srgbClr val="1A1A1A"/>
                </a:solidFill>
                <a:ea typeface="+mn-lt"/>
                <a:cs typeface="+mn-lt"/>
              </a:rPr>
              <a:t>Κύρια μετρική</a:t>
            </a:r>
            <a:r>
              <a:rPr>
                <a:solidFill>
                  <a:srgbClr val="1A1A1A"/>
                </a:solidFill>
                <a:latin typeface="Calibri"/>
              </a:rPr>
              <a:t>: </a:t>
            </a:r>
            <a:r>
              <a:rPr lang="en-US" b="1">
                <a:solidFill>
                  <a:srgbClr val="E86C00"/>
                </a:solidFill>
                <a:ea typeface="+mn-lt"/>
                <a:cs typeface="+mn-lt"/>
              </a:rPr>
              <a:t>ROC-AUC</a:t>
            </a:r>
          </a:p>
          <a:p>
            <a:pPr marL="269875" indent="-269875">
              <a:spcBef>
                <a:spcPts val="1800"/>
              </a:spcBef>
              <a:spcAft>
                <a:spcPts val="300"/>
              </a:spcAft>
              <a:buFont typeface="Arial" panose="020B0604020202020204" pitchFamily="34" charset="0"/>
              <a:buChar char="•"/>
              <a:defRPr sz="1800" b="0">
                <a:solidFill>
                  <a:srgbClr val="1A1A1A"/>
                </a:solidFill>
                <a:latin typeface="Calibri"/>
              </a:defRPr>
            </a:pPr>
            <a:r>
              <a:rPr lang="en-US">
                <a:solidFill>
                  <a:srgbClr val="1A1A1A"/>
                </a:solidFill>
                <a:ea typeface="+mn-lt"/>
                <a:cs typeface="+mn-lt"/>
              </a:rPr>
              <a:t>Δευτερεύουσες μετρικές</a:t>
            </a:r>
            <a:r>
              <a:rPr>
                <a:solidFill>
                  <a:srgbClr val="1A1A1A"/>
                </a:solidFill>
                <a:latin typeface="Calibri"/>
              </a:rPr>
              <a:t>: </a:t>
            </a:r>
            <a:r>
              <a:rPr b="1">
                <a:solidFill>
                  <a:srgbClr val="1A1A1A"/>
                </a:solidFill>
                <a:latin typeface="Calibri"/>
              </a:rPr>
              <a:t>Accuracy, Precision, Recall, F1-Score</a:t>
            </a:r>
            <a:endParaRPr b="1">
              <a:solidFill>
                <a:srgbClr val="1A1A1A"/>
              </a:solidFill>
              <a:latin typeface="Calibri"/>
              <a:ea typeface="Calibri"/>
              <a:cs typeface="Calibri"/>
            </a:endParaRPr>
          </a:p>
        </p:txBody>
      </p:sp>
      <p:sp>
        <p:nvSpPr>
          <p:cNvPr id="5" name="Rectangle 4"/>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itle 7">
            <a:extLst>
              <a:ext uri="{FF2B5EF4-FFF2-40B4-BE49-F238E27FC236}">
                <a16:creationId xmlns:a16="http://schemas.microsoft.com/office/drawing/2014/main" id="{4A5F3174-9441-750E-8FFD-E842F8A39132}"/>
              </a:ext>
            </a:extLst>
          </p:cNvPr>
          <p:cNvSpPr>
            <a:spLocks noGrp="1"/>
          </p:cNvSpPr>
          <p:nvPr>
            <p:ph type="title"/>
          </p:nvPr>
        </p:nvSpPr>
        <p:spPr/>
        <p:txBody>
          <a:bodyPr>
            <a:normAutofit/>
          </a:bodyPr>
          <a:lstStyle/>
          <a:p>
            <a:r>
              <a:rPr lang="en-GB" err="1">
                <a:latin typeface="Aptos"/>
              </a:rPr>
              <a:t>Μεθοδολογί</a:t>
            </a:r>
            <a:r>
              <a:rPr lang="en-GB">
                <a:latin typeface="Aptos"/>
              </a:rPr>
              <a:t>α Cross-Validation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510016612"/>
              </p:ext>
            </p:extLst>
          </p:nvPr>
        </p:nvGraphicFramePr>
        <p:xfrm>
          <a:off x="457200" y="1671651"/>
          <a:ext cx="11247120" cy="2097535"/>
        </p:xfrm>
        <a:graphic>
          <a:graphicData uri="http://schemas.openxmlformats.org/drawingml/2006/table">
            <a:tbl>
              <a:tblPr firstRow="1" bandRow="1">
                <a:tableStyleId>{5C22544A-7EE6-4342-B048-85BDC9FD1C3A}</a:tableStyleId>
              </a:tblPr>
              <a:tblGrid>
                <a:gridCol w="1874520">
                  <a:extLst>
                    <a:ext uri="{9D8B030D-6E8A-4147-A177-3AD203B41FA5}">
                      <a16:colId xmlns:a16="http://schemas.microsoft.com/office/drawing/2014/main" val="20000"/>
                    </a:ext>
                  </a:extLst>
                </a:gridCol>
                <a:gridCol w="281178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4686300">
                  <a:extLst>
                    <a:ext uri="{9D8B030D-6E8A-4147-A177-3AD203B41FA5}">
                      <a16:colId xmlns:a16="http://schemas.microsoft.com/office/drawing/2014/main" val="20003"/>
                    </a:ext>
                  </a:extLst>
                </a:gridCol>
              </a:tblGrid>
              <a:tr h="524767">
                <a:tc>
                  <a:txBody>
                    <a:bodyPr/>
                    <a:lstStyle/>
                    <a:p>
                      <a:pPr algn="ctr">
                        <a:defRPr sz="1400" b="1">
                          <a:solidFill>
                            <a:srgbClr val="FFFFFF"/>
                          </a:solidFill>
                          <a:latin typeface="Calibri"/>
                        </a:defRPr>
                      </a:pPr>
                      <a:r>
                        <a:rPr lang="el-GR" sz="1800">
                          <a:latin typeface="Aptos"/>
                        </a:rPr>
                        <a:t>Συνθήκη</a:t>
                      </a:r>
                      <a:endParaRPr sz="1800">
                        <a:latin typeface="Aptos" panose="020B0004020202020204" pitchFamily="34" charset="0"/>
                      </a:endParaRPr>
                    </a:p>
                  </a:txBody>
                  <a:tcPr anchor="ctr">
                    <a:solidFill>
                      <a:srgbClr val="002B5C"/>
                    </a:solidFill>
                  </a:tcPr>
                </a:tc>
                <a:tc>
                  <a:txBody>
                    <a:bodyPr/>
                    <a:lstStyle/>
                    <a:p>
                      <a:pPr algn="ctr">
                        <a:defRPr sz="1400" b="1">
                          <a:solidFill>
                            <a:srgbClr val="FFFFFF"/>
                          </a:solidFill>
                          <a:latin typeface="Calibri"/>
                        </a:defRPr>
                      </a:pPr>
                      <a:r>
                        <a:rPr lang="el-GR" sz="1800">
                          <a:latin typeface="Aptos"/>
                        </a:rPr>
                        <a:t>Χαρακτηριστικά</a:t>
                      </a:r>
                      <a:endParaRPr sz="1800">
                        <a:latin typeface="Aptos" panose="020B0004020202020204" pitchFamily="34" charset="0"/>
                      </a:endParaRPr>
                    </a:p>
                  </a:txBody>
                  <a:tcPr anchor="ctr">
                    <a:solidFill>
                      <a:srgbClr val="002B5C"/>
                    </a:solidFill>
                  </a:tcPr>
                </a:tc>
                <a:tc>
                  <a:txBody>
                    <a:bodyPr/>
                    <a:lstStyle/>
                    <a:p>
                      <a:pPr algn="ctr">
                        <a:defRPr sz="1400" b="1">
                          <a:solidFill>
                            <a:srgbClr val="FFFFFF"/>
                          </a:solidFill>
                          <a:latin typeface="Calibri"/>
                        </a:defRPr>
                      </a:pPr>
                      <a:r>
                        <a:rPr lang="el-GR" sz="1800">
                          <a:latin typeface="Aptos"/>
                        </a:rPr>
                        <a:t>Βάρη</a:t>
                      </a:r>
                      <a:endParaRPr sz="1800">
                        <a:latin typeface="Aptos" panose="020B0004020202020204" pitchFamily="34" charset="0"/>
                      </a:endParaRPr>
                    </a:p>
                  </a:txBody>
                  <a:tcPr anchor="ctr">
                    <a:solidFill>
                      <a:srgbClr val="002B5C"/>
                    </a:solidFill>
                  </a:tcPr>
                </a:tc>
                <a:tc>
                  <a:txBody>
                    <a:bodyPr/>
                    <a:lstStyle/>
                    <a:p>
                      <a:pPr algn="ctr">
                        <a:defRPr sz="1400" b="1">
                          <a:solidFill>
                            <a:srgbClr val="FFFFFF"/>
                          </a:solidFill>
                          <a:latin typeface="Calibri"/>
                        </a:defRPr>
                      </a:pPr>
                      <a:r>
                        <a:rPr lang="el-GR" sz="1800">
                          <a:latin typeface="Aptos"/>
                        </a:rPr>
                        <a:t>Μοντέλα</a:t>
                      </a:r>
                      <a:endParaRPr sz="1800">
                        <a:latin typeface="Aptos" panose="020B0004020202020204" pitchFamily="34" charset="0"/>
                      </a:endParaRPr>
                    </a:p>
                  </a:txBody>
                  <a:tcPr anchor="ctr">
                    <a:solidFill>
                      <a:srgbClr val="002B5C"/>
                    </a:solidFill>
                  </a:tcPr>
                </a:tc>
                <a:extLst>
                  <a:ext uri="{0D108BD9-81ED-4DB2-BD59-A6C34878D82A}">
                    <a16:rowId xmlns:a16="http://schemas.microsoft.com/office/drawing/2014/main" val="10000"/>
                  </a:ext>
                </a:extLst>
              </a:tr>
              <a:tr h="393192">
                <a:tc>
                  <a:txBody>
                    <a:bodyPr/>
                    <a:lstStyle/>
                    <a:p>
                      <a:pPr algn="ctr">
                        <a:defRPr sz="1300">
                          <a:solidFill>
                            <a:srgbClr val="1A1A1A"/>
                          </a:solidFill>
                          <a:latin typeface="Calibri"/>
                        </a:defRPr>
                      </a:pPr>
                      <a:r>
                        <a:rPr>
                          <a:latin typeface="Aptos" panose="020B0004020202020204" pitchFamily="34" charset="0"/>
                        </a:rPr>
                        <a:t>C1</a:t>
                      </a:r>
                    </a:p>
                  </a:txBody>
                  <a:tcPr anchor="ctr">
                    <a:solidFill>
                      <a:srgbClr val="F2F2F2"/>
                    </a:solidFill>
                  </a:tcPr>
                </a:tc>
                <a:tc>
                  <a:txBody>
                    <a:bodyPr/>
                    <a:lstStyle/>
                    <a:p>
                      <a:pPr algn="ctr">
                        <a:defRPr sz="1300">
                          <a:solidFill>
                            <a:srgbClr val="1A1A1A"/>
                          </a:solidFill>
                          <a:latin typeface="Calibri"/>
                        </a:defRPr>
                      </a:pPr>
                      <a:r>
                        <a:rPr>
                          <a:latin typeface="Aptos" panose="020B0004020202020204" pitchFamily="34" charset="0"/>
                        </a:rPr>
                        <a:t>47 (baseline)</a:t>
                      </a:r>
                    </a:p>
                  </a:txBody>
                  <a:tcPr anchor="ctr">
                    <a:solidFill>
                      <a:srgbClr val="F2F2F2"/>
                    </a:solidFill>
                  </a:tcPr>
                </a:tc>
                <a:tc>
                  <a:txBody>
                    <a:bodyPr/>
                    <a:lstStyle/>
                    <a:p>
                      <a:pPr algn="ctr">
                        <a:defRPr sz="1300">
                          <a:solidFill>
                            <a:srgbClr val="1A1A1A"/>
                          </a:solidFill>
                          <a:latin typeface="Calibri"/>
                        </a:defRPr>
                      </a:pPr>
                      <a:r>
                        <a:rPr lang="en-US">
                          <a:latin typeface="Aptos"/>
                        </a:rPr>
                        <a:t>-</a:t>
                      </a:r>
                      <a:endParaRPr>
                        <a:latin typeface="Aptos" panose="020B0004020202020204" pitchFamily="34" charset="0"/>
                      </a:endParaRPr>
                    </a:p>
                  </a:txBody>
                  <a:tcPr anchor="ctr">
                    <a:solidFill>
                      <a:srgbClr val="F2F2F2"/>
                    </a:solidFill>
                  </a:tcPr>
                </a:tc>
                <a:tc>
                  <a:txBody>
                    <a:bodyPr/>
                    <a:lstStyle/>
                    <a:p>
                      <a:pPr algn="ctr">
                        <a:defRPr sz="1300">
                          <a:solidFill>
                            <a:srgbClr val="1A1A1A"/>
                          </a:solidFill>
                          <a:latin typeface="Calibri"/>
                        </a:defRPr>
                      </a:pPr>
                      <a:r>
                        <a:rPr>
                          <a:latin typeface="Aptos" panose="020B0004020202020204" pitchFamily="34" charset="0"/>
                        </a:rPr>
                        <a:t>LR, SVM, RF, GB, XGB</a:t>
                      </a:r>
                    </a:p>
                  </a:txBody>
                  <a:tcPr anchor="ctr">
                    <a:solidFill>
                      <a:srgbClr val="F2F2F2"/>
                    </a:solidFill>
                  </a:tcPr>
                </a:tc>
                <a:extLst>
                  <a:ext uri="{0D108BD9-81ED-4DB2-BD59-A6C34878D82A}">
                    <a16:rowId xmlns:a16="http://schemas.microsoft.com/office/drawing/2014/main" val="10001"/>
                  </a:ext>
                </a:extLst>
              </a:tr>
              <a:tr h="393192">
                <a:tc>
                  <a:txBody>
                    <a:bodyPr/>
                    <a:lstStyle/>
                    <a:p>
                      <a:pPr algn="ctr">
                        <a:defRPr sz="1300">
                          <a:solidFill>
                            <a:srgbClr val="1A1A1A"/>
                          </a:solidFill>
                          <a:latin typeface="Calibri"/>
                        </a:defRPr>
                      </a:pPr>
                      <a:r>
                        <a:rPr>
                          <a:latin typeface="Aptos" panose="020B0004020202020204" pitchFamily="34" charset="0"/>
                        </a:rPr>
                        <a:t>C2</a:t>
                      </a:r>
                    </a:p>
                  </a:txBody>
                  <a:tcPr anchor="ctr">
                    <a:solidFill>
                      <a:srgbClr val="FFFFFF"/>
                    </a:solidFill>
                  </a:tcPr>
                </a:tc>
                <a:tc>
                  <a:txBody>
                    <a:bodyPr/>
                    <a:lstStyle/>
                    <a:p>
                      <a:pPr algn="ctr">
                        <a:defRPr sz="1300">
                          <a:solidFill>
                            <a:srgbClr val="1A1A1A"/>
                          </a:solidFill>
                          <a:latin typeface="Calibri"/>
                        </a:defRPr>
                      </a:pPr>
                      <a:r>
                        <a:rPr>
                          <a:latin typeface="Aptos" panose="020B0004020202020204" pitchFamily="34" charset="0"/>
                        </a:rPr>
                        <a:t>47 (baseline)</a:t>
                      </a:r>
                    </a:p>
                  </a:txBody>
                  <a:tcPr anchor="ctr">
                    <a:solidFill>
                      <a:srgbClr val="FFFFFF"/>
                    </a:solidFill>
                  </a:tcPr>
                </a:tc>
                <a:tc>
                  <a:txBody>
                    <a:bodyPr/>
                    <a:lstStyle/>
                    <a:p>
                      <a:pPr algn="ctr">
                        <a:defRPr sz="1300">
                          <a:solidFill>
                            <a:srgbClr val="1A1A1A"/>
                          </a:solidFill>
                          <a:latin typeface="Calibri"/>
                        </a:defRPr>
                      </a:pPr>
                      <a:r>
                        <a:rPr>
                          <a:latin typeface="Aptos" panose="020B0004020202020204" pitchFamily="34" charset="0"/>
                        </a:rPr>
                        <a:t>Balanced</a:t>
                      </a:r>
                    </a:p>
                  </a:txBody>
                  <a:tcPr anchor="ctr">
                    <a:solidFill>
                      <a:srgbClr val="FFFFFF"/>
                    </a:solidFill>
                  </a:tcPr>
                </a:tc>
                <a:tc>
                  <a:txBody>
                    <a:bodyPr/>
                    <a:lstStyle/>
                    <a:p>
                      <a:pPr algn="ctr">
                        <a:defRPr sz="1300">
                          <a:solidFill>
                            <a:srgbClr val="1A1A1A"/>
                          </a:solidFill>
                          <a:latin typeface="Calibri"/>
                        </a:defRPr>
                      </a:pPr>
                      <a:r>
                        <a:rPr>
                          <a:latin typeface="Aptos" panose="020B0004020202020204" pitchFamily="34" charset="0"/>
                        </a:rPr>
                        <a:t>LR, SVM, RF, GB, XGB</a:t>
                      </a:r>
                    </a:p>
                  </a:txBody>
                  <a:tcPr anchor="ctr">
                    <a:solidFill>
                      <a:srgbClr val="FFFFFF"/>
                    </a:solidFill>
                  </a:tcPr>
                </a:tc>
                <a:extLst>
                  <a:ext uri="{0D108BD9-81ED-4DB2-BD59-A6C34878D82A}">
                    <a16:rowId xmlns:a16="http://schemas.microsoft.com/office/drawing/2014/main" val="10002"/>
                  </a:ext>
                </a:extLst>
              </a:tr>
              <a:tr h="393192">
                <a:tc>
                  <a:txBody>
                    <a:bodyPr/>
                    <a:lstStyle/>
                    <a:p>
                      <a:pPr algn="ctr">
                        <a:defRPr sz="1300">
                          <a:solidFill>
                            <a:srgbClr val="1A1A1A"/>
                          </a:solidFill>
                          <a:latin typeface="Calibri"/>
                        </a:defRPr>
                      </a:pPr>
                      <a:r>
                        <a:rPr>
                          <a:latin typeface="Aptos" panose="020B0004020202020204" pitchFamily="34" charset="0"/>
                        </a:rPr>
                        <a:t>C3</a:t>
                      </a:r>
                    </a:p>
                  </a:txBody>
                  <a:tcPr anchor="ctr">
                    <a:solidFill>
                      <a:srgbClr val="F2F2F2"/>
                    </a:solidFill>
                  </a:tcPr>
                </a:tc>
                <a:tc>
                  <a:txBody>
                    <a:bodyPr/>
                    <a:lstStyle/>
                    <a:p>
                      <a:pPr algn="ctr">
                        <a:defRPr sz="1300">
                          <a:solidFill>
                            <a:srgbClr val="1A1A1A"/>
                          </a:solidFill>
                          <a:latin typeface="Calibri"/>
                        </a:defRPr>
                      </a:pPr>
                      <a:r>
                        <a:rPr>
                          <a:latin typeface="Aptos" panose="020B0004020202020204" pitchFamily="34" charset="0"/>
                        </a:rPr>
                        <a:t>78 (extended)</a:t>
                      </a:r>
                    </a:p>
                  </a:txBody>
                  <a:tcPr anchor="ctr">
                    <a:solidFill>
                      <a:srgbClr val="F2F2F2"/>
                    </a:solidFill>
                  </a:tcPr>
                </a:tc>
                <a:tc>
                  <a:txBody>
                    <a:bodyPr/>
                    <a:lstStyle/>
                    <a:p>
                      <a:pPr algn="ctr">
                        <a:defRPr sz="1300">
                          <a:solidFill>
                            <a:srgbClr val="1A1A1A"/>
                          </a:solidFill>
                          <a:latin typeface="Calibri"/>
                        </a:defRPr>
                      </a:pPr>
                      <a:r>
                        <a:rPr lang="en-US">
                          <a:latin typeface="Aptos"/>
                        </a:rPr>
                        <a:t>-</a:t>
                      </a:r>
                      <a:endParaRPr>
                        <a:latin typeface="Aptos" panose="020B0004020202020204" pitchFamily="34" charset="0"/>
                      </a:endParaRPr>
                    </a:p>
                  </a:txBody>
                  <a:tcPr anchor="ctr">
                    <a:solidFill>
                      <a:srgbClr val="F2F2F2"/>
                    </a:solidFill>
                  </a:tcPr>
                </a:tc>
                <a:tc>
                  <a:txBody>
                    <a:bodyPr/>
                    <a:lstStyle/>
                    <a:p>
                      <a:pPr algn="ctr">
                        <a:defRPr sz="1300">
                          <a:solidFill>
                            <a:srgbClr val="1A1A1A"/>
                          </a:solidFill>
                          <a:latin typeface="Calibri"/>
                        </a:defRPr>
                      </a:pPr>
                      <a:r>
                        <a:rPr>
                          <a:latin typeface="Aptos" panose="020B0004020202020204" pitchFamily="34" charset="0"/>
                        </a:rPr>
                        <a:t>LR, SVM, RF, GB, XGB</a:t>
                      </a:r>
                    </a:p>
                  </a:txBody>
                  <a:tcPr anchor="ctr">
                    <a:solidFill>
                      <a:srgbClr val="F2F2F2"/>
                    </a:solidFill>
                  </a:tcPr>
                </a:tc>
                <a:extLst>
                  <a:ext uri="{0D108BD9-81ED-4DB2-BD59-A6C34878D82A}">
                    <a16:rowId xmlns:a16="http://schemas.microsoft.com/office/drawing/2014/main" val="10003"/>
                  </a:ext>
                </a:extLst>
              </a:tr>
              <a:tr h="393192">
                <a:tc>
                  <a:txBody>
                    <a:bodyPr/>
                    <a:lstStyle/>
                    <a:p>
                      <a:pPr algn="ctr">
                        <a:defRPr sz="1300">
                          <a:solidFill>
                            <a:srgbClr val="1A1A1A"/>
                          </a:solidFill>
                          <a:latin typeface="Calibri"/>
                        </a:defRPr>
                      </a:pPr>
                      <a:r>
                        <a:rPr>
                          <a:latin typeface="Aptos" panose="020B0004020202020204" pitchFamily="34" charset="0"/>
                        </a:rPr>
                        <a:t>C4</a:t>
                      </a:r>
                    </a:p>
                  </a:txBody>
                  <a:tcPr anchor="ctr">
                    <a:solidFill>
                      <a:srgbClr val="FFFFFF"/>
                    </a:solidFill>
                  </a:tcPr>
                </a:tc>
                <a:tc>
                  <a:txBody>
                    <a:bodyPr/>
                    <a:lstStyle/>
                    <a:p>
                      <a:pPr algn="ctr">
                        <a:defRPr sz="1300">
                          <a:solidFill>
                            <a:srgbClr val="1A1A1A"/>
                          </a:solidFill>
                          <a:latin typeface="Calibri"/>
                        </a:defRPr>
                      </a:pPr>
                      <a:r>
                        <a:rPr>
                          <a:latin typeface="Aptos" panose="020B0004020202020204" pitchFamily="34" charset="0"/>
                        </a:rPr>
                        <a:t>78 (extended)</a:t>
                      </a:r>
                    </a:p>
                  </a:txBody>
                  <a:tcPr anchor="ctr">
                    <a:solidFill>
                      <a:srgbClr val="FFFFFF"/>
                    </a:solidFill>
                  </a:tcPr>
                </a:tc>
                <a:tc>
                  <a:txBody>
                    <a:bodyPr/>
                    <a:lstStyle/>
                    <a:p>
                      <a:pPr algn="ctr">
                        <a:defRPr sz="1300">
                          <a:solidFill>
                            <a:srgbClr val="1A1A1A"/>
                          </a:solidFill>
                          <a:latin typeface="Calibri"/>
                        </a:defRPr>
                      </a:pPr>
                      <a:r>
                        <a:rPr>
                          <a:latin typeface="Aptos" panose="020B0004020202020204" pitchFamily="34" charset="0"/>
                        </a:rPr>
                        <a:t>Balanced</a:t>
                      </a:r>
                    </a:p>
                  </a:txBody>
                  <a:tcPr anchor="ctr">
                    <a:solidFill>
                      <a:srgbClr val="FFFFFF"/>
                    </a:solidFill>
                  </a:tcPr>
                </a:tc>
                <a:tc>
                  <a:txBody>
                    <a:bodyPr/>
                    <a:lstStyle/>
                    <a:p>
                      <a:pPr algn="ctr">
                        <a:defRPr sz="1300">
                          <a:solidFill>
                            <a:srgbClr val="1A1A1A"/>
                          </a:solidFill>
                          <a:latin typeface="Calibri"/>
                        </a:defRPr>
                      </a:pPr>
                      <a:r>
                        <a:rPr>
                          <a:latin typeface="Aptos" panose="020B0004020202020204" pitchFamily="34" charset="0"/>
                        </a:rPr>
                        <a:t>LR, SVM, RF, GB, XGB</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457200" y="3767137"/>
            <a:ext cx="11247120" cy="237744"/>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l-GR" sz="800">
                <a:solidFill>
                  <a:schemeClr val="tx1"/>
                </a:solidFill>
                <a:latin typeface="Aptos"/>
              </a:rPr>
              <a:t>Πίνακας 5.1: Πειραματικές συνθήκες C1</a:t>
            </a:r>
            <a:r>
              <a:rPr lang="en-GB" sz="800">
                <a:solidFill>
                  <a:schemeClr val="tx1"/>
                </a:solidFill>
                <a:latin typeface="Aptos"/>
              </a:rPr>
              <a:t>-</a:t>
            </a:r>
            <a:r>
              <a:rPr sz="800">
                <a:solidFill>
                  <a:schemeClr val="tx1"/>
                </a:solidFill>
                <a:latin typeface="Aptos"/>
              </a:rPr>
              <a:t>C4</a:t>
            </a:r>
            <a:endParaRPr lang="en-US" sz="800">
              <a:solidFill>
                <a:schemeClr val="tx1"/>
              </a:solidFill>
              <a:latin typeface="Aptos"/>
            </a:endParaRP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2440" y="4801726"/>
            <a:ext cx="11247120" cy="369332"/>
          </a:xfrm>
          <a:prstGeom prst="rect">
            <a:avLst/>
          </a:prstGeom>
          <a:noFill/>
        </p:spPr>
        <p:txBody>
          <a:bodyPr wrap="square" lIns="91440" tIns="45720" rIns="91440" bIns="45720" anchor="t">
            <a:spAutoFit/>
          </a:bodyPr>
          <a:lstStyle/>
          <a:p>
            <a:pPr algn="ctr">
              <a:defRPr sz="1800" b="1">
                <a:solidFill>
                  <a:srgbClr val="E86C00"/>
                </a:solidFill>
                <a:latin typeface="Calibri"/>
              </a:defRPr>
            </a:pPr>
            <a:r>
              <a:rPr lang="el-GR">
                <a:latin typeface="Aptos"/>
              </a:rPr>
              <a:t>Σύνολο: 4 συνθήκες × 5 μοντέλα </a:t>
            </a:r>
            <a:r>
              <a:rPr lang="en-GB">
                <a:latin typeface="Aptos"/>
              </a:rPr>
              <a:t>×</a:t>
            </a:r>
            <a:r>
              <a:rPr>
                <a:latin typeface="Aptos"/>
              </a:rPr>
              <a:t> 3 datasets/tasks × 5 folds = 300 </a:t>
            </a:r>
            <a:r>
              <a:rPr lang="el-GR">
                <a:latin typeface="Aptos"/>
              </a:rPr>
              <a:t>πειράματα</a:t>
            </a:r>
            <a:endParaRPr lang="en-US">
              <a:latin typeface="Aptos"/>
            </a:endParaRPr>
          </a:p>
        </p:txBody>
      </p:sp>
      <p:sp>
        <p:nvSpPr>
          <p:cNvPr id="10" name="Title 9">
            <a:extLst>
              <a:ext uri="{FF2B5EF4-FFF2-40B4-BE49-F238E27FC236}">
                <a16:creationId xmlns:a16="http://schemas.microsoft.com/office/drawing/2014/main" id="{5037AAAC-1A3B-5E33-F30A-8C5EADACB883}"/>
              </a:ext>
            </a:extLst>
          </p:cNvPr>
          <p:cNvSpPr>
            <a:spLocks noGrp="1"/>
          </p:cNvSpPr>
          <p:nvPr>
            <p:ph type="title"/>
          </p:nvPr>
        </p:nvSpPr>
        <p:spPr/>
        <p:txBody>
          <a:bodyPr>
            <a:normAutofit/>
          </a:bodyPr>
          <a:lstStyle/>
          <a:p>
            <a:r>
              <a:rPr lang="pt-BR">
                <a:latin typeface="Aptos"/>
              </a:rPr>
              <a:t>Πειραματικός Σχεδιασμός - 2×2×5</a:t>
            </a:r>
            <a:endParaRPr lang="en-GB">
              <a:latin typeface="Apto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par>
                          <p:cTn id="11" fill="hold">
                            <p:stCondLst>
                              <p:cond delay="500"/>
                            </p:stCondLst>
                            <p:childTnLst>
                              <p:par>
                                <p:cTn id="12" presetID="10" presetClass="entr" presetSubtype="0" fill="hold" grpId="0" nodeType="afterEffect">
                                  <p:stCondLst>
                                    <p:cond delay="100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2" name="Rectangle 1"/>
          <p:cNvSpPr/>
          <p:nvPr/>
        </p:nvSpPr>
        <p:spPr>
          <a:xfrm>
            <a:off x="914400" y="2854827"/>
            <a:ext cx="10362895" cy="27432"/>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3" name="TextBox 2"/>
          <p:cNvSpPr txBox="1"/>
          <p:nvPr/>
        </p:nvSpPr>
        <p:spPr>
          <a:xfrm>
            <a:off x="914400" y="1828800"/>
            <a:ext cx="10362895" cy="707886"/>
          </a:xfrm>
          <a:prstGeom prst="rect">
            <a:avLst/>
          </a:prstGeom>
          <a:noFill/>
        </p:spPr>
        <p:txBody>
          <a:bodyPr wrap="square" lIns="91440" tIns="45720" rIns="91440" bIns="45720" anchor="t">
            <a:spAutoFit/>
          </a:bodyPr>
          <a:lstStyle/>
          <a:p>
            <a:pPr algn="l">
              <a:defRPr sz="4000" b="1">
                <a:solidFill>
                  <a:srgbClr val="FFFFFF"/>
                </a:solidFill>
                <a:latin typeface="Calibri"/>
              </a:defRPr>
            </a:pPr>
            <a:r>
              <a:rPr lang="el-GR">
                <a:latin typeface="+mj-lt"/>
              </a:rPr>
              <a:t>Αποτελέσματα</a:t>
            </a:r>
            <a:endParaRPr>
              <a:latin typeface="+mj-lt"/>
            </a:endParaRPr>
          </a:p>
        </p:txBody>
      </p:sp>
      <p:sp>
        <p:nvSpPr>
          <p:cNvPr id="4" name="TextBox 3"/>
          <p:cNvSpPr txBox="1"/>
          <p:nvPr/>
        </p:nvSpPr>
        <p:spPr>
          <a:xfrm>
            <a:off x="914401" y="3214672"/>
            <a:ext cx="1336039" cy="400110"/>
          </a:xfrm>
          <a:prstGeom prst="rect">
            <a:avLst/>
          </a:prstGeom>
          <a:noFill/>
        </p:spPr>
        <p:txBody>
          <a:bodyPr wrap="square">
            <a:spAutoFit/>
          </a:bodyPr>
          <a:lstStyle/>
          <a:p>
            <a:pPr algn="l">
              <a:defRPr sz="2000" b="0">
                <a:solidFill>
                  <a:srgbClr val="D6E8F7"/>
                </a:solidFill>
                <a:latin typeface="Calibri"/>
              </a:defRPr>
            </a:pPr>
            <a:r>
              <a:rPr>
                <a:latin typeface="+mj-lt"/>
              </a:rPr>
              <a:t>ROC-AUC</a:t>
            </a:r>
          </a:p>
        </p:txBody>
      </p:sp>
      <p:sp>
        <p:nvSpPr>
          <p:cNvPr id="9" name="TextBox 8">
            <a:extLst>
              <a:ext uri="{FF2B5EF4-FFF2-40B4-BE49-F238E27FC236}">
                <a16:creationId xmlns:a16="http://schemas.microsoft.com/office/drawing/2014/main" id="{FF49A404-8872-6DEA-50AE-F769B35E63F8}"/>
              </a:ext>
            </a:extLst>
          </p:cNvPr>
          <p:cNvSpPr txBox="1"/>
          <p:nvPr/>
        </p:nvSpPr>
        <p:spPr>
          <a:xfrm>
            <a:off x="2525326" y="3214672"/>
            <a:ext cx="1119292" cy="400110"/>
          </a:xfrm>
          <a:prstGeom prst="rect">
            <a:avLst/>
          </a:prstGeom>
          <a:noFill/>
        </p:spPr>
        <p:txBody>
          <a:bodyPr wrap="square">
            <a:spAutoFit/>
          </a:bodyPr>
          <a:lstStyle/>
          <a:p>
            <a:pPr algn="l">
              <a:defRPr sz="2000" b="0">
                <a:solidFill>
                  <a:srgbClr val="D6E8F7"/>
                </a:solidFill>
                <a:latin typeface="Calibri"/>
              </a:defRPr>
            </a:pPr>
            <a:r>
              <a:rPr>
                <a:latin typeface="+mj-lt"/>
              </a:rPr>
              <a:t>Ablation</a:t>
            </a:r>
          </a:p>
        </p:txBody>
      </p:sp>
      <p:sp>
        <p:nvSpPr>
          <p:cNvPr id="10" name="TextBox 9">
            <a:extLst>
              <a:ext uri="{FF2B5EF4-FFF2-40B4-BE49-F238E27FC236}">
                <a16:creationId xmlns:a16="http://schemas.microsoft.com/office/drawing/2014/main" id="{5EA4EB01-21EE-4567-AAB4-6EFA838A95AE}"/>
              </a:ext>
            </a:extLst>
          </p:cNvPr>
          <p:cNvSpPr txBox="1"/>
          <p:nvPr/>
        </p:nvSpPr>
        <p:spPr>
          <a:xfrm>
            <a:off x="3919504" y="3214672"/>
            <a:ext cx="1942251" cy="400110"/>
          </a:xfrm>
          <a:prstGeom prst="rect">
            <a:avLst/>
          </a:prstGeom>
          <a:noFill/>
        </p:spPr>
        <p:txBody>
          <a:bodyPr wrap="square">
            <a:spAutoFit/>
          </a:bodyPr>
          <a:lstStyle/>
          <a:p>
            <a:pPr algn="l">
              <a:defRPr sz="2000" b="0">
                <a:solidFill>
                  <a:srgbClr val="D6E8F7"/>
                </a:solidFill>
                <a:latin typeface="Calibri"/>
              </a:defRPr>
            </a:pPr>
            <a:r>
              <a:rPr>
                <a:latin typeface="+mj-lt"/>
              </a:rPr>
              <a:t>Class Weighting</a:t>
            </a:r>
          </a:p>
        </p:txBody>
      </p:sp>
      <p:sp>
        <p:nvSpPr>
          <p:cNvPr id="11" name="TextBox 10">
            <a:extLst>
              <a:ext uri="{FF2B5EF4-FFF2-40B4-BE49-F238E27FC236}">
                <a16:creationId xmlns:a16="http://schemas.microsoft.com/office/drawing/2014/main" id="{7C3D70CB-271C-F69F-95D1-302FA841B4FA}"/>
              </a:ext>
            </a:extLst>
          </p:cNvPr>
          <p:cNvSpPr txBox="1"/>
          <p:nvPr/>
        </p:nvSpPr>
        <p:spPr>
          <a:xfrm>
            <a:off x="6136641" y="3214672"/>
            <a:ext cx="1158239" cy="400110"/>
          </a:xfrm>
          <a:prstGeom prst="rect">
            <a:avLst/>
          </a:prstGeom>
          <a:noFill/>
        </p:spPr>
        <p:txBody>
          <a:bodyPr wrap="square">
            <a:spAutoFit/>
          </a:bodyPr>
          <a:lstStyle/>
          <a:p>
            <a:pPr algn="l">
              <a:defRPr sz="2000" b="0">
                <a:solidFill>
                  <a:srgbClr val="D6E8F7"/>
                </a:solidFill>
                <a:latin typeface="Calibri"/>
              </a:defRPr>
            </a:pPr>
            <a:r>
              <a:rPr>
                <a:latin typeface="+mj-lt"/>
              </a:rPr>
              <a:t>Variance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childTnLst>
                                </p:cTn>
                              </p:par>
                            </p:childTnLst>
                          </p:cTn>
                        </p:par>
                        <p:par>
                          <p:cTn id="20" fill="hold">
                            <p:stCondLst>
                              <p:cond delay="3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childTnLst>
                                </p:cTn>
                              </p:par>
                            </p:childTnLst>
                          </p:cTn>
                        </p:par>
                        <p:par>
                          <p:cTn id="24" fill="hold">
                            <p:stCondLst>
                              <p:cond delay="4000"/>
                            </p:stCondLst>
                            <p:childTnLst>
                              <p:par>
                                <p:cTn id="25" presetID="10"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9" grpId="0"/>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293713862"/>
              </p:ext>
            </p:extLst>
          </p:nvPr>
        </p:nvGraphicFramePr>
        <p:xfrm>
          <a:off x="457200" y="1813960"/>
          <a:ext cx="11247118" cy="1677316"/>
        </p:xfrm>
        <a:graphic>
          <a:graphicData uri="http://schemas.openxmlformats.org/drawingml/2006/table">
            <a:tbl>
              <a:tblPr firstRow="1" bandRow="1">
                <a:tableStyleId>{5C22544A-7EE6-4342-B048-85BDC9FD1C3A}</a:tableStyleId>
              </a:tblPr>
              <a:tblGrid>
                <a:gridCol w="3178533">
                  <a:extLst>
                    <a:ext uri="{9D8B030D-6E8A-4147-A177-3AD203B41FA5}">
                      <a16:colId xmlns:a16="http://schemas.microsoft.com/office/drawing/2014/main" val="20000"/>
                    </a:ext>
                  </a:extLst>
                </a:gridCol>
                <a:gridCol w="2445026">
                  <a:extLst>
                    <a:ext uri="{9D8B030D-6E8A-4147-A177-3AD203B41FA5}">
                      <a16:colId xmlns:a16="http://schemas.microsoft.com/office/drawing/2014/main" val="20001"/>
                    </a:ext>
                  </a:extLst>
                </a:gridCol>
                <a:gridCol w="2445026">
                  <a:extLst>
                    <a:ext uri="{9D8B030D-6E8A-4147-A177-3AD203B41FA5}">
                      <a16:colId xmlns:a16="http://schemas.microsoft.com/office/drawing/2014/main" val="20002"/>
                    </a:ext>
                  </a:extLst>
                </a:gridCol>
                <a:gridCol w="3178533">
                  <a:extLst>
                    <a:ext uri="{9D8B030D-6E8A-4147-A177-3AD203B41FA5}">
                      <a16:colId xmlns:a16="http://schemas.microsoft.com/office/drawing/2014/main" val="20003"/>
                    </a:ext>
                  </a:extLst>
                </a:gridCol>
              </a:tblGrid>
              <a:tr h="497740">
                <a:tc>
                  <a:txBody>
                    <a:bodyPr/>
                    <a:lstStyle/>
                    <a:p>
                      <a:pPr algn="ctr">
                        <a:defRPr sz="1400" b="1">
                          <a:solidFill>
                            <a:srgbClr val="FFFFFF"/>
                          </a:solidFill>
                          <a:latin typeface="Calibri"/>
                        </a:defRPr>
                      </a:pPr>
                      <a:r>
                        <a:rPr sz="1800">
                          <a:latin typeface="Aptos" panose="020B0004020202020204" pitchFamily="34" charset="0"/>
                        </a:rPr>
                        <a:t>Dataset / Task</a:t>
                      </a:r>
                    </a:p>
                  </a:txBody>
                  <a:tcPr anchor="ctr">
                    <a:solidFill>
                      <a:srgbClr val="002B5C"/>
                    </a:solidFill>
                  </a:tcPr>
                </a:tc>
                <a:tc>
                  <a:txBody>
                    <a:bodyPr/>
                    <a:lstStyle/>
                    <a:p>
                      <a:pPr lvl="0" algn="ctr">
                        <a:buNone/>
                      </a:pPr>
                      <a:r>
                        <a:rPr lang="el-GR" sz="1800">
                          <a:latin typeface="Aptos"/>
                        </a:rPr>
                        <a:t>Καλύτερο Μοντέλο</a:t>
                      </a:r>
                      <a:endParaRPr sz="1800">
                        <a:latin typeface="Aptos" panose="020B0004020202020204" pitchFamily="34" charset="0"/>
                      </a:endParaRP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ROC-AUC</a:t>
                      </a:r>
                    </a:p>
                  </a:txBody>
                  <a:tcPr anchor="ctr">
                    <a:solidFill>
                      <a:srgbClr val="002B5C"/>
                    </a:solidFill>
                  </a:tcPr>
                </a:tc>
                <a:tc>
                  <a:txBody>
                    <a:bodyPr/>
                    <a:lstStyle/>
                    <a:p>
                      <a:pPr algn="ctr">
                        <a:defRPr sz="1400" b="1">
                          <a:solidFill>
                            <a:srgbClr val="FFFFFF"/>
                          </a:solidFill>
                          <a:latin typeface="Calibri"/>
                        </a:defRPr>
                      </a:pPr>
                      <a:r>
                        <a:rPr lang="el-GR" sz="1800">
                          <a:latin typeface="Aptos"/>
                        </a:rPr>
                        <a:t>Συνθήκη</a:t>
                      </a:r>
                      <a:endParaRPr sz="1800">
                        <a:latin typeface="Aptos" panose="020B0004020202020204" pitchFamily="34" charset="0"/>
                      </a:endParaRPr>
                    </a:p>
                  </a:txBody>
                  <a:tcPr anchor="ctr">
                    <a:solidFill>
                      <a:srgbClr val="002B5C"/>
                    </a:solidFill>
                  </a:tcPr>
                </a:tc>
                <a:extLst>
                  <a:ext uri="{0D108BD9-81ED-4DB2-BD59-A6C34878D82A}">
                    <a16:rowId xmlns:a16="http://schemas.microsoft.com/office/drawing/2014/main" val="10000"/>
                  </a:ext>
                </a:extLst>
              </a:tr>
              <a:tr h="393192">
                <a:tc>
                  <a:txBody>
                    <a:bodyPr/>
                    <a:lstStyle/>
                    <a:p>
                      <a:pPr algn="ctr"/>
                      <a:r>
                        <a:rPr>
                          <a:latin typeface="Aptos"/>
                        </a:rPr>
                        <a:t>Dataset A (</a:t>
                      </a:r>
                      <a:r>
                        <a:rPr lang="en-US" sz="1800" b="0" i="0" u="none" strike="noStrike" noProof="0"/>
                        <a:t>Αυθόρμητη Ομιλία</a:t>
                      </a:r>
                      <a:r>
                        <a:rPr>
                          <a:latin typeface="Aptos"/>
                        </a:rPr>
                        <a:t>)</a:t>
                      </a:r>
                    </a:p>
                  </a:txBody>
                  <a:tcPr anchor="ctr">
                    <a:solidFill>
                      <a:srgbClr val="F2F2F2"/>
                    </a:solidFill>
                  </a:tcPr>
                </a:tc>
                <a:tc>
                  <a:txBody>
                    <a:bodyPr/>
                    <a:lstStyle/>
                    <a:p>
                      <a:pPr algn="ctr">
                        <a:defRPr sz="1300">
                          <a:solidFill>
                            <a:srgbClr val="1A1A1A"/>
                          </a:solidFill>
                          <a:latin typeface="Calibri"/>
                        </a:defRPr>
                      </a:pPr>
                      <a:r>
                        <a:rPr>
                          <a:latin typeface="Aptos" panose="020B0004020202020204" pitchFamily="34" charset="0"/>
                        </a:rPr>
                        <a:t>Random Forest</a:t>
                      </a:r>
                    </a:p>
                  </a:txBody>
                  <a:tcPr anchor="ctr">
                    <a:solidFill>
                      <a:srgbClr val="F2F2F2"/>
                    </a:solidFill>
                  </a:tcPr>
                </a:tc>
                <a:tc>
                  <a:txBody>
                    <a:bodyPr/>
                    <a:lstStyle/>
                    <a:p>
                      <a:pPr algn="ctr">
                        <a:defRPr sz="1300" b="1">
                          <a:solidFill>
                            <a:srgbClr val="E86C00"/>
                          </a:solidFill>
                          <a:latin typeface="Calibri"/>
                        </a:defRPr>
                      </a:pPr>
                      <a:r>
                        <a:rPr>
                          <a:latin typeface="Aptos" panose="020B0004020202020204" pitchFamily="34" charset="0"/>
                        </a:rPr>
                        <a:t>0.857 ± 0.171</a:t>
                      </a:r>
                    </a:p>
                  </a:txBody>
                  <a:tcPr anchor="ctr">
                    <a:solidFill>
                      <a:srgbClr val="F2F2F2"/>
                    </a:solidFill>
                  </a:tcPr>
                </a:tc>
                <a:tc>
                  <a:txBody>
                    <a:bodyPr/>
                    <a:lstStyle/>
                    <a:p>
                      <a:pPr algn="ctr">
                        <a:defRPr sz="1300">
                          <a:solidFill>
                            <a:srgbClr val="1A1A1A"/>
                          </a:solidFill>
                          <a:latin typeface="Calibri"/>
                        </a:defRPr>
                      </a:pPr>
                      <a:r>
                        <a:rPr>
                          <a:latin typeface="Aptos" panose="020B0004020202020204" pitchFamily="34" charset="0"/>
                        </a:rPr>
                        <a:t>C3 (78, unweighted)</a:t>
                      </a:r>
                    </a:p>
                  </a:txBody>
                  <a:tcPr anchor="ctr">
                    <a:solidFill>
                      <a:srgbClr val="F2F2F2"/>
                    </a:solidFill>
                  </a:tcPr>
                </a:tc>
                <a:extLst>
                  <a:ext uri="{0D108BD9-81ED-4DB2-BD59-A6C34878D82A}">
                    <a16:rowId xmlns:a16="http://schemas.microsoft.com/office/drawing/2014/main" val="10001"/>
                  </a:ext>
                </a:extLst>
              </a:tr>
              <a:tr h="393192">
                <a:tc>
                  <a:txBody>
                    <a:bodyPr/>
                    <a:lstStyle/>
                    <a:p>
                      <a:pPr algn="ctr"/>
                      <a:r>
                        <a:rPr>
                          <a:latin typeface="Aptos"/>
                        </a:rPr>
                        <a:t>Dataset A (</a:t>
                      </a:r>
                      <a:r>
                        <a:rPr lang="en-US" sz="1800" b="0" i="0" u="none" strike="noStrike" noProof="0" err="1"/>
                        <a:t>Δομημένη</a:t>
                      </a:r>
                      <a:r>
                        <a:rPr lang="en-US" sz="1800" b="0" i="0" u="none" strike="noStrike" noProof="0"/>
                        <a:t> </a:t>
                      </a:r>
                      <a:r>
                        <a:rPr lang="en-US" sz="1800" b="0" i="0" u="none" strike="noStrike" noProof="0" err="1"/>
                        <a:t>Ομιλί</a:t>
                      </a:r>
                      <a:r>
                        <a:rPr lang="en-US" sz="1800" b="0" i="0" u="none" strike="noStrike" noProof="0"/>
                        <a:t>α</a:t>
                      </a:r>
                      <a:r>
                        <a:rPr>
                          <a:latin typeface="Aptos"/>
                        </a:rPr>
                        <a:t>)</a:t>
                      </a:r>
                    </a:p>
                  </a:txBody>
                  <a:tcPr anchor="ctr">
                    <a:solidFill>
                      <a:srgbClr val="FFFFFF"/>
                    </a:solidFill>
                  </a:tcPr>
                </a:tc>
                <a:tc>
                  <a:txBody>
                    <a:bodyPr/>
                    <a:lstStyle/>
                    <a:p>
                      <a:pPr algn="ctr">
                        <a:defRPr sz="1300">
                          <a:solidFill>
                            <a:srgbClr val="1A1A1A"/>
                          </a:solidFill>
                          <a:latin typeface="Calibri"/>
                        </a:defRPr>
                      </a:pPr>
                      <a:r>
                        <a:rPr>
                          <a:latin typeface="Aptos" panose="020B0004020202020204" pitchFamily="34" charset="0"/>
                        </a:rPr>
                        <a:t>SVM (RBF)</a:t>
                      </a:r>
                    </a:p>
                  </a:txBody>
                  <a:tcPr anchor="ctr">
                    <a:solidFill>
                      <a:srgbClr val="FFFFFF"/>
                    </a:solidFill>
                  </a:tcPr>
                </a:tc>
                <a:tc>
                  <a:txBody>
                    <a:bodyPr/>
                    <a:lstStyle/>
                    <a:p>
                      <a:pPr algn="ctr">
                        <a:defRPr sz="1300">
                          <a:solidFill>
                            <a:srgbClr val="1A1A1A"/>
                          </a:solidFill>
                          <a:latin typeface="Calibri"/>
                        </a:defRPr>
                      </a:pPr>
                      <a:r>
                        <a:rPr>
                          <a:latin typeface="Aptos" panose="020B0004020202020204" pitchFamily="34" charset="0"/>
                        </a:rPr>
                        <a:t>0.834 ± 0.153</a:t>
                      </a:r>
                    </a:p>
                  </a:txBody>
                  <a:tcPr anchor="ctr">
                    <a:solidFill>
                      <a:srgbClr val="FFFFFF"/>
                    </a:solidFill>
                  </a:tcPr>
                </a:tc>
                <a:tc>
                  <a:txBody>
                    <a:bodyPr/>
                    <a:lstStyle/>
                    <a:p>
                      <a:pPr algn="ctr">
                        <a:defRPr sz="1300">
                          <a:solidFill>
                            <a:srgbClr val="1A1A1A"/>
                          </a:solidFill>
                          <a:latin typeface="Calibri"/>
                        </a:defRPr>
                      </a:pPr>
                      <a:r>
                        <a:rPr>
                          <a:latin typeface="Aptos" panose="020B0004020202020204" pitchFamily="34" charset="0"/>
                        </a:rPr>
                        <a:t>C3 (78, unweighted)</a:t>
                      </a:r>
                    </a:p>
                  </a:txBody>
                  <a:tcPr anchor="ctr">
                    <a:solidFill>
                      <a:srgbClr val="FFFFFF"/>
                    </a:solidFill>
                  </a:tcPr>
                </a:tc>
                <a:extLst>
                  <a:ext uri="{0D108BD9-81ED-4DB2-BD59-A6C34878D82A}">
                    <a16:rowId xmlns:a16="http://schemas.microsoft.com/office/drawing/2014/main" val="10002"/>
                  </a:ext>
                </a:extLst>
              </a:tr>
              <a:tr h="393192">
                <a:tc>
                  <a:txBody>
                    <a:bodyPr/>
                    <a:lstStyle/>
                    <a:p>
                      <a:pPr algn="ctr">
                        <a:defRPr sz="1300">
                          <a:solidFill>
                            <a:srgbClr val="1A1A1A"/>
                          </a:solidFill>
                          <a:latin typeface="Calibri"/>
                        </a:defRPr>
                      </a:pPr>
                      <a:r>
                        <a:rPr sz="1800" kern="1200">
                          <a:solidFill>
                            <a:schemeClr val="dk1"/>
                          </a:solidFill>
                          <a:latin typeface="Aptos"/>
                          <a:ea typeface="+mn-ea"/>
                          <a:cs typeface="+mn-cs"/>
                        </a:rPr>
                        <a:t>Dataset B (PD Speech)</a:t>
                      </a:r>
                    </a:p>
                  </a:txBody>
                  <a:tcPr anchor="ctr">
                    <a:solidFill>
                      <a:srgbClr val="F2F2F2"/>
                    </a:solidFill>
                  </a:tcPr>
                </a:tc>
                <a:tc>
                  <a:txBody>
                    <a:bodyPr/>
                    <a:lstStyle/>
                    <a:p>
                      <a:pPr algn="ctr">
                        <a:defRPr sz="1300">
                          <a:solidFill>
                            <a:srgbClr val="1A1A1A"/>
                          </a:solidFill>
                          <a:latin typeface="Calibri"/>
                        </a:defRPr>
                      </a:pPr>
                      <a:r>
                        <a:rPr>
                          <a:latin typeface="Aptos" panose="020B0004020202020204" pitchFamily="34" charset="0"/>
                        </a:rPr>
                        <a:t>XGBoost</a:t>
                      </a:r>
                    </a:p>
                  </a:txBody>
                  <a:tcPr anchor="ctr">
                    <a:solidFill>
                      <a:srgbClr val="F2F2F2"/>
                    </a:solidFill>
                  </a:tcPr>
                </a:tc>
                <a:tc>
                  <a:txBody>
                    <a:bodyPr/>
                    <a:lstStyle/>
                    <a:p>
                      <a:pPr algn="ctr">
                        <a:defRPr sz="1300" b="1">
                          <a:solidFill>
                            <a:srgbClr val="E86C00"/>
                          </a:solidFill>
                          <a:latin typeface="Calibri"/>
                        </a:defRPr>
                      </a:pPr>
                      <a:r>
                        <a:rPr>
                          <a:latin typeface="Aptos" panose="020B0004020202020204" pitchFamily="34" charset="0"/>
                        </a:rPr>
                        <a:t>0.952 ± 0.015</a:t>
                      </a:r>
                    </a:p>
                  </a:txBody>
                  <a:tcPr anchor="ctr">
                    <a:solidFill>
                      <a:srgbClr val="F2F2F2"/>
                    </a:solidFill>
                  </a:tcPr>
                </a:tc>
                <a:tc>
                  <a:txBody>
                    <a:bodyPr/>
                    <a:lstStyle/>
                    <a:p>
                      <a:pPr algn="ctr">
                        <a:defRPr sz="1300">
                          <a:solidFill>
                            <a:srgbClr val="1A1A1A"/>
                          </a:solidFill>
                          <a:latin typeface="Calibri"/>
                        </a:defRPr>
                      </a:pPr>
                      <a:r>
                        <a:rPr>
                          <a:latin typeface="Aptos" panose="020B0004020202020204" pitchFamily="34" charset="0"/>
                        </a:rPr>
                        <a:t>C1 (47, unweighted)</a:t>
                      </a:r>
                    </a:p>
                  </a:txBody>
                  <a:tcPr anchor="ctr">
                    <a:solidFill>
                      <a:srgbClr val="F2F2F2"/>
                    </a:solidFill>
                  </a:tcPr>
                </a:tc>
                <a:extLst>
                  <a:ext uri="{0D108BD9-81ED-4DB2-BD59-A6C34878D82A}">
                    <a16:rowId xmlns:a16="http://schemas.microsoft.com/office/drawing/2014/main" val="10003"/>
                  </a:ext>
                </a:extLst>
              </a:tr>
            </a:tbl>
          </a:graphicData>
        </a:graphic>
      </p:graphicFrame>
      <p:sp>
        <p:nvSpPr>
          <p:cNvPr id="5" name="Rectangle 4"/>
          <p:cNvSpPr/>
          <p:nvPr/>
        </p:nvSpPr>
        <p:spPr>
          <a:xfrm>
            <a:off x="452696" y="3491276"/>
            <a:ext cx="11247120" cy="237744"/>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n-US" sz="800">
                <a:solidFill>
                  <a:schemeClr val="tx1"/>
                </a:solidFill>
                <a:ea typeface="+mn-lt"/>
                <a:cs typeface="+mn-lt"/>
              </a:rPr>
              <a:t>Πίνακας</a:t>
            </a:r>
            <a:r>
              <a:rPr lang="en-US" sz="800">
                <a:solidFill>
                  <a:schemeClr val="tx1"/>
                </a:solidFill>
                <a:latin typeface="Calibri"/>
                <a:ea typeface="Calibri"/>
                <a:cs typeface="Calibri"/>
              </a:rPr>
              <a:t> </a:t>
            </a:r>
            <a:r>
              <a:rPr sz="800">
                <a:solidFill>
                  <a:schemeClr val="tx1"/>
                </a:solidFill>
                <a:latin typeface="Aptos"/>
              </a:rPr>
              <a:t>6.1: </a:t>
            </a:r>
            <a:r>
              <a:rPr lang="en-US" sz="800">
                <a:solidFill>
                  <a:schemeClr val="tx1"/>
                </a:solidFill>
                <a:ea typeface="+mn-lt"/>
                <a:cs typeface="+mn-lt"/>
              </a:rPr>
              <a:t>Σύνοψη καλύτερων τιμών ROC-AUC</a:t>
            </a:r>
            <a:endParaRPr lang="en-US" sz="800">
              <a:solidFill>
                <a:schemeClr val="tx1"/>
              </a:solidFill>
              <a:latin typeface="Aptos"/>
            </a:endParaRP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2694" y="4269266"/>
            <a:ext cx="11247120" cy="636072"/>
          </a:xfrm>
          <a:prstGeom prst="rect">
            <a:avLst/>
          </a:prstGeom>
          <a:noFill/>
        </p:spPr>
        <p:txBody>
          <a:bodyPr wrap="square" lIns="91440" tIns="45720" rIns="91440" bIns="45720" anchor="t">
            <a:spAutoFit/>
          </a:bodyPr>
          <a:lstStyle/>
          <a:p>
            <a:pPr algn="ctr">
              <a:defRPr sz="1700" b="1">
                <a:solidFill>
                  <a:srgbClr val="0056A0"/>
                </a:solidFill>
                <a:latin typeface="Calibri"/>
              </a:defRPr>
            </a:pPr>
            <a:r>
              <a:rPr lang="en-US">
                <a:solidFill>
                  <a:srgbClr val="E86C00"/>
                </a:solidFill>
                <a:ea typeface="+mn-lt"/>
                <a:cs typeface="+mn-lt"/>
              </a:rPr>
              <a:t>Βασικό εύρημα: Το Random Forest είναι το πιο συνεπές μοντέλο σε όλες τις συνθήκες.</a:t>
            </a:r>
            <a:endParaRPr lang="en-US"/>
          </a:p>
          <a:p>
            <a:pPr algn="ctr">
              <a:spcBef>
                <a:spcPts val="400"/>
              </a:spcBef>
              <a:spcAft>
                <a:spcPts val="200"/>
              </a:spcAft>
              <a:defRPr sz="1500" b="0">
                <a:solidFill>
                  <a:srgbClr val="666666"/>
                </a:solidFill>
                <a:latin typeface="Calibri"/>
              </a:defRPr>
            </a:pPr>
            <a:r>
              <a:rPr lang="en-US">
                <a:ea typeface="+mn-lt"/>
                <a:cs typeface="+mn-lt"/>
              </a:rPr>
              <a:t>Το Dataset B εμφανίζει σημαντικά υψηλότερες επιδόσεις, αλλά με μεθοδολογικές επιφυλάξεις (χωρίς grouped CV).</a:t>
            </a:r>
            <a:endParaRPr>
              <a:ea typeface="Calibri"/>
              <a:cs typeface="Calibri"/>
            </a:endParaRPr>
          </a:p>
        </p:txBody>
      </p:sp>
      <p:sp>
        <p:nvSpPr>
          <p:cNvPr id="9" name="Title 8">
            <a:extLst>
              <a:ext uri="{FF2B5EF4-FFF2-40B4-BE49-F238E27FC236}">
                <a16:creationId xmlns:a16="http://schemas.microsoft.com/office/drawing/2014/main" id="{FF9F3EE4-8D13-6507-1916-9E1CB8BFC19B}"/>
              </a:ext>
            </a:extLst>
          </p:cNvPr>
          <p:cNvSpPr>
            <a:spLocks noGrp="1"/>
          </p:cNvSpPr>
          <p:nvPr>
            <p:ph type="title"/>
          </p:nvPr>
        </p:nvSpPr>
        <p:spPr>
          <a:xfrm>
            <a:off x="0" y="0"/>
            <a:ext cx="12192000" cy="900000"/>
          </a:xfrm>
        </p:spPr>
        <p:txBody>
          <a:bodyPr>
            <a:normAutofit/>
          </a:bodyPr>
          <a:lstStyle/>
          <a:p>
            <a:r>
              <a:rPr lang="en-GB">
                <a:latin typeface="Aptos"/>
              </a:rPr>
              <a:t>Κύρια Αποτελέσματα – Καλύτερο ROC-AUC</a:t>
            </a:r>
            <a:endParaRPr lang="en-GB"/>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8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pic>
        <p:nvPicPr>
          <p:cNvPr id="4" name="Picture 3" descr="fig_roc_readtext.png"/>
          <p:cNvPicPr>
            <a:picLocks noChangeAspect="1"/>
          </p:cNvPicPr>
          <p:nvPr/>
        </p:nvPicPr>
        <p:blipFill>
          <a:blip r:embed="rId3"/>
          <a:stretch>
            <a:fillRect/>
          </a:stretch>
        </p:blipFill>
        <p:spPr>
          <a:xfrm>
            <a:off x="365760" y="1280160"/>
            <a:ext cx="5161764" cy="4389120"/>
          </a:xfrm>
          <a:prstGeom prst="rect">
            <a:avLst/>
          </a:prstGeom>
        </p:spPr>
      </p:pic>
      <p:sp>
        <p:nvSpPr>
          <p:cNvPr id="5" name="Rectangle 4"/>
          <p:cNvSpPr/>
          <p:nvPr/>
        </p:nvSpPr>
        <p:spPr>
          <a:xfrm>
            <a:off x="365760" y="5641848"/>
            <a:ext cx="5161764" cy="292608"/>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sz="800">
                <a:solidFill>
                  <a:srgbClr val="666666"/>
                </a:solidFill>
                <a:latin typeface="Aptos"/>
              </a:rPr>
              <a:t>(a) </a:t>
            </a:r>
            <a:r>
              <a:rPr sz="800" err="1">
                <a:solidFill>
                  <a:srgbClr val="666666"/>
                </a:solidFill>
                <a:latin typeface="Aptos"/>
              </a:rPr>
              <a:t>ReadText</a:t>
            </a:r>
            <a:r>
              <a:rPr sz="800">
                <a:solidFill>
                  <a:srgbClr val="666666"/>
                </a:solidFill>
                <a:latin typeface="Aptos"/>
              </a:rPr>
              <a:t> — SVM (0.834)</a:t>
            </a:r>
          </a:p>
        </p:txBody>
      </p:sp>
      <p:pic>
        <p:nvPicPr>
          <p:cNvPr id="6" name="Picture 5" descr="fig_roc_spontaneous.png"/>
          <p:cNvPicPr>
            <a:picLocks noChangeAspect="1"/>
          </p:cNvPicPr>
          <p:nvPr/>
        </p:nvPicPr>
        <p:blipFill>
          <a:blip r:embed="rId4"/>
          <a:stretch>
            <a:fillRect/>
          </a:stretch>
        </p:blipFill>
        <p:spPr>
          <a:xfrm>
            <a:off x="6309360" y="1280160"/>
            <a:ext cx="5161764" cy="4389120"/>
          </a:xfrm>
          <a:prstGeom prst="rect">
            <a:avLst/>
          </a:prstGeom>
        </p:spPr>
      </p:pic>
      <p:sp>
        <p:nvSpPr>
          <p:cNvPr id="7" name="Rectangle 6"/>
          <p:cNvSpPr/>
          <p:nvPr/>
        </p:nvSpPr>
        <p:spPr>
          <a:xfrm>
            <a:off x="6309360" y="5641848"/>
            <a:ext cx="5161764" cy="292608"/>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sz="800">
                <a:solidFill>
                  <a:srgbClr val="666666"/>
                </a:solidFill>
                <a:latin typeface="Aptos"/>
              </a:rPr>
              <a:t>(b) </a:t>
            </a:r>
            <a:r>
              <a:rPr sz="800" err="1">
                <a:solidFill>
                  <a:srgbClr val="666666"/>
                </a:solidFill>
                <a:latin typeface="Aptos"/>
              </a:rPr>
              <a:t>SpontaneousDialogue</a:t>
            </a:r>
            <a:r>
              <a:rPr sz="800">
                <a:solidFill>
                  <a:srgbClr val="666666"/>
                </a:solidFill>
                <a:latin typeface="Aptos"/>
              </a:rPr>
              <a:t> — </a:t>
            </a:r>
            <a:r>
              <a:rPr lang="en-US" sz="800">
                <a:solidFill>
                  <a:srgbClr val="666666"/>
                </a:solidFill>
                <a:latin typeface="Aptos"/>
              </a:rPr>
              <a:t>Random Forest</a:t>
            </a:r>
            <a:r>
              <a:rPr sz="800">
                <a:solidFill>
                  <a:srgbClr val="666666"/>
                </a:solidFill>
                <a:latin typeface="Aptos"/>
              </a:rPr>
              <a:t> (0.857) </a:t>
            </a:r>
          </a:p>
        </p:txBody>
      </p:sp>
      <p:sp>
        <p:nvSpPr>
          <p:cNvPr id="8" name="Rectangle 7"/>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itle 9">
            <a:extLst>
              <a:ext uri="{FF2B5EF4-FFF2-40B4-BE49-F238E27FC236}">
                <a16:creationId xmlns:a16="http://schemas.microsoft.com/office/drawing/2014/main" id="{BF39001D-C560-3292-D215-FAB2734CDE0C}"/>
              </a:ext>
            </a:extLst>
          </p:cNvPr>
          <p:cNvSpPr>
            <a:spLocks noGrp="1"/>
          </p:cNvSpPr>
          <p:nvPr>
            <p:ph type="title"/>
          </p:nvPr>
        </p:nvSpPr>
        <p:spPr>
          <a:xfrm>
            <a:off x="0" y="0"/>
            <a:ext cx="12192000" cy="900000"/>
          </a:xfrm>
        </p:spPr>
        <p:txBody>
          <a:bodyPr>
            <a:normAutofit/>
          </a:bodyPr>
          <a:lstStyle/>
          <a:p>
            <a:r>
              <a:rPr lang="en-GB">
                <a:latin typeface="Aptos"/>
              </a:rPr>
              <a:t>ROC Curves - Dataset A (Extended Features, Grouped 5-Fold CV)</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pic>
        <p:nvPicPr>
          <p:cNvPr id="6" name="Picture 5" descr="fig_confusion_readtext.png"/>
          <p:cNvPicPr>
            <a:picLocks noChangeAspect="1"/>
          </p:cNvPicPr>
          <p:nvPr/>
        </p:nvPicPr>
        <p:blipFill>
          <a:blip r:embed="rId3"/>
          <a:stretch>
            <a:fillRect/>
          </a:stretch>
        </p:blipFill>
        <p:spPr>
          <a:xfrm>
            <a:off x="490346" y="1231544"/>
            <a:ext cx="11245289" cy="2198735"/>
          </a:xfrm>
          <a:prstGeom prst="rect">
            <a:avLst/>
          </a:prstGeom>
        </p:spPr>
      </p:pic>
      <p:sp>
        <p:nvSpPr>
          <p:cNvPr id="7" name="Rectangle 6"/>
          <p:cNvSpPr/>
          <p:nvPr/>
        </p:nvSpPr>
        <p:spPr>
          <a:xfrm>
            <a:off x="490345" y="3427926"/>
            <a:ext cx="11245289" cy="292608"/>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sz="800">
                <a:solidFill>
                  <a:schemeClr val="tx1"/>
                </a:solidFill>
                <a:latin typeface="Aptos"/>
              </a:rPr>
              <a:t>(b) CM: </a:t>
            </a:r>
            <a:r>
              <a:rPr sz="800" err="1">
                <a:solidFill>
                  <a:schemeClr val="tx1"/>
                </a:solidFill>
                <a:latin typeface="Aptos"/>
              </a:rPr>
              <a:t>ReadText</a:t>
            </a:r>
            <a:r>
              <a:rPr sz="800">
                <a:solidFill>
                  <a:schemeClr val="tx1"/>
                </a:solidFill>
                <a:latin typeface="Aptos"/>
              </a:rPr>
              <a:t> (RF)</a:t>
            </a:r>
            <a:endParaRPr lang="en-US" sz="800">
              <a:solidFill>
                <a:schemeClr val="tx1"/>
              </a:solidFill>
              <a:latin typeface="Aptos"/>
            </a:endParaRPr>
          </a:p>
        </p:txBody>
      </p:sp>
      <p:pic>
        <p:nvPicPr>
          <p:cNvPr id="8" name="Picture 7" descr="fig_confusion_spontaneous.png"/>
          <p:cNvPicPr>
            <a:picLocks noChangeAspect="1"/>
          </p:cNvPicPr>
          <p:nvPr/>
        </p:nvPicPr>
        <p:blipFill>
          <a:blip r:embed="rId4"/>
          <a:stretch>
            <a:fillRect/>
          </a:stretch>
        </p:blipFill>
        <p:spPr>
          <a:xfrm>
            <a:off x="490346" y="3920277"/>
            <a:ext cx="11245288" cy="1969091"/>
          </a:xfrm>
          <a:prstGeom prst="rect">
            <a:avLst/>
          </a:prstGeom>
        </p:spPr>
      </p:pic>
      <p:sp>
        <p:nvSpPr>
          <p:cNvPr id="9" name="Rectangle 8"/>
          <p:cNvSpPr/>
          <p:nvPr/>
        </p:nvSpPr>
        <p:spPr>
          <a:xfrm>
            <a:off x="459030" y="5878930"/>
            <a:ext cx="11276604" cy="292608"/>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sz="800">
                <a:solidFill>
                  <a:schemeClr val="tx1"/>
                </a:solidFill>
                <a:latin typeface="Aptos"/>
              </a:rPr>
              <a:t>(c) CM: Spontaneous (RF)</a:t>
            </a:r>
            <a:endParaRPr lang="en-US" sz="800">
              <a:solidFill>
                <a:schemeClr val="tx1"/>
              </a:solidFill>
              <a:latin typeface="Aptos"/>
            </a:endParaRPr>
          </a:p>
        </p:txBody>
      </p:sp>
      <p:sp>
        <p:nvSpPr>
          <p:cNvPr id="10" name="Rectangle 9"/>
          <p:cNvSpPr/>
          <p:nvPr/>
        </p:nvSpPr>
        <p:spPr>
          <a:xfrm>
            <a:off x="457200" y="6446520"/>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itle 11">
            <a:extLst>
              <a:ext uri="{FF2B5EF4-FFF2-40B4-BE49-F238E27FC236}">
                <a16:creationId xmlns:a16="http://schemas.microsoft.com/office/drawing/2014/main" id="{83A64354-0C3C-13E3-86D5-C6A8A1FAB792}"/>
              </a:ext>
            </a:extLst>
          </p:cNvPr>
          <p:cNvSpPr>
            <a:spLocks noGrp="1"/>
          </p:cNvSpPr>
          <p:nvPr>
            <p:ph type="title"/>
          </p:nvPr>
        </p:nvSpPr>
        <p:spPr>
          <a:xfrm>
            <a:off x="0" y="0"/>
            <a:ext cx="12192000" cy="900000"/>
          </a:xfrm>
        </p:spPr>
        <p:txBody>
          <a:bodyPr>
            <a:normAutofit/>
          </a:bodyPr>
          <a:lstStyle/>
          <a:p>
            <a:r>
              <a:rPr lang="en-GB">
                <a:latin typeface="Aptos"/>
              </a:rPr>
              <a:t>Confusion Matrices (Extended Feature Set)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itle 8">
            <a:extLst>
              <a:ext uri="{FF2B5EF4-FFF2-40B4-BE49-F238E27FC236}">
                <a16:creationId xmlns:a16="http://schemas.microsoft.com/office/drawing/2014/main" id="{3E565911-B32F-6762-AD22-635F3998338B}"/>
              </a:ext>
            </a:extLst>
          </p:cNvPr>
          <p:cNvSpPr>
            <a:spLocks noGrp="1"/>
          </p:cNvSpPr>
          <p:nvPr>
            <p:ph type="title"/>
          </p:nvPr>
        </p:nvSpPr>
        <p:spPr>
          <a:xfrm>
            <a:off x="0" y="0"/>
            <a:ext cx="12192000" cy="900000"/>
          </a:xfrm>
        </p:spPr>
        <p:txBody>
          <a:bodyPr>
            <a:normAutofit/>
          </a:bodyPr>
          <a:lstStyle/>
          <a:p>
            <a:r>
              <a:rPr lang="en-GB">
                <a:latin typeface="Aptos"/>
              </a:rPr>
              <a:t>RQ1 — </a:t>
            </a:r>
            <a:r>
              <a:rPr lang="en-GB" err="1">
                <a:latin typeface="Aptos"/>
              </a:rPr>
              <a:t>Πόσο</a:t>
            </a:r>
            <a:r>
              <a:rPr lang="en-GB">
                <a:latin typeface="Aptos"/>
              </a:rPr>
              <a:t> κα</a:t>
            </a:r>
            <a:r>
              <a:rPr lang="en-GB" err="1">
                <a:latin typeface="Aptos"/>
              </a:rPr>
              <a:t>λά</a:t>
            </a:r>
            <a:r>
              <a:rPr lang="en-GB">
                <a:latin typeface="Aptos"/>
              </a:rPr>
              <a:t> απ</a:t>
            </a:r>
            <a:r>
              <a:rPr lang="en-GB" err="1">
                <a:latin typeface="Aptos"/>
              </a:rPr>
              <a:t>οδίδουν</a:t>
            </a:r>
            <a:r>
              <a:rPr lang="en-GB">
                <a:latin typeface="Aptos"/>
              </a:rPr>
              <a:t> τα </a:t>
            </a:r>
            <a:r>
              <a:rPr lang="en-GB" err="1">
                <a:latin typeface="Aptos"/>
              </a:rPr>
              <a:t>κλ</a:t>
            </a:r>
            <a:r>
              <a:rPr lang="en-GB">
                <a:latin typeface="Aptos"/>
              </a:rPr>
              <a:t>α</a:t>
            </a:r>
            <a:r>
              <a:rPr lang="en-GB" err="1">
                <a:latin typeface="Aptos"/>
              </a:rPr>
              <a:t>σικά</a:t>
            </a:r>
            <a:r>
              <a:rPr lang="en-GB">
                <a:latin typeface="Aptos"/>
              </a:rPr>
              <a:t> ML </a:t>
            </a:r>
            <a:r>
              <a:rPr lang="en-GB" err="1">
                <a:latin typeface="Aptos"/>
              </a:rPr>
              <a:t>μοντέλ</a:t>
            </a:r>
            <a:r>
              <a:rPr lang="en-GB">
                <a:latin typeface="Aptos"/>
              </a:rPr>
              <a:t>α; </a:t>
            </a:r>
            <a:endParaRPr lang="en-US"/>
          </a:p>
        </p:txBody>
      </p:sp>
      <p:sp>
        <p:nvSpPr>
          <p:cNvPr id="2" name="TextBox 1">
            <a:extLst>
              <a:ext uri="{FF2B5EF4-FFF2-40B4-BE49-F238E27FC236}">
                <a16:creationId xmlns:a16="http://schemas.microsoft.com/office/drawing/2014/main" id="{A9B49DCE-834D-BFE2-675D-805136FB6DD4}"/>
              </a:ext>
            </a:extLst>
          </p:cNvPr>
          <p:cNvSpPr txBox="1"/>
          <p:nvPr/>
        </p:nvSpPr>
        <p:spPr>
          <a:xfrm>
            <a:off x="459036" y="1574494"/>
            <a:ext cx="6096000" cy="24468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350" baseline="0" err="1">
                <a:solidFill>
                  <a:srgbClr val="1A1A1A"/>
                </a:solidFill>
                <a:latin typeface="Calibri"/>
                <a:ea typeface="Segoe UI"/>
                <a:cs typeface="Segoe UI"/>
              </a:rPr>
              <a:t>Κλ</a:t>
            </a:r>
            <a:r>
              <a:rPr lang="en-US" sz="1350" baseline="0">
                <a:solidFill>
                  <a:srgbClr val="1A1A1A"/>
                </a:solidFill>
                <a:latin typeface="Calibri"/>
                <a:ea typeface="Segoe UI"/>
                <a:cs typeface="Segoe UI"/>
              </a:rPr>
              <a:t>α</a:t>
            </a:r>
            <a:r>
              <a:rPr lang="en-US" sz="1350" baseline="0" err="1">
                <a:solidFill>
                  <a:srgbClr val="1A1A1A"/>
                </a:solidFill>
                <a:latin typeface="Calibri"/>
                <a:ea typeface="Segoe UI"/>
                <a:cs typeface="Segoe UI"/>
              </a:rPr>
              <a:t>σική</a:t>
            </a:r>
            <a:r>
              <a:rPr lang="en-US" sz="1350" baseline="0">
                <a:solidFill>
                  <a:srgbClr val="1A1A1A"/>
                </a:solidFill>
                <a:latin typeface="Calibri"/>
                <a:ea typeface="Segoe UI"/>
                <a:cs typeface="Segoe UI"/>
              </a:rPr>
              <a:t> ML → </a:t>
            </a:r>
            <a:r>
              <a:rPr lang="en-US" sz="1350" baseline="0" err="1">
                <a:solidFill>
                  <a:srgbClr val="1A1A1A"/>
                </a:solidFill>
                <a:latin typeface="Calibri"/>
                <a:ea typeface="Segoe UI"/>
                <a:cs typeface="Segoe UI"/>
              </a:rPr>
              <a:t>δι</a:t>
            </a:r>
            <a:r>
              <a:rPr lang="en-US" sz="1350" baseline="0">
                <a:solidFill>
                  <a:srgbClr val="1A1A1A"/>
                </a:solidFill>
                <a:latin typeface="Calibri"/>
                <a:ea typeface="Segoe UI"/>
                <a:cs typeface="Segoe UI"/>
              </a:rPr>
              <a:t>α</a:t>
            </a:r>
            <a:r>
              <a:rPr lang="en-US" sz="1350" baseline="0" err="1">
                <a:solidFill>
                  <a:srgbClr val="1A1A1A"/>
                </a:solidFill>
                <a:latin typeface="Calibri"/>
                <a:ea typeface="Segoe UI"/>
                <a:cs typeface="Segoe UI"/>
              </a:rPr>
              <a:t>χωρισμός</a:t>
            </a:r>
            <a:r>
              <a:rPr lang="en-US" sz="1350" baseline="0">
                <a:solidFill>
                  <a:srgbClr val="1A1A1A"/>
                </a:solidFill>
                <a:latin typeface="Calibri"/>
                <a:ea typeface="Segoe UI"/>
                <a:cs typeface="Segoe UI"/>
              </a:rPr>
              <a:t> PD/HC π</a:t>
            </a:r>
            <a:r>
              <a:rPr lang="en-US" sz="1350" baseline="0" err="1">
                <a:solidFill>
                  <a:srgbClr val="1A1A1A"/>
                </a:solidFill>
                <a:latin typeface="Calibri"/>
                <a:ea typeface="Segoe UI"/>
                <a:cs typeface="Segoe UI"/>
              </a:rPr>
              <a:t>άνω</a:t>
            </a:r>
            <a:r>
              <a:rPr lang="en-US" sz="1350" baseline="0">
                <a:solidFill>
                  <a:srgbClr val="1A1A1A"/>
                </a:solidFill>
                <a:latin typeface="Calibri"/>
                <a:ea typeface="Segoe UI"/>
                <a:cs typeface="Segoe UI"/>
              </a:rPr>
              <a:t> από </a:t>
            </a:r>
            <a:r>
              <a:rPr lang="en-US" sz="1350" baseline="0" err="1">
                <a:solidFill>
                  <a:srgbClr val="1A1A1A"/>
                </a:solidFill>
                <a:latin typeface="Calibri"/>
                <a:ea typeface="Segoe UI"/>
                <a:cs typeface="Segoe UI"/>
              </a:rPr>
              <a:t>τυχ</a:t>
            </a:r>
            <a:r>
              <a:rPr lang="en-US" sz="1350" baseline="0">
                <a:solidFill>
                  <a:srgbClr val="1A1A1A"/>
                </a:solidFill>
                <a:latin typeface="Calibri"/>
                <a:ea typeface="Segoe UI"/>
                <a:cs typeface="Segoe UI"/>
              </a:rPr>
              <a:t>α</a:t>
            </a:r>
            <a:r>
              <a:rPr lang="en-US" sz="1350" baseline="0" err="1">
                <a:solidFill>
                  <a:srgbClr val="1A1A1A"/>
                </a:solidFill>
                <a:latin typeface="Calibri"/>
                <a:ea typeface="Segoe UI"/>
                <a:cs typeface="Segoe UI"/>
              </a:rPr>
              <a:t>ίο</a:t>
            </a:r>
            <a:r>
              <a:rPr lang="en-US" sz="1350" baseline="0">
                <a:solidFill>
                  <a:srgbClr val="1A1A1A"/>
                </a:solidFill>
                <a:latin typeface="Calibri"/>
                <a:ea typeface="Segoe UI"/>
                <a:cs typeface="Segoe UI"/>
              </a:rPr>
              <a:t> επίπ</a:t>
            </a:r>
            <a:r>
              <a:rPr lang="en-US" sz="1350" baseline="0" err="1">
                <a:solidFill>
                  <a:srgbClr val="1A1A1A"/>
                </a:solidFill>
                <a:latin typeface="Calibri"/>
                <a:ea typeface="Segoe UI"/>
                <a:cs typeface="Segoe UI"/>
              </a:rPr>
              <a:t>εδο</a:t>
            </a:r>
            <a:r>
              <a:rPr lang="en-US" sz="1350">
                <a:latin typeface="Calibri"/>
                <a:ea typeface="Segoe UI"/>
                <a:cs typeface="Segoe UI"/>
              </a:rPr>
              <a:t>​</a:t>
            </a:r>
          </a:p>
          <a:p>
            <a:pPr rtl="0"/>
            <a:r>
              <a:rPr lang="en-US" sz="1350" b="1" baseline="0">
                <a:solidFill>
                  <a:srgbClr val="002B5C"/>
                </a:solidFill>
                <a:latin typeface="Calibri"/>
                <a:ea typeface="Segoe UI"/>
                <a:cs typeface="Segoe UI"/>
              </a:rPr>
              <a:t>Dataset A (subject-level CV):</a:t>
            </a:r>
            <a:r>
              <a:rPr lang="en-US" sz="1350">
                <a:latin typeface="Calibri"/>
                <a:ea typeface="Segoe UI"/>
                <a:cs typeface="Segoe UI"/>
              </a:rPr>
              <a:t>​</a:t>
            </a:r>
          </a:p>
          <a:p>
            <a:pPr rtl="0"/>
            <a:r>
              <a:rPr lang="en-US" sz="1350" baseline="0">
                <a:solidFill>
                  <a:srgbClr val="1A1A1A"/>
                </a:solidFill>
                <a:latin typeface="Calibri"/>
                <a:ea typeface="Segoe UI"/>
                <a:cs typeface="Segoe UI"/>
              </a:rPr>
              <a:t>Best ROC-AUC: 0.857 ± 0.171 (RF, Spontaneous, </a:t>
            </a:r>
            <a:r>
              <a:rPr lang="en-US" sz="1350" baseline="0" err="1">
                <a:solidFill>
                  <a:srgbClr val="1A1A1A"/>
                </a:solidFill>
                <a:latin typeface="Calibri"/>
                <a:ea typeface="Segoe UI"/>
                <a:cs typeface="Segoe UI"/>
              </a:rPr>
              <a:t>ext</a:t>
            </a:r>
            <a:r>
              <a:rPr lang="en-US" sz="1350" baseline="0">
                <a:solidFill>
                  <a:srgbClr val="1A1A1A"/>
                </a:solidFill>
                <a:latin typeface="Calibri"/>
                <a:ea typeface="Segoe UI"/>
                <a:cs typeface="Segoe UI"/>
              </a:rPr>
              <a:t>)</a:t>
            </a:r>
            <a:r>
              <a:rPr lang="en-US" sz="1350">
                <a:latin typeface="Calibri"/>
                <a:ea typeface="Segoe UI"/>
                <a:cs typeface="Segoe UI"/>
              </a:rPr>
              <a:t>​</a:t>
            </a:r>
          </a:p>
          <a:p>
            <a:pPr rtl="0"/>
            <a:r>
              <a:rPr lang="en-US" sz="1350" baseline="0">
                <a:solidFill>
                  <a:srgbClr val="1A1A1A"/>
                </a:solidFill>
                <a:latin typeface="Calibri"/>
                <a:ea typeface="Segoe UI"/>
                <a:cs typeface="Segoe UI"/>
              </a:rPr>
              <a:t>Best ROC-AUC: 0.834 ± 0.153 (SVM, </a:t>
            </a:r>
            <a:r>
              <a:rPr lang="en-US" sz="1350" baseline="0" err="1">
                <a:solidFill>
                  <a:srgbClr val="1A1A1A"/>
                </a:solidFill>
                <a:latin typeface="Calibri"/>
                <a:ea typeface="Segoe UI"/>
                <a:cs typeface="Segoe UI"/>
              </a:rPr>
              <a:t>ReadText</a:t>
            </a:r>
            <a:r>
              <a:rPr lang="en-US" sz="1350" baseline="0">
                <a:solidFill>
                  <a:srgbClr val="1A1A1A"/>
                </a:solidFill>
                <a:latin typeface="Calibri"/>
                <a:ea typeface="Segoe UI"/>
                <a:cs typeface="Segoe UI"/>
              </a:rPr>
              <a:t>, </a:t>
            </a:r>
            <a:r>
              <a:rPr lang="en-US" sz="1350" baseline="0" err="1">
                <a:solidFill>
                  <a:srgbClr val="1A1A1A"/>
                </a:solidFill>
                <a:latin typeface="Calibri"/>
                <a:ea typeface="Segoe UI"/>
                <a:cs typeface="Segoe UI"/>
              </a:rPr>
              <a:t>ext</a:t>
            </a:r>
            <a:r>
              <a:rPr lang="en-US" sz="1350" baseline="0">
                <a:solidFill>
                  <a:srgbClr val="1A1A1A"/>
                </a:solidFill>
                <a:latin typeface="Calibri"/>
                <a:ea typeface="Segoe UI"/>
                <a:cs typeface="Segoe UI"/>
              </a:rPr>
              <a:t>)</a:t>
            </a:r>
            <a:r>
              <a:rPr lang="en-US" sz="1350">
                <a:latin typeface="Calibri"/>
                <a:ea typeface="Segoe UI"/>
                <a:cs typeface="Segoe UI"/>
              </a:rPr>
              <a:t>​</a:t>
            </a:r>
          </a:p>
          <a:p>
            <a:pPr rtl="0"/>
            <a:r>
              <a:rPr lang="en-US" sz="1350" baseline="0" err="1">
                <a:solidFill>
                  <a:srgbClr val="1A1A1A"/>
                </a:solidFill>
                <a:latin typeface="Calibri"/>
                <a:ea typeface="Segoe UI"/>
                <a:cs typeface="Segoe UI"/>
              </a:rPr>
              <a:t>Υψηλή</a:t>
            </a:r>
            <a:r>
              <a:rPr lang="en-US" sz="1350" baseline="0">
                <a:solidFill>
                  <a:srgbClr val="1A1A1A"/>
                </a:solidFill>
                <a:latin typeface="Calibri"/>
                <a:ea typeface="Segoe UI"/>
                <a:cs typeface="Segoe UI"/>
              </a:rPr>
              <a:t> </a:t>
            </a:r>
            <a:r>
              <a:rPr lang="en-US" sz="1350" baseline="0" err="1">
                <a:solidFill>
                  <a:srgbClr val="1A1A1A"/>
                </a:solidFill>
                <a:latin typeface="Calibri"/>
                <a:ea typeface="Segoe UI"/>
                <a:cs typeface="Segoe UI"/>
              </a:rPr>
              <a:t>δι</a:t>
            </a:r>
            <a:r>
              <a:rPr lang="en-US" sz="1350" baseline="0">
                <a:solidFill>
                  <a:srgbClr val="1A1A1A"/>
                </a:solidFill>
                <a:latin typeface="Calibri"/>
                <a:ea typeface="Segoe UI"/>
                <a:cs typeface="Segoe UI"/>
              </a:rPr>
              <a:t>α</a:t>
            </a:r>
            <a:r>
              <a:rPr lang="en-US" sz="1350" baseline="0" err="1">
                <a:solidFill>
                  <a:srgbClr val="1A1A1A"/>
                </a:solidFill>
                <a:latin typeface="Calibri"/>
                <a:ea typeface="Segoe UI"/>
                <a:cs typeface="Segoe UI"/>
              </a:rPr>
              <a:t>κύμ</a:t>
            </a:r>
            <a:r>
              <a:rPr lang="en-US" sz="1350" baseline="0">
                <a:solidFill>
                  <a:srgbClr val="1A1A1A"/>
                </a:solidFill>
                <a:latin typeface="Calibri"/>
                <a:ea typeface="Segoe UI"/>
                <a:cs typeface="Segoe UI"/>
              </a:rPr>
              <a:t>α</a:t>
            </a:r>
            <a:r>
              <a:rPr lang="en-US" sz="1350" baseline="0" err="1">
                <a:solidFill>
                  <a:srgbClr val="1A1A1A"/>
                </a:solidFill>
                <a:latin typeface="Calibri"/>
                <a:ea typeface="Segoe UI"/>
                <a:cs typeface="Segoe UI"/>
              </a:rPr>
              <a:t>νση</a:t>
            </a:r>
            <a:r>
              <a:rPr lang="en-US" sz="1350" baseline="0">
                <a:solidFill>
                  <a:srgbClr val="1A1A1A"/>
                </a:solidFill>
                <a:latin typeface="Calibri"/>
                <a:ea typeface="Segoe UI"/>
                <a:cs typeface="Segoe UI"/>
              </a:rPr>
              <a:t> α</a:t>
            </a:r>
            <a:r>
              <a:rPr lang="en-US" sz="1350" baseline="0" err="1">
                <a:solidFill>
                  <a:srgbClr val="1A1A1A"/>
                </a:solidFill>
                <a:latin typeface="Calibri"/>
                <a:ea typeface="Segoe UI"/>
                <a:cs typeface="Segoe UI"/>
              </a:rPr>
              <a:t>νά</a:t>
            </a:r>
            <a:r>
              <a:rPr lang="en-US" sz="1350" baseline="0">
                <a:solidFill>
                  <a:srgbClr val="1A1A1A"/>
                </a:solidFill>
                <a:latin typeface="Calibri"/>
                <a:ea typeface="Segoe UI"/>
                <a:cs typeface="Segoe UI"/>
              </a:rPr>
              <a:t> fold — αβεβα</a:t>
            </a:r>
            <a:r>
              <a:rPr lang="en-US" sz="1350" baseline="0" err="1">
                <a:solidFill>
                  <a:srgbClr val="1A1A1A"/>
                </a:solidFill>
                <a:latin typeface="Calibri"/>
                <a:ea typeface="Segoe UI"/>
                <a:cs typeface="Segoe UI"/>
              </a:rPr>
              <a:t>ιότητ</a:t>
            </a:r>
            <a:r>
              <a:rPr lang="en-US" sz="1350" baseline="0">
                <a:solidFill>
                  <a:srgbClr val="1A1A1A"/>
                </a:solidFill>
                <a:latin typeface="Calibri"/>
                <a:ea typeface="Segoe UI"/>
                <a:cs typeface="Segoe UI"/>
              </a:rPr>
              <a:t>α </a:t>
            </a:r>
            <a:r>
              <a:rPr lang="en-US" sz="1350" baseline="0" err="1">
                <a:solidFill>
                  <a:srgbClr val="1A1A1A"/>
                </a:solidFill>
                <a:latin typeface="Calibri"/>
                <a:ea typeface="Segoe UI"/>
                <a:cs typeface="Segoe UI"/>
              </a:rPr>
              <a:t>εκτίμησης</a:t>
            </a:r>
            <a:r>
              <a:rPr lang="en-US" sz="1350">
                <a:latin typeface="Calibri"/>
                <a:ea typeface="Segoe UI"/>
                <a:cs typeface="Segoe UI"/>
              </a:rPr>
              <a:t>​</a:t>
            </a:r>
          </a:p>
          <a:p>
            <a:endParaRPr lang="en-US" sz="1350">
              <a:solidFill>
                <a:srgbClr val="000000"/>
              </a:solidFill>
              <a:latin typeface="Calibri"/>
              <a:ea typeface="Segoe UI"/>
              <a:cs typeface="Segoe UI"/>
            </a:endParaRPr>
          </a:p>
          <a:p>
            <a:pPr rtl="0"/>
            <a:r>
              <a:rPr lang="en-US" sz="1350" b="1" baseline="0">
                <a:solidFill>
                  <a:srgbClr val="002B5C"/>
                </a:solidFill>
                <a:latin typeface="Calibri"/>
                <a:ea typeface="Segoe UI"/>
                <a:cs typeface="Segoe UI"/>
              </a:rPr>
              <a:t>Dataset B (pre-extracted, no subject IDs):</a:t>
            </a:r>
            <a:r>
              <a:rPr lang="en-US" sz="1350">
                <a:latin typeface="Calibri"/>
                <a:ea typeface="Segoe UI"/>
                <a:cs typeface="Segoe UI"/>
              </a:rPr>
              <a:t>​</a:t>
            </a:r>
          </a:p>
          <a:p>
            <a:pPr rtl="0"/>
            <a:r>
              <a:rPr lang="en-US" sz="1350" baseline="0">
                <a:solidFill>
                  <a:srgbClr val="1A1A1A"/>
                </a:solidFill>
                <a:latin typeface="Calibri"/>
                <a:ea typeface="Segoe UI"/>
                <a:cs typeface="Segoe UI"/>
              </a:rPr>
              <a:t>ROC-AUC ≈ 0.94–0.95 — </a:t>
            </a:r>
            <a:r>
              <a:rPr lang="en-US" sz="1350" baseline="0" err="1">
                <a:solidFill>
                  <a:srgbClr val="1A1A1A"/>
                </a:solidFill>
                <a:latin typeface="Calibri"/>
                <a:ea typeface="Segoe UI"/>
                <a:cs typeface="Segoe UI"/>
              </a:rPr>
              <a:t>ενδεχομένως</a:t>
            </a:r>
            <a:r>
              <a:rPr lang="en-US" sz="1350" baseline="0">
                <a:solidFill>
                  <a:srgbClr val="1A1A1A"/>
                </a:solidFill>
                <a:latin typeface="Calibri"/>
                <a:ea typeface="Segoe UI"/>
                <a:cs typeface="Segoe UI"/>
              </a:rPr>
              <a:t> α</a:t>
            </a:r>
            <a:r>
              <a:rPr lang="en-US" sz="1350" baseline="0" err="1">
                <a:solidFill>
                  <a:srgbClr val="1A1A1A"/>
                </a:solidFill>
                <a:latin typeface="Calibri"/>
                <a:ea typeface="Segoe UI"/>
                <a:cs typeface="Segoe UI"/>
              </a:rPr>
              <a:t>ισιόδοξη</a:t>
            </a:r>
            <a:r>
              <a:rPr lang="en-US" sz="1350" baseline="0">
                <a:solidFill>
                  <a:srgbClr val="1A1A1A"/>
                </a:solidFill>
                <a:latin typeface="Calibri"/>
                <a:ea typeface="Segoe UI"/>
                <a:cs typeface="Segoe UI"/>
              </a:rPr>
              <a:t> </a:t>
            </a:r>
            <a:r>
              <a:rPr lang="en-US" sz="1350" baseline="0" err="1">
                <a:solidFill>
                  <a:srgbClr val="1A1A1A"/>
                </a:solidFill>
                <a:latin typeface="Calibri"/>
                <a:ea typeface="Segoe UI"/>
                <a:cs typeface="Segoe UI"/>
              </a:rPr>
              <a:t>εκτίμηση</a:t>
            </a:r>
            <a:r>
              <a:rPr lang="en-US" sz="1350">
                <a:latin typeface="Calibri"/>
                <a:ea typeface="Segoe UI"/>
                <a:cs typeface="Segoe UI"/>
              </a:rPr>
              <a:t>​</a:t>
            </a:r>
          </a:p>
          <a:p>
            <a:pPr rtl="0"/>
            <a:r>
              <a:rPr lang="en-US" sz="1350" baseline="0">
                <a:solidFill>
                  <a:srgbClr val="1A1A1A"/>
                </a:solidFill>
                <a:latin typeface="Calibri"/>
                <a:ea typeface="Segoe UI"/>
                <a:cs typeface="Segoe UI"/>
              </a:rPr>
              <a:t>(</a:t>
            </a:r>
            <a:r>
              <a:rPr lang="en-US" sz="1350" baseline="0" err="1">
                <a:solidFill>
                  <a:srgbClr val="1A1A1A"/>
                </a:solidFill>
                <a:latin typeface="Calibri"/>
                <a:ea typeface="Segoe UI"/>
                <a:cs typeface="Segoe UI"/>
              </a:rPr>
              <a:t>άγνωστη</a:t>
            </a:r>
            <a:r>
              <a:rPr lang="en-US" sz="1350" baseline="0">
                <a:solidFill>
                  <a:srgbClr val="1A1A1A"/>
                </a:solidFill>
                <a:latin typeface="Calibri"/>
                <a:ea typeface="Segoe UI"/>
                <a:cs typeface="Segoe UI"/>
              </a:rPr>
              <a:t> επ</a:t>
            </a:r>
            <a:r>
              <a:rPr lang="en-US" sz="1350" baseline="0" err="1">
                <a:solidFill>
                  <a:srgbClr val="1A1A1A"/>
                </a:solidFill>
                <a:latin typeface="Calibri"/>
                <a:ea typeface="Segoe UI"/>
                <a:cs typeface="Segoe UI"/>
              </a:rPr>
              <a:t>ικάλυψη</a:t>
            </a:r>
            <a:r>
              <a:rPr lang="en-US" sz="1350" baseline="0">
                <a:solidFill>
                  <a:srgbClr val="1A1A1A"/>
                </a:solidFill>
                <a:latin typeface="Calibri"/>
                <a:ea typeface="Segoe UI"/>
                <a:cs typeface="Segoe UI"/>
              </a:rPr>
              <a:t> υπ</a:t>
            </a:r>
            <a:r>
              <a:rPr lang="en-US" sz="1350" baseline="0" err="1">
                <a:solidFill>
                  <a:srgbClr val="1A1A1A"/>
                </a:solidFill>
                <a:latin typeface="Calibri"/>
                <a:ea typeface="Segoe UI"/>
                <a:cs typeface="Segoe UI"/>
              </a:rPr>
              <a:t>οκειμένων</a:t>
            </a:r>
            <a:r>
              <a:rPr lang="en-US" sz="1350" baseline="0">
                <a:solidFill>
                  <a:srgbClr val="1A1A1A"/>
                </a:solidFill>
                <a:latin typeface="Calibri"/>
                <a:ea typeface="Segoe UI"/>
                <a:cs typeface="Segoe UI"/>
              </a:rPr>
              <a:t> </a:t>
            </a:r>
            <a:r>
              <a:rPr lang="en-US" sz="1350" baseline="0" err="1">
                <a:solidFill>
                  <a:srgbClr val="1A1A1A"/>
                </a:solidFill>
                <a:latin typeface="Calibri"/>
                <a:ea typeface="Segoe UI"/>
                <a:cs typeface="Segoe UI"/>
              </a:rPr>
              <a:t>μετ</a:t>
            </a:r>
            <a:r>
              <a:rPr lang="en-US" sz="1350" baseline="0">
                <a:solidFill>
                  <a:srgbClr val="1A1A1A"/>
                </a:solidFill>
                <a:latin typeface="Calibri"/>
                <a:ea typeface="Segoe UI"/>
                <a:cs typeface="Segoe UI"/>
              </a:rPr>
              <a:t>α</a:t>
            </a:r>
            <a:r>
              <a:rPr lang="en-US" sz="1350" baseline="0" err="1">
                <a:solidFill>
                  <a:srgbClr val="1A1A1A"/>
                </a:solidFill>
                <a:latin typeface="Calibri"/>
                <a:ea typeface="Segoe UI"/>
                <a:cs typeface="Segoe UI"/>
              </a:rPr>
              <a:t>ξύ</a:t>
            </a:r>
            <a:r>
              <a:rPr lang="en-US" sz="1350" baseline="0">
                <a:solidFill>
                  <a:srgbClr val="1A1A1A"/>
                </a:solidFill>
                <a:latin typeface="Calibri"/>
                <a:ea typeface="Segoe UI"/>
                <a:cs typeface="Segoe UI"/>
              </a:rPr>
              <a:t> train/test)</a:t>
            </a:r>
            <a:r>
              <a:rPr lang="en-US" sz="1350">
                <a:latin typeface="Calibri"/>
                <a:ea typeface="Segoe UI"/>
                <a:cs typeface="Segoe UI"/>
              </a:rPr>
              <a:t>​</a:t>
            </a:r>
          </a:p>
          <a:p>
            <a:pPr rtl="0"/>
            <a:r>
              <a:rPr lang="en-US" sz="1350" baseline="0">
                <a:solidFill>
                  <a:srgbClr val="1A1A1A"/>
                </a:solidFill>
                <a:latin typeface="Calibri"/>
                <a:ea typeface="Segoe UI"/>
                <a:cs typeface="Segoe UI"/>
              </a:rPr>
              <a:t>LR πα</a:t>
            </a:r>
            <a:r>
              <a:rPr lang="en-US" sz="1350" baseline="0" err="1">
                <a:solidFill>
                  <a:srgbClr val="1A1A1A"/>
                </a:solidFill>
                <a:latin typeface="Calibri"/>
                <a:ea typeface="Segoe UI"/>
                <a:cs typeface="Segoe UI"/>
              </a:rPr>
              <a:t>ρέχει</a:t>
            </a:r>
            <a:r>
              <a:rPr lang="en-US" sz="1350" baseline="0">
                <a:solidFill>
                  <a:srgbClr val="1A1A1A"/>
                </a:solidFill>
                <a:latin typeface="Calibri"/>
                <a:ea typeface="Segoe UI"/>
                <a:cs typeface="Segoe UI"/>
              </a:rPr>
              <a:t> </a:t>
            </a:r>
            <a:r>
              <a:rPr lang="en-US" sz="1350" baseline="0" err="1">
                <a:solidFill>
                  <a:srgbClr val="1A1A1A"/>
                </a:solidFill>
                <a:latin typeface="Calibri"/>
                <a:ea typeface="Segoe UI"/>
                <a:cs typeface="Segoe UI"/>
              </a:rPr>
              <a:t>ισχυρή</a:t>
            </a:r>
            <a:r>
              <a:rPr lang="en-US" sz="1350" baseline="0">
                <a:solidFill>
                  <a:srgbClr val="1A1A1A"/>
                </a:solidFill>
                <a:latin typeface="Calibri"/>
                <a:ea typeface="Segoe UI"/>
                <a:cs typeface="Segoe UI"/>
              </a:rPr>
              <a:t> baseline </a:t>
            </a:r>
            <a:r>
              <a:rPr lang="en-US" sz="1350" baseline="0" err="1">
                <a:solidFill>
                  <a:srgbClr val="1A1A1A"/>
                </a:solidFill>
                <a:latin typeface="Calibri"/>
                <a:ea typeface="Segoe UI"/>
                <a:cs typeface="Segoe UI"/>
              </a:rPr>
              <a:t>σε</a:t>
            </a:r>
            <a:r>
              <a:rPr lang="en-US" sz="1350" baseline="0">
                <a:solidFill>
                  <a:srgbClr val="1A1A1A"/>
                </a:solidFill>
                <a:latin typeface="Calibri"/>
                <a:ea typeface="Segoe UI"/>
                <a:cs typeface="Segoe UI"/>
              </a:rPr>
              <a:t> Dataset A (0.717–0.783)</a:t>
            </a:r>
            <a:r>
              <a:rPr lang="en-US" sz="1350">
                <a:latin typeface="Calibri"/>
                <a:ea typeface="Segoe UI"/>
                <a:cs typeface="Segoe UI"/>
              </a:rPr>
              <a:t>​</a:t>
            </a:r>
          </a:p>
          <a:p>
            <a:pPr algn="ctr"/>
            <a:endParaRPr lang="en-US"/>
          </a:p>
        </p:txBody>
      </p:sp>
      <p:graphicFrame>
        <p:nvGraphicFramePr>
          <p:cNvPr id="10" name="Table 9">
            <a:extLst>
              <a:ext uri="{FF2B5EF4-FFF2-40B4-BE49-F238E27FC236}">
                <a16:creationId xmlns:a16="http://schemas.microsoft.com/office/drawing/2014/main" id="{9C9027F1-404B-30D0-EE53-7B3CD29D9198}"/>
              </a:ext>
            </a:extLst>
          </p:cNvPr>
          <p:cNvGraphicFramePr>
            <a:graphicFrameLocks noGrp="1"/>
          </p:cNvGraphicFramePr>
          <p:nvPr>
            <p:extLst>
              <p:ext uri="{D42A27DB-BD31-4B8C-83A1-F6EECF244321}">
                <p14:modId xmlns:p14="http://schemas.microsoft.com/office/powerpoint/2010/main" val="1045480880"/>
              </p:ext>
            </p:extLst>
          </p:nvPr>
        </p:nvGraphicFramePr>
        <p:xfrm>
          <a:off x="6094164" y="1573577"/>
          <a:ext cx="5862862" cy="2956979"/>
        </p:xfrm>
        <a:graphic>
          <a:graphicData uri="http://schemas.openxmlformats.org/drawingml/2006/table">
            <a:tbl>
              <a:tblPr firstRow="1" bandRow="1">
                <a:tableStyleId>{5C22544A-7EE6-4342-B048-85BDC9FD1C3A}</a:tableStyleId>
              </a:tblPr>
              <a:tblGrid>
                <a:gridCol w="1851430">
                  <a:extLst>
                    <a:ext uri="{9D8B030D-6E8A-4147-A177-3AD203B41FA5}">
                      <a16:colId xmlns:a16="http://schemas.microsoft.com/office/drawing/2014/main" val="20000"/>
                    </a:ext>
                  </a:extLst>
                </a:gridCol>
                <a:gridCol w="2005716">
                  <a:extLst>
                    <a:ext uri="{9D8B030D-6E8A-4147-A177-3AD203B41FA5}">
                      <a16:colId xmlns:a16="http://schemas.microsoft.com/office/drawing/2014/main" val="20001"/>
                    </a:ext>
                  </a:extLst>
                </a:gridCol>
                <a:gridCol w="2005716">
                  <a:extLst>
                    <a:ext uri="{9D8B030D-6E8A-4147-A177-3AD203B41FA5}">
                      <a16:colId xmlns:a16="http://schemas.microsoft.com/office/drawing/2014/main" val="20002"/>
                    </a:ext>
                  </a:extLst>
                </a:gridCol>
              </a:tblGrid>
              <a:tr h="670979">
                <a:tc>
                  <a:txBody>
                    <a:bodyPr/>
                    <a:lstStyle/>
                    <a:p>
                      <a:pPr lvl="0" algn="ctr">
                        <a:lnSpc>
                          <a:spcPct val="100000"/>
                        </a:lnSpc>
                        <a:spcBef>
                          <a:spcPts val="0"/>
                        </a:spcBef>
                        <a:spcAft>
                          <a:spcPts val="0"/>
                        </a:spcAft>
                        <a:buNone/>
                      </a:pPr>
                      <a:r>
                        <a:rPr lang="en-US" sz="1800" b="1" i="0" u="none" strike="noStrike" noProof="0">
                          <a:solidFill>
                            <a:srgbClr val="FFFFFF"/>
                          </a:solidFill>
                          <a:latin typeface="Aptos"/>
                          <a:ea typeface="Calibri"/>
                          <a:cs typeface="Calibri"/>
                        </a:rPr>
                        <a:t>Dataset / Task</a:t>
                      </a:r>
                      <a:endParaRPr lang="en-US" sz="1800" b="1" i="0" u="none" strike="noStrike" noProof="0">
                        <a:solidFill>
                          <a:srgbClr val="000000"/>
                        </a:solidFill>
                        <a:latin typeface="Aptos"/>
                        <a:ea typeface="Calibri"/>
                        <a:cs typeface="Calibri"/>
                      </a:endParaRPr>
                    </a:p>
                  </a:txBody>
                  <a:tcPr anchor="ctr">
                    <a:solidFill>
                      <a:srgbClr val="002B5C"/>
                    </a:solidFill>
                  </a:tcPr>
                </a:tc>
                <a:tc>
                  <a:txBody>
                    <a:bodyPr/>
                    <a:lstStyle/>
                    <a:p>
                      <a:pPr lvl="0" algn="ctr">
                        <a:buNone/>
                      </a:pPr>
                      <a:r>
                        <a:rPr lang="en-US" sz="1800" b="1">
                          <a:latin typeface="Aptos"/>
                        </a:rPr>
                        <a:t>Κα</a:t>
                      </a:r>
                      <a:r>
                        <a:rPr lang="en-US" sz="1800" b="1" err="1">
                          <a:latin typeface="Aptos"/>
                        </a:rPr>
                        <a:t>λύτερο</a:t>
                      </a:r>
                      <a:r>
                        <a:rPr lang="en-US" sz="1800" b="1">
                          <a:latin typeface="Aptos"/>
                        </a:rPr>
                        <a:t> </a:t>
                      </a:r>
                      <a:r>
                        <a:rPr lang="en-US" sz="1800" b="1" err="1">
                          <a:latin typeface="Aptos"/>
                        </a:rPr>
                        <a:t>Μοντέλο</a:t>
                      </a:r>
                    </a:p>
                  </a:txBody>
                  <a:tcPr anchor="ctr">
                    <a:solidFill>
                      <a:srgbClr val="002B5C"/>
                    </a:solidFill>
                  </a:tcPr>
                </a:tc>
                <a:tc>
                  <a:txBody>
                    <a:bodyPr/>
                    <a:lstStyle/>
                    <a:p>
                      <a:pPr lvl="0" algn="ctr">
                        <a:buNone/>
                      </a:pPr>
                      <a:r>
                        <a:rPr lang="en-US" sz="1800" b="1" i="0" u="none" strike="noStrike" noProof="0">
                          <a:latin typeface="Aptos"/>
                        </a:rPr>
                        <a:t>ROC-AUC (mean ± std)</a:t>
                      </a:r>
                      <a:endParaRPr lang="en-US" b="1">
                        <a:latin typeface="Aptos"/>
                      </a:endParaRPr>
                    </a:p>
                  </a:txBody>
                  <a:tcPr anchor="ctr">
                    <a:solidFill>
                      <a:srgbClr val="002B5C"/>
                    </a:solidFill>
                  </a:tcPr>
                </a:tc>
                <a:extLst>
                  <a:ext uri="{0D108BD9-81ED-4DB2-BD59-A6C34878D82A}">
                    <a16:rowId xmlns:a16="http://schemas.microsoft.com/office/drawing/2014/main" val="10000"/>
                  </a:ext>
                </a:extLst>
              </a:tr>
              <a:tr h="451175">
                <a:tc>
                  <a:txBody>
                    <a:bodyPr/>
                    <a:lstStyle/>
                    <a:p>
                      <a:pPr lvl="0" algn="ctr">
                        <a:lnSpc>
                          <a:spcPct val="100000"/>
                        </a:lnSpc>
                        <a:spcBef>
                          <a:spcPts val="0"/>
                        </a:spcBef>
                        <a:spcAft>
                          <a:spcPts val="0"/>
                        </a:spcAft>
                        <a:buNone/>
                      </a:pPr>
                      <a:r>
                        <a:rPr lang="en-US" sz="1400" b="1" i="0" u="none" strike="noStrike" noProof="0" err="1">
                          <a:solidFill>
                            <a:srgbClr val="000000"/>
                          </a:solidFill>
                          <a:latin typeface="Aptos"/>
                        </a:rPr>
                        <a:t>ReadText</a:t>
                      </a:r>
                      <a:r>
                        <a:rPr lang="en-US" sz="1400" b="1" i="0" u="none" strike="noStrike" noProof="0">
                          <a:solidFill>
                            <a:srgbClr val="000000"/>
                          </a:solidFill>
                          <a:latin typeface="Aptos"/>
                        </a:rPr>
                        <a:t> / Baseline (47)</a:t>
                      </a:r>
                      <a:endParaRPr lang="en-US" sz="1400" b="0" i="0" u="none" strike="noStrike" noProof="0">
                        <a:solidFill>
                          <a:srgbClr val="000000"/>
                        </a:solidFill>
                        <a:latin typeface="Aptos"/>
                      </a:endParaRPr>
                    </a:p>
                  </a:txBody>
                  <a:tcPr anchor="ctr">
                    <a:solidFill>
                      <a:srgbClr val="F2F2F2"/>
                    </a:solidFill>
                  </a:tcPr>
                </a:tc>
                <a:tc>
                  <a:txBody>
                    <a:bodyPr/>
                    <a:lstStyle/>
                    <a:p>
                      <a:pPr lvl="0" algn="ctr">
                        <a:buNone/>
                      </a:pPr>
                      <a:r>
                        <a:rPr lang="en-US" sz="1400" b="0" i="0" u="none" strike="noStrike" noProof="0"/>
                        <a:t>LR</a:t>
                      </a:r>
                      <a:endParaRPr lang="en-US" sz="1400"/>
                    </a:p>
                  </a:txBody>
                  <a:tcPr anchor="ctr">
                    <a:solidFill>
                      <a:srgbClr val="F2F2F2"/>
                    </a:solidFill>
                  </a:tcPr>
                </a:tc>
                <a:tc>
                  <a:txBody>
                    <a:bodyPr/>
                    <a:lstStyle/>
                    <a:p>
                      <a:pPr lvl="0" algn="ctr">
                        <a:buNone/>
                      </a:pPr>
                      <a:r>
                        <a:rPr lang="en-US" sz="1400" b="0" i="0" u="none" strike="noStrike" noProof="0">
                          <a:latin typeface="Calibri"/>
                          <a:ea typeface="Calibri"/>
                          <a:cs typeface="Calibri"/>
                        </a:rPr>
                        <a:t>0.717 ± 0.139 </a:t>
                      </a:r>
                      <a:endParaRPr lang="en-US" sz="1400"/>
                    </a:p>
                  </a:txBody>
                  <a:tcPr anchor="ctr">
                    <a:solidFill>
                      <a:srgbClr val="F2F2F2"/>
                    </a:solidFill>
                  </a:tcPr>
                </a:tc>
                <a:extLst>
                  <a:ext uri="{0D108BD9-81ED-4DB2-BD59-A6C34878D82A}">
                    <a16:rowId xmlns:a16="http://schemas.microsoft.com/office/drawing/2014/main" val="10001"/>
                  </a:ext>
                </a:extLst>
              </a:tr>
              <a:tr h="451175">
                <a:tc>
                  <a:txBody>
                    <a:bodyPr/>
                    <a:lstStyle/>
                    <a:p>
                      <a:pPr lvl="0" algn="ctr">
                        <a:buNone/>
                      </a:pPr>
                      <a:r>
                        <a:rPr lang="en-US" sz="1400" b="0" i="0" u="none" strike="noStrike" noProof="0" err="1">
                          <a:solidFill>
                            <a:srgbClr val="000000"/>
                          </a:solidFill>
                          <a:latin typeface="Aptos"/>
                        </a:rPr>
                        <a:t>ReadText</a:t>
                      </a:r>
                      <a:r>
                        <a:rPr lang="en-US" sz="1400" b="0" i="0" u="none" strike="noStrike" noProof="0">
                          <a:solidFill>
                            <a:srgbClr val="000000"/>
                          </a:solidFill>
                          <a:latin typeface="Aptos"/>
                        </a:rPr>
                        <a:t> / Extended (78)</a:t>
                      </a:r>
                      <a:endParaRPr lang="en-US" sz="1400"/>
                    </a:p>
                  </a:txBody>
                  <a:tcPr anchor="ctr">
                    <a:solidFill>
                      <a:srgbClr val="FFFFFF"/>
                    </a:solidFill>
                  </a:tcPr>
                </a:tc>
                <a:tc>
                  <a:txBody>
                    <a:bodyPr/>
                    <a:lstStyle/>
                    <a:p>
                      <a:pPr lvl="0" algn="ctr">
                        <a:lnSpc>
                          <a:spcPct val="100000"/>
                        </a:lnSpc>
                        <a:spcBef>
                          <a:spcPts val="0"/>
                        </a:spcBef>
                        <a:spcAft>
                          <a:spcPts val="0"/>
                        </a:spcAft>
                        <a:buNone/>
                      </a:pPr>
                      <a:r>
                        <a:rPr lang="en-US" sz="1400" b="0" i="0" u="none" strike="noStrike" noProof="0">
                          <a:solidFill>
                            <a:srgbClr val="000000"/>
                          </a:solidFill>
                        </a:rPr>
                        <a:t>SVM RBF </a:t>
                      </a:r>
                      <a:endParaRPr lang="en-US" sz="1400" b="0" i="0" u="none" strike="noStrike" noProof="0">
                        <a:solidFill>
                          <a:srgbClr val="000000"/>
                        </a:solidFill>
                        <a:latin typeface="Calibri"/>
                        <a:ea typeface="Calibri"/>
                        <a:cs typeface="Calibri"/>
                      </a:endParaRPr>
                    </a:p>
                    <a:p>
                      <a:pPr lvl="0" algn="ctr">
                        <a:buNone/>
                      </a:pPr>
                      <a:endParaRPr lang="en-US" sz="1400">
                        <a:latin typeface="Aptos"/>
                      </a:endParaRPr>
                    </a:p>
                  </a:txBody>
                  <a:tcPr anchor="ctr">
                    <a:solidFill>
                      <a:srgbClr val="FFFFFF"/>
                    </a:solidFill>
                  </a:tcPr>
                </a:tc>
                <a:tc>
                  <a:txBody>
                    <a:bodyPr/>
                    <a:lstStyle/>
                    <a:p>
                      <a:pPr lvl="0" algn="ctr">
                        <a:buNone/>
                      </a:pPr>
                      <a:r>
                        <a:rPr lang="en-US" sz="1400" b="0" i="0" u="none" strike="noStrike" noProof="0">
                          <a:latin typeface="Calibri"/>
                          <a:ea typeface="Calibri"/>
                          <a:cs typeface="Calibri"/>
                        </a:rPr>
                        <a:t>0.834 ± 0.153 </a:t>
                      </a:r>
                      <a:endParaRPr lang="en-US" sz="1400"/>
                    </a:p>
                  </a:txBody>
                  <a:tcPr anchor="ctr">
                    <a:solidFill>
                      <a:srgbClr val="FFFFFF"/>
                    </a:solidFill>
                  </a:tcPr>
                </a:tc>
                <a:extLst>
                  <a:ext uri="{0D108BD9-81ED-4DB2-BD59-A6C34878D82A}">
                    <a16:rowId xmlns:a16="http://schemas.microsoft.com/office/drawing/2014/main" val="10002"/>
                  </a:ext>
                </a:extLst>
              </a:tr>
              <a:tr h="451175">
                <a:tc>
                  <a:txBody>
                    <a:bodyPr/>
                    <a:lstStyle/>
                    <a:p>
                      <a:pPr lvl="0" algn="ctr">
                        <a:lnSpc>
                          <a:spcPct val="100000"/>
                        </a:lnSpc>
                        <a:spcBef>
                          <a:spcPts val="0"/>
                        </a:spcBef>
                        <a:spcAft>
                          <a:spcPts val="0"/>
                        </a:spcAft>
                        <a:buNone/>
                      </a:pPr>
                      <a:r>
                        <a:rPr lang="en-US" sz="1400" b="0" i="0" u="none" strike="noStrike" noProof="0">
                          <a:solidFill>
                            <a:srgbClr val="000000"/>
                          </a:solidFill>
                          <a:latin typeface="Aptos"/>
                        </a:rPr>
                        <a:t>Spontaneous / Baseline (47)</a:t>
                      </a:r>
                    </a:p>
                    <a:p>
                      <a:pPr lvl="0" algn="ctr">
                        <a:buNone/>
                      </a:pPr>
                      <a:endParaRPr lang="en-US" sz="1400" b="0" i="0" u="none" strike="noStrike" noProof="0"/>
                    </a:p>
                  </a:txBody>
                  <a:tcPr anchor="ctr">
                    <a:solidFill>
                      <a:srgbClr val="F2F2F2"/>
                    </a:solidFill>
                  </a:tcPr>
                </a:tc>
                <a:tc>
                  <a:txBody>
                    <a:bodyPr/>
                    <a:lstStyle/>
                    <a:p>
                      <a:pPr lvl="0" algn="ctr">
                        <a:buNone/>
                      </a:pPr>
                      <a:r>
                        <a:rPr lang="en-US" sz="1400" b="0" i="0" u="none" strike="noStrike" noProof="0">
                          <a:latin typeface="Calibri"/>
                          <a:ea typeface="Calibri"/>
                          <a:cs typeface="Calibri"/>
                        </a:rPr>
                        <a:t>RF</a:t>
                      </a:r>
                      <a:endParaRPr lang="en-US" sz="1400"/>
                    </a:p>
                  </a:txBody>
                  <a:tcPr anchor="ctr">
                    <a:solidFill>
                      <a:srgbClr val="F2F2F2"/>
                    </a:solidFill>
                  </a:tcPr>
                </a:tc>
                <a:tc>
                  <a:txBody>
                    <a:bodyPr/>
                    <a:lstStyle/>
                    <a:p>
                      <a:pPr lvl="0" algn="ctr">
                        <a:buNone/>
                      </a:pPr>
                      <a:r>
                        <a:rPr lang="en-US" sz="1400" b="0" i="0" u="none" strike="noStrike" noProof="0">
                          <a:latin typeface="Calibri"/>
                          <a:ea typeface="Calibri"/>
                          <a:cs typeface="Calibri"/>
                        </a:rPr>
                        <a:t>0.828 ± 0.148 </a:t>
                      </a:r>
                      <a:endParaRPr lang="en-US" sz="1400"/>
                    </a:p>
                  </a:txBody>
                  <a:tcPr anchor="ctr">
                    <a:solidFill>
                      <a:srgbClr val="F2F2F2"/>
                    </a:solidFill>
                  </a:tcPr>
                </a:tc>
                <a:extLst>
                  <a:ext uri="{0D108BD9-81ED-4DB2-BD59-A6C34878D82A}">
                    <a16:rowId xmlns:a16="http://schemas.microsoft.com/office/drawing/2014/main" val="10003"/>
                  </a:ext>
                </a:extLst>
              </a:tr>
              <a:tr h="451175">
                <a:tc>
                  <a:txBody>
                    <a:bodyPr/>
                    <a:lstStyle/>
                    <a:p>
                      <a:pPr lvl="0" algn="ctr">
                        <a:buNone/>
                      </a:pPr>
                      <a:r>
                        <a:rPr lang="en-US" sz="1400" b="0" i="0" u="none" strike="noStrike" noProof="0">
                          <a:latin typeface="Calibri"/>
                          <a:ea typeface="Calibri"/>
                          <a:cs typeface="Calibri"/>
                        </a:rPr>
                        <a:t>Spontaneous / Extended (78) </a:t>
                      </a:r>
                      <a:endParaRPr lang="en-US" sz="1400"/>
                    </a:p>
                  </a:txBody>
                  <a:tcPr anchor="ctr">
                    <a:solidFill>
                      <a:srgbClr val="FFFFFF"/>
                    </a:solidFill>
                  </a:tcPr>
                </a:tc>
                <a:tc>
                  <a:txBody>
                    <a:bodyPr/>
                    <a:lstStyle/>
                    <a:p>
                      <a:pPr lvl="0" algn="ctr">
                        <a:buNone/>
                      </a:pPr>
                      <a:r>
                        <a:rPr lang="en-US" sz="1400" b="0" i="0" u="none" strike="noStrike" noProof="0">
                          <a:latin typeface="Calibri"/>
                          <a:ea typeface="Calibri"/>
                          <a:cs typeface="Calibri"/>
                        </a:rPr>
                        <a:t>RF</a:t>
                      </a:r>
                      <a:endParaRPr lang="en-US" sz="1400">
                        <a:latin typeface="Calibri"/>
                        <a:ea typeface="Calibri"/>
                        <a:cs typeface="Calibri"/>
                      </a:endParaRPr>
                    </a:p>
                  </a:txBody>
                  <a:tcPr anchor="ctr">
                    <a:solidFill>
                      <a:srgbClr val="FFFFFF"/>
                    </a:solidFill>
                  </a:tcPr>
                </a:tc>
                <a:tc>
                  <a:txBody>
                    <a:bodyPr/>
                    <a:lstStyle/>
                    <a:p>
                      <a:pPr lvl="0" algn="ctr">
                        <a:buNone/>
                      </a:pPr>
                      <a:r>
                        <a:rPr lang="en-US" sz="1400" b="0" i="0" u="none" strike="noStrike" noProof="0">
                          <a:latin typeface="Calibri"/>
                          <a:ea typeface="Calibri"/>
                          <a:cs typeface="Calibri"/>
                        </a:rPr>
                        <a:t>0.857 ± 0.171 </a:t>
                      </a:r>
                      <a:endParaRPr lang="en-US" sz="1400">
                        <a:latin typeface="Calibri"/>
                        <a:ea typeface="Calibri"/>
                        <a:cs typeface="Calibri"/>
                      </a:endParaRPr>
                    </a:p>
                  </a:txBody>
                  <a:tcPr anchor="ctr">
                    <a:solidFill>
                      <a:srgbClr val="FFFFFF"/>
                    </a:solidFill>
                  </a:tcPr>
                </a:tc>
                <a:extLst>
                  <a:ext uri="{0D108BD9-81ED-4DB2-BD59-A6C34878D82A}">
                    <a16:rowId xmlns:a16="http://schemas.microsoft.com/office/drawing/2014/main" val="10004"/>
                  </a:ext>
                </a:extLst>
              </a:tr>
            </a:tbl>
          </a:graphicData>
        </a:graphic>
      </p:graphicFrame>
      <p:sp>
        <p:nvSpPr>
          <p:cNvPr id="17" name="TextBox 16">
            <a:extLst>
              <a:ext uri="{FF2B5EF4-FFF2-40B4-BE49-F238E27FC236}">
                <a16:creationId xmlns:a16="http://schemas.microsoft.com/office/drawing/2014/main" id="{58C73195-7642-9605-01F0-7E8851022D5B}"/>
              </a:ext>
            </a:extLst>
          </p:cNvPr>
          <p:cNvSpPr txBox="1"/>
          <p:nvPr/>
        </p:nvSpPr>
        <p:spPr>
          <a:xfrm>
            <a:off x="475561" y="5405336"/>
            <a:ext cx="11247120" cy="584775"/>
          </a:xfrm>
          <a:prstGeom prst="rect">
            <a:avLst/>
          </a:prstGeom>
          <a:noFill/>
        </p:spPr>
        <p:txBody>
          <a:bodyPr wrap="square" lIns="91440" tIns="45720" rIns="91440" bIns="45720" anchor="t">
            <a:spAutoFit/>
          </a:bodyPr>
          <a:lstStyle/>
          <a:p>
            <a:pPr algn="ctr">
              <a:defRPr sz="1600" b="1">
                <a:solidFill>
                  <a:srgbClr val="E86C00"/>
                </a:solidFill>
                <a:latin typeface="Calibri"/>
              </a:defRPr>
            </a:pPr>
            <a:r>
              <a:rPr lang="en-US" sz="1600" err="1">
                <a:solidFill>
                  <a:srgbClr val="E86C00"/>
                </a:solidFill>
                <a:ea typeface="+mn-lt"/>
                <a:cs typeface="+mn-lt"/>
              </a:rPr>
              <a:t>Συμ</a:t>
            </a:r>
            <a:r>
              <a:rPr lang="en-US" sz="1600">
                <a:solidFill>
                  <a:srgbClr val="E86C00"/>
                </a:solidFill>
                <a:ea typeface="+mn-lt"/>
                <a:cs typeface="+mn-lt"/>
              </a:rPr>
              <a:t>π</a:t>
            </a:r>
            <a:r>
              <a:rPr lang="en-US" sz="1600" err="1">
                <a:solidFill>
                  <a:srgbClr val="E86C00"/>
                </a:solidFill>
                <a:ea typeface="+mn-lt"/>
                <a:cs typeface="+mn-lt"/>
              </a:rPr>
              <a:t>έρ</a:t>
            </a:r>
            <a:r>
              <a:rPr lang="en-US" sz="1600">
                <a:solidFill>
                  <a:srgbClr val="E86C00"/>
                </a:solidFill>
                <a:ea typeface="+mn-lt"/>
                <a:cs typeface="+mn-lt"/>
              </a:rPr>
              <a:t>α</a:t>
            </a:r>
            <a:r>
              <a:rPr lang="en-US" sz="1600" err="1">
                <a:solidFill>
                  <a:srgbClr val="E86C00"/>
                </a:solidFill>
                <a:ea typeface="+mn-lt"/>
                <a:cs typeface="+mn-lt"/>
              </a:rPr>
              <a:t>σμ</a:t>
            </a:r>
            <a:r>
              <a:rPr lang="en-US">
                <a:ea typeface="+mn-lt"/>
                <a:cs typeface="+mn-lt"/>
              </a:rPr>
              <a:t>α RQ1: </a:t>
            </a:r>
            <a:r>
              <a:rPr lang="en-US">
                <a:solidFill>
                  <a:srgbClr val="002B5C"/>
                </a:solidFill>
                <a:ea typeface="+mn-lt"/>
                <a:cs typeface="+mn-lt"/>
              </a:rPr>
              <a:t>Η </a:t>
            </a:r>
            <a:r>
              <a:rPr lang="en-US" err="1">
                <a:solidFill>
                  <a:srgbClr val="002B5C"/>
                </a:solidFill>
                <a:ea typeface="+mn-lt"/>
                <a:cs typeface="+mn-lt"/>
              </a:rPr>
              <a:t>κλ</a:t>
            </a:r>
            <a:r>
              <a:rPr lang="en-US">
                <a:solidFill>
                  <a:srgbClr val="002B5C"/>
                </a:solidFill>
                <a:ea typeface="+mn-lt"/>
                <a:cs typeface="+mn-lt"/>
              </a:rPr>
              <a:t>α</a:t>
            </a:r>
            <a:r>
              <a:rPr lang="en-US" err="1">
                <a:solidFill>
                  <a:srgbClr val="002B5C"/>
                </a:solidFill>
                <a:ea typeface="+mn-lt"/>
                <a:cs typeface="+mn-lt"/>
              </a:rPr>
              <a:t>σική</a:t>
            </a:r>
            <a:r>
              <a:rPr lang="en-US">
                <a:solidFill>
                  <a:srgbClr val="002B5C"/>
                </a:solidFill>
                <a:ea typeface="+mn-lt"/>
                <a:cs typeface="+mn-lt"/>
              </a:rPr>
              <a:t> ML </a:t>
            </a:r>
            <a:r>
              <a:rPr lang="en-US" err="1">
                <a:solidFill>
                  <a:srgbClr val="002B5C"/>
                </a:solidFill>
                <a:ea typeface="+mn-lt"/>
                <a:cs typeface="+mn-lt"/>
              </a:rPr>
              <a:t>είν</a:t>
            </a:r>
            <a:r>
              <a:rPr lang="en-US">
                <a:solidFill>
                  <a:srgbClr val="002B5C"/>
                </a:solidFill>
                <a:ea typeface="+mn-lt"/>
                <a:cs typeface="+mn-lt"/>
              </a:rPr>
              <a:t>αι β</a:t>
            </a:r>
            <a:r>
              <a:rPr lang="en-US" err="1">
                <a:solidFill>
                  <a:srgbClr val="002B5C"/>
                </a:solidFill>
                <a:ea typeface="+mn-lt"/>
                <a:cs typeface="+mn-lt"/>
              </a:rPr>
              <a:t>ιώσιμη</a:t>
            </a:r>
            <a:r>
              <a:rPr lang="en-US">
                <a:solidFill>
                  <a:srgbClr val="002B5C"/>
                </a:solidFill>
                <a:ea typeface="+mn-lt"/>
                <a:cs typeface="+mn-lt"/>
              </a:rPr>
              <a:t> baseline, </a:t>
            </a:r>
            <a:br>
              <a:rPr lang="en-US">
                <a:solidFill>
                  <a:srgbClr val="002B5C"/>
                </a:solidFill>
                <a:ea typeface="+mn-lt"/>
                <a:cs typeface="+mn-lt"/>
              </a:rPr>
            </a:br>
            <a:r>
              <a:rPr lang="en-US" err="1">
                <a:solidFill>
                  <a:srgbClr val="002B5C"/>
                </a:solidFill>
                <a:ea typeface="+mn-lt"/>
                <a:cs typeface="+mn-lt"/>
              </a:rPr>
              <a:t>με</a:t>
            </a:r>
            <a:r>
              <a:rPr lang="en-US">
                <a:solidFill>
                  <a:srgbClr val="002B5C"/>
                </a:solidFill>
                <a:ea typeface="+mn-lt"/>
                <a:cs typeface="+mn-lt"/>
              </a:rPr>
              <a:t> </a:t>
            </a:r>
            <a:r>
              <a:rPr lang="en-US" i="1">
                <a:solidFill>
                  <a:srgbClr val="002B5C"/>
                </a:solidFill>
                <a:ea typeface="+mn-lt"/>
                <a:cs typeface="+mn-lt"/>
              </a:rPr>
              <a:t>ROC-AUC 0.83–0.86</a:t>
            </a:r>
            <a:r>
              <a:rPr lang="en-US">
                <a:solidFill>
                  <a:srgbClr val="002B5C"/>
                </a:solidFill>
                <a:ea typeface="+mn-lt"/>
                <a:cs typeface="+mn-lt"/>
              </a:rPr>
              <a:t> , α</a:t>
            </a:r>
            <a:r>
              <a:rPr lang="en-US" err="1">
                <a:solidFill>
                  <a:srgbClr val="002B5C"/>
                </a:solidFill>
                <a:ea typeface="+mn-lt"/>
                <a:cs typeface="+mn-lt"/>
              </a:rPr>
              <a:t>λλά</a:t>
            </a:r>
            <a:r>
              <a:rPr lang="en-US">
                <a:solidFill>
                  <a:srgbClr val="002B5C"/>
                </a:solidFill>
                <a:ea typeface="+mn-lt"/>
                <a:cs typeface="+mn-lt"/>
              </a:rPr>
              <a:t> </a:t>
            </a:r>
            <a:r>
              <a:rPr lang="en-US" err="1">
                <a:solidFill>
                  <a:srgbClr val="002B5C"/>
                </a:solidFill>
                <a:ea typeface="+mn-lt"/>
                <a:cs typeface="+mn-lt"/>
              </a:rPr>
              <a:t>όχι</a:t>
            </a:r>
            <a:r>
              <a:rPr lang="en-US">
                <a:solidFill>
                  <a:srgbClr val="002B5C"/>
                </a:solidFill>
                <a:ea typeface="+mn-lt"/>
                <a:cs typeface="+mn-lt"/>
              </a:rPr>
              <a:t> επα</a:t>
            </a:r>
            <a:r>
              <a:rPr lang="en-US" err="1">
                <a:solidFill>
                  <a:srgbClr val="002B5C"/>
                </a:solidFill>
                <a:ea typeface="+mn-lt"/>
                <a:cs typeface="+mn-lt"/>
              </a:rPr>
              <a:t>ρκής</a:t>
            </a:r>
            <a:r>
              <a:rPr lang="en-US">
                <a:solidFill>
                  <a:srgbClr val="002B5C"/>
                </a:solidFill>
                <a:ea typeface="+mn-lt"/>
                <a:cs typeface="+mn-lt"/>
              </a:rPr>
              <a:t> </a:t>
            </a:r>
            <a:r>
              <a:rPr lang="en-US" err="1">
                <a:solidFill>
                  <a:srgbClr val="002B5C"/>
                </a:solidFill>
                <a:ea typeface="+mn-lt"/>
                <a:cs typeface="+mn-lt"/>
              </a:rPr>
              <a:t>γι</a:t>
            </a:r>
            <a:r>
              <a:rPr lang="en-US">
                <a:solidFill>
                  <a:srgbClr val="002B5C"/>
                </a:solidFill>
                <a:ea typeface="+mn-lt"/>
                <a:cs typeface="+mn-lt"/>
              </a:rPr>
              <a:t>α </a:t>
            </a:r>
            <a:r>
              <a:rPr lang="en-US" err="1">
                <a:solidFill>
                  <a:srgbClr val="002B5C"/>
                </a:solidFill>
                <a:ea typeface="+mn-lt"/>
                <a:cs typeface="+mn-lt"/>
              </a:rPr>
              <a:t>κλινική</a:t>
            </a:r>
            <a:r>
              <a:rPr lang="en-US">
                <a:solidFill>
                  <a:srgbClr val="002B5C"/>
                </a:solidFill>
                <a:ea typeface="+mn-lt"/>
                <a:cs typeface="+mn-lt"/>
              </a:rPr>
              <a:t> </a:t>
            </a:r>
            <a:r>
              <a:rPr lang="en-US" err="1">
                <a:solidFill>
                  <a:srgbClr val="002B5C"/>
                </a:solidFill>
                <a:ea typeface="+mn-lt"/>
                <a:cs typeface="+mn-lt"/>
              </a:rPr>
              <a:t>χρήση</a:t>
            </a:r>
            <a:r>
              <a:rPr lang="en-US">
                <a:solidFill>
                  <a:srgbClr val="002B5C"/>
                </a:solidFill>
                <a:ea typeface="+mn-lt"/>
                <a:cs typeface="+mn-lt"/>
              </a:rPr>
              <a:t>.</a:t>
            </a:r>
            <a:endParaRPr lang="en-US" err="1">
              <a:solidFill>
                <a:srgbClr val="002B5C"/>
              </a:solidFill>
              <a:latin typeface="Aptos"/>
              <a:ea typeface="Calibri"/>
              <a:cs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a:extLst>
            <a:ext uri="{FF2B5EF4-FFF2-40B4-BE49-F238E27FC236}">
              <a16:creationId xmlns:a16="http://schemas.microsoft.com/office/drawing/2014/main" id="{4EFAB0B7-F73E-02C0-A18A-7DB1945EE64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E109C72-C56D-5222-F435-2A5A11989E10}"/>
              </a:ext>
            </a:extLst>
          </p:cNvPr>
          <p:cNvGraphicFramePr>
            <a:graphicFrameLocks noGrp="1"/>
          </p:cNvGraphicFramePr>
          <p:nvPr/>
        </p:nvGraphicFramePr>
        <p:xfrm>
          <a:off x="457200" y="1846892"/>
          <a:ext cx="11247120" cy="2504240"/>
        </p:xfrm>
        <a:graphic>
          <a:graphicData uri="http://schemas.openxmlformats.org/drawingml/2006/table">
            <a:tbl>
              <a:tblPr firstRow="1" bandRow="1">
                <a:tableStyleId>{5C22544A-7EE6-4342-B048-85BDC9FD1C3A}</a:tableStyleId>
              </a:tblPr>
              <a:tblGrid>
                <a:gridCol w="3374136">
                  <a:extLst>
                    <a:ext uri="{9D8B030D-6E8A-4147-A177-3AD203B41FA5}">
                      <a16:colId xmlns:a16="http://schemas.microsoft.com/office/drawing/2014/main" val="20000"/>
                    </a:ext>
                  </a:extLst>
                </a:gridCol>
                <a:gridCol w="2249424">
                  <a:extLst>
                    <a:ext uri="{9D8B030D-6E8A-4147-A177-3AD203B41FA5}">
                      <a16:colId xmlns:a16="http://schemas.microsoft.com/office/drawing/2014/main" val="20001"/>
                    </a:ext>
                  </a:extLst>
                </a:gridCol>
                <a:gridCol w="2249424">
                  <a:extLst>
                    <a:ext uri="{9D8B030D-6E8A-4147-A177-3AD203B41FA5}">
                      <a16:colId xmlns:a16="http://schemas.microsoft.com/office/drawing/2014/main" val="20002"/>
                    </a:ext>
                  </a:extLst>
                </a:gridCol>
                <a:gridCol w="3374136">
                  <a:extLst>
                    <a:ext uri="{9D8B030D-6E8A-4147-A177-3AD203B41FA5}">
                      <a16:colId xmlns:a16="http://schemas.microsoft.com/office/drawing/2014/main" val="20003"/>
                    </a:ext>
                  </a:extLst>
                </a:gridCol>
              </a:tblGrid>
              <a:tr h="538280">
                <a:tc>
                  <a:txBody>
                    <a:bodyPr/>
                    <a:lstStyle/>
                    <a:p>
                      <a:pPr lvl="0" algn="ctr">
                        <a:buNone/>
                        <a:defRPr sz="1400" b="1">
                          <a:solidFill>
                            <a:srgbClr val="FFFFFF"/>
                          </a:solidFill>
                          <a:latin typeface="Calibri"/>
                        </a:defRPr>
                      </a:pPr>
                      <a:r>
                        <a:rPr lang="en-US" sz="1800" b="1" i="0" u="none" strike="noStrike" noProof="0"/>
                        <a:t>Μοντέλο</a:t>
                      </a:r>
                      <a:endParaRPr sz="1800" b="1">
                        <a:latin typeface="Aptos"/>
                      </a:endParaRPr>
                    </a:p>
                  </a:txBody>
                  <a:tcPr anchor="ctr">
                    <a:solidFill>
                      <a:srgbClr val="002B5C"/>
                    </a:solidFill>
                  </a:tcPr>
                </a:tc>
                <a:tc>
                  <a:txBody>
                    <a:bodyPr/>
                    <a:lstStyle/>
                    <a:p>
                      <a:pPr algn="ctr">
                        <a:defRPr sz="1400" b="1">
                          <a:solidFill>
                            <a:srgbClr val="FFFFFF"/>
                          </a:solidFill>
                          <a:latin typeface="Calibri"/>
                        </a:defRPr>
                      </a:pPr>
                      <a:r>
                        <a:rPr sz="1800" err="1">
                          <a:latin typeface="Aptos"/>
                        </a:rPr>
                        <a:t>ReadText</a:t>
                      </a:r>
                      <a:r>
                        <a:rPr sz="1800">
                          <a:latin typeface="Aptos"/>
                        </a:rPr>
                        <a:t> Δ</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Spontaneous Δ</a:t>
                      </a:r>
                    </a:p>
                  </a:txBody>
                  <a:tcPr anchor="ctr">
                    <a:solidFill>
                      <a:srgbClr val="002B5C"/>
                    </a:solidFill>
                  </a:tcPr>
                </a:tc>
                <a:tc>
                  <a:txBody>
                    <a:bodyPr/>
                    <a:lstStyle/>
                    <a:p>
                      <a:pPr lvl="0" algn="ctr">
                        <a:buNone/>
                        <a:defRPr sz="1400" b="1">
                          <a:solidFill>
                            <a:srgbClr val="FFFFFF"/>
                          </a:solidFill>
                          <a:latin typeface="Calibri"/>
                        </a:defRPr>
                      </a:pPr>
                      <a:r>
                        <a:rPr lang="en-US" sz="1800" b="1" i="0" u="none" strike="noStrike" noProof="0"/>
                        <a:t>Ερμηνεία</a:t>
                      </a:r>
                      <a:endParaRPr sz="1800" b="1" i="0" u="none" strike="noStrike" noProof="0"/>
                    </a:p>
                  </a:txBody>
                  <a:tcPr anchor="ctr">
                    <a:solidFill>
                      <a:srgbClr val="002B5C"/>
                    </a:solidFill>
                  </a:tcPr>
                </a:tc>
                <a:extLst>
                  <a:ext uri="{0D108BD9-81ED-4DB2-BD59-A6C34878D82A}">
                    <a16:rowId xmlns:a16="http://schemas.microsoft.com/office/drawing/2014/main" val="10000"/>
                  </a:ext>
                </a:extLst>
              </a:tr>
              <a:tr h="393192">
                <a:tc>
                  <a:txBody>
                    <a:bodyPr/>
                    <a:lstStyle/>
                    <a:p>
                      <a:pPr algn="ctr">
                        <a:defRPr sz="1300">
                          <a:solidFill>
                            <a:srgbClr val="1A1A1A"/>
                          </a:solidFill>
                          <a:latin typeface="Calibri"/>
                        </a:defRPr>
                      </a:pPr>
                      <a:r>
                        <a:rPr sz="1400">
                          <a:latin typeface="Aptos" panose="020B0004020202020204" pitchFamily="34" charset="0"/>
                        </a:rPr>
                        <a:t>Logistic Regression</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−0.019</a:t>
                      </a:r>
                    </a:p>
                  </a:txBody>
                  <a:tcPr anchor="ctr">
                    <a:solidFill>
                      <a:srgbClr val="F2F2F2"/>
                    </a:solidFill>
                  </a:tcPr>
                </a:tc>
                <a:tc>
                  <a:txBody>
                    <a:bodyPr/>
                    <a:lstStyle/>
                    <a:p>
                      <a:pPr algn="ctr">
                        <a:defRPr sz="1300">
                          <a:solidFill>
                            <a:srgbClr val="1A1A1A"/>
                          </a:solidFill>
                          <a:latin typeface="Calibri"/>
                        </a:defRPr>
                      </a:pPr>
                      <a:r>
                        <a:rPr sz="1400">
                          <a:latin typeface="Aptos"/>
                        </a:rPr>
                        <a:t>+0.023</a:t>
                      </a:r>
                    </a:p>
                  </a:txBody>
                  <a:tcPr anchor="ctr">
                    <a:solidFill>
                      <a:srgbClr val="F2F2F2"/>
                    </a:solidFill>
                  </a:tcPr>
                </a:tc>
                <a:tc>
                  <a:txBody>
                    <a:bodyPr/>
                    <a:lstStyle/>
                    <a:p>
                      <a:pPr lvl="0" algn="ctr">
                        <a:buNone/>
                      </a:pPr>
                      <a:r>
                        <a:rPr lang="en-US" sz="1400" b="0" i="0" u="none" strike="noStrike" noProof="0"/>
                        <a:t>Ελάχιστη μεταβολή</a:t>
                      </a:r>
                      <a:endParaRPr sz="1400">
                        <a:latin typeface="Aptos" panose="020B0004020202020204" pitchFamily="34" charset="0"/>
                      </a:endParaRPr>
                    </a:p>
                  </a:txBody>
                  <a:tcPr anchor="ctr">
                    <a:solidFill>
                      <a:srgbClr val="F2F2F2"/>
                    </a:solidFill>
                  </a:tcPr>
                </a:tc>
                <a:extLst>
                  <a:ext uri="{0D108BD9-81ED-4DB2-BD59-A6C34878D82A}">
                    <a16:rowId xmlns:a16="http://schemas.microsoft.com/office/drawing/2014/main" val="10001"/>
                  </a:ext>
                </a:extLst>
              </a:tr>
              <a:tr h="393192">
                <a:tc>
                  <a:txBody>
                    <a:bodyPr/>
                    <a:lstStyle/>
                    <a:p>
                      <a:pPr algn="ctr">
                        <a:defRPr sz="1300">
                          <a:solidFill>
                            <a:srgbClr val="1A1A1A"/>
                          </a:solidFill>
                          <a:latin typeface="Calibri"/>
                        </a:defRPr>
                      </a:pPr>
                      <a:r>
                        <a:rPr sz="1400">
                          <a:latin typeface="Aptos" panose="020B0004020202020204" pitchFamily="34" charset="0"/>
                        </a:rPr>
                        <a:t>SVM (RBF)</a:t>
                      </a:r>
                    </a:p>
                  </a:txBody>
                  <a:tcPr anchor="ctr">
                    <a:solidFill>
                      <a:srgbClr val="FFFFFF"/>
                    </a:solidFill>
                  </a:tcPr>
                </a:tc>
                <a:tc>
                  <a:txBody>
                    <a:bodyPr/>
                    <a:lstStyle/>
                    <a:p>
                      <a:pPr algn="ctr">
                        <a:defRPr sz="1300" b="1">
                          <a:solidFill>
                            <a:srgbClr val="E86C00"/>
                          </a:solidFill>
                          <a:latin typeface="Calibri"/>
                        </a:defRPr>
                      </a:pPr>
                      <a:r>
                        <a:rPr sz="1400">
                          <a:latin typeface="Aptos"/>
                        </a:rPr>
                        <a:t>+0.220</a:t>
                      </a:r>
                    </a:p>
                  </a:txBody>
                  <a:tcPr anchor="ctr">
                    <a:solidFill>
                      <a:srgbClr val="FFFFFF"/>
                    </a:solidFill>
                  </a:tcPr>
                </a:tc>
                <a:tc>
                  <a:txBody>
                    <a:bodyPr/>
                    <a:lstStyle/>
                    <a:p>
                      <a:pPr algn="ctr">
                        <a:defRPr sz="1300">
                          <a:solidFill>
                            <a:srgbClr val="1A1A1A"/>
                          </a:solidFill>
                          <a:latin typeface="Calibri"/>
                        </a:defRPr>
                      </a:pPr>
                      <a:r>
                        <a:rPr sz="1400">
                          <a:latin typeface="Aptos"/>
                        </a:rPr>
                        <a:t>+0.053</a:t>
                      </a:r>
                    </a:p>
                  </a:txBody>
                  <a:tcPr anchor="ctr">
                    <a:solidFill>
                      <a:srgbClr val="FFFFFF"/>
                    </a:solidFill>
                  </a:tcPr>
                </a:tc>
                <a:tc>
                  <a:txBody>
                    <a:bodyPr/>
                    <a:lstStyle/>
                    <a:p>
                      <a:pPr algn="ctr"/>
                      <a:r>
                        <a:rPr sz="1400">
                          <a:latin typeface="Aptos"/>
                        </a:rPr>
                        <a:t>ReadText: </a:t>
                      </a:r>
                      <a:r>
                        <a:rPr lang="en-US" sz="1400" b="0" i="0" u="none" strike="noStrike" noProof="0"/>
                        <a:t>σημαντική βελτίωση</a:t>
                      </a:r>
                      <a:endParaRPr sz="1400">
                        <a:latin typeface="Aptos" panose="020B0004020202020204" pitchFamily="34" charset="0"/>
                      </a:endParaRPr>
                    </a:p>
                  </a:txBody>
                  <a:tcPr anchor="ctr">
                    <a:solidFill>
                      <a:srgbClr val="FFFFFF"/>
                    </a:solidFill>
                  </a:tcPr>
                </a:tc>
                <a:extLst>
                  <a:ext uri="{0D108BD9-81ED-4DB2-BD59-A6C34878D82A}">
                    <a16:rowId xmlns:a16="http://schemas.microsoft.com/office/drawing/2014/main" val="10002"/>
                  </a:ext>
                </a:extLst>
              </a:tr>
              <a:tr h="393192">
                <a:tc>
                  <a:txBody>
                    <a:bodyPr/>
                    <a:lstStyle/>
                    <a:p>
                      <a:pPr algn="ctr">
                        <a:defRPr sz="1300">
                          <a:solidFill>
                            <a:srgbClr val="1A1A1A"/>
                          </a:solidFill>
                          <a:latin typeface="Calibri"/>
                        </a:defRPr>
                      </a:pPr>
                      <a:r>
                        <a:rPr sz="1400">
                          <a:latin typeface="Aptos" panose="020B0004020202020204" pitchFamily="34" charset="0"/>
                        </a:rPr>
                        <a:t>Random Forest</a:t>
                      </a:r>
                    </a:p>
                  </a:txBody>
                  <a:tcPr anchor="ctr">
                    <a:solidFill>
                      <a:srgbClr val="F2F2F2"/>
                    </a:solidFill>
                  </a:tcPr>
                </a:tc>
                <a:tc>
                  <a:txBody>
                    <a:bodyPr/>
                    <a:lstStyle/>
                    <a:p>
                      <a:pPr algn="ctr">
                        <a:defRPr sz="1300" b="1">
                          <a:solidFill>
                            <a:srgbClr val="E86C00"/>
                          </a:solidFill>
                          <a:latin typeface="Calibri"/>
                        </a:defRPr>
                      </a:pPr>
                      <a:r>
                        <a:rPr sz="1400">
                          <a:latin typeface="Aptos"/>
                        </a:rPr>
                        <a:t>+0.232</a:t>
                      </a:r>
                    </a:p>
                  </a:txBody>
                  <a:tcPr anchor="ctr">
                    <a:solidFill>
                      <a:srgbClr val="F2F2F2"/>
                    </a:solidFill>
                  </a:tcPr>
                </a:tc>
                <a:tc>
                  <a:txBody>
                    <a:bodyPr/>
                    <a:lstStyle/>
                    <a:p>
                      <a:pPr algn="ctr">
                        <a:defRPr sz="1300">
                          <a:solidFill>
                            <a:srgbClr val="1A1A1A"/>
                          </a:solidFill>
                          <a:latin typeface="Calibri"/>
                        </a:defRPr>
                      </a:pPr>
                      <a:r>
                        <a:rPr sz="1400">
                          <a:latin typeface="Aptos"/>
                        </a:rPr>
                        <a:t>+0.029</a:t>
                      </a:r>
                    </a:p>
                  </a:txBody>
                  <a:tcPr anchor="ctr">
                    <a:solidFill>
                      <a:srgbClr val="F2F2F2"/>
                    </a:solidFill>
                  </a:tcPr>
                </a:tc>
                <a:tc>
                  <a:txBody>
                    <a:bodyPr/>
                    <a:lstStyle/>
                    <a:p>
                      <a:pPr algn="ctr"/>
                      <a:r>
                        <a:rPr sz="1400">
                          <a:latin typeface="Aptos"/>
                        </a:rPr>
                        <a:t>ReadText: </a:t>
                      </a:r>
                      <a:r>
                        <a:rPr lang="en-US" sz="1400" b="0" i="0" u="none" strike="noStrike" noProof="0"/>
                        <a:t>σημαντική βελτίωση</a:t>
                      </a:r>
                      <a:endParaRPr sz="1400">
                        <a:latin typeface="Aptos" panose="020B0004020202020204" pitchFamily="34" charset="0"/>
                      </a:endParaRPr>
                    </a:p>
                  </a:txBody>
                  <a:tcPr anchor="ctr">
                    <a:solidFill>
                      <a:srgbClr val="F2F2F2"/>
                    </a:solidFill>
                  </a:tcPr>
                </a:tc>
                <a:extLst>
                  <a:ext uri="{0D108BD9-81ED-4DB2-BD59-A6C34878D82A}">
                    <a16:rowId xmlns:a16="http://schemas.microsoft.com/office/drawing/2014/main" val="10003"/>
                  </a:ext>
                </a:extLst>
              </a:tr>
              <a:tr h="393192">
                <a:tc>
                  <a:txBody>
                    <a:bodyPr/>
                    <a:lstStyle/>
                    <a:p>
                      <a:pPr algn="ctr">
                        <a:defRPr sz="1300">
                          <a:solidFill>
                            <a:srgbClr val="1A1A1A"/>
                          </a:solidFill>
                          <a:latin typeface="Calibri"/>
                        </a:defRPr>
                      </a:pPr>
                      <a:r>
                        <a:rPr sz="1400">
                          <a:latin typeface="Aptos" panose="020B0004020202020204" pitchFamily="34" charset="0"/>
                        </a:rPr>
                        <a:t>Gradient Boosting</a:t>
                      </a:r>
                    </a:p>
                  </a:txBody>
                  <a:tcPr anchor="ctr">
                    <a:solidFill>
                      <a:srgbClr val="FFFFFF"/>
                    </a:solidFill>
                  </a:tcPr>
                </a:tc>
                <a:tc>
                  <a:txBody>
                    <a:bodyPr/>
                    <a:lstStyle/>
                    <a:p>
                      <a:pPr algn="ctr">
                        <a:defRPr sz="1300" b="1">
                          <a:solidFill>
                            <a:srgbClr val="E86C00"/>
                          </a:solidFill>
                          <a:latin typeface="Calibri"/>
                        </a:defRPr>
                      </a:pPr>
                      <a:r>
                        <a:rPr sz="1400">
                          <a:latin typeface="Aptos"/>
                        </a:rPr>
                        <a:t>+0.224</a:t>
                      </a:r>
                    </a:p>
                  </a:txBody>
                  <a:tcPr anchor="ctr">
                    <a:solidFill>
                      <a:srgbClr val="FFFFFF"/>
                    </a:solidFill>
                  </a:tcPr>
                </a:tc>
                <a:tc>
                  <a:txBody>
                    <a:bodyPr/>
                    <a:lstStyle/>
                    <a:p>
                      <a:pPr algn="ctr">
                        <a:defRPr sz="1300">
                          <a:solidFill>
                            <a:srgbClr val="1A1A1A"/>
                          </a:solidFill>
                          <a:latin typeface="Calibri"/>
                        </a:defRPr>
                      </a:pPr>
                      <a:r>
                        <a:rPr sz="1400">
                          <a:latin typeface="Aptos"/>
                        </a:rPr>
                        <a:t>+0.023</a:t>
                      </a:r>
                    </a:p>
                  </a:txBody>
                  <a:tcPr anchor="ctr">
                    <a:solidFill>
                      <a:srgbClr val="FFFFFF"/>
                    </a:solidFill>
                  </a:tcPr>
                </a:tc>
                <a:tc>
                  <a:txBody>
                    <a:bodyPr/>
                    <a:lstStyle/>
                    <a:p>
                      <a:pPr algn="ctr"/>
                      <a:r>
                        <a:rPr sz="1400">
                          <a:latin typeface="Aptos"/>
                        </a:rPr>
                        <a:t>ReadText: </a:t>
                      </a:r>
                      <a:r>
                        <a:rPr lang="en-US" sz="1400" b="0" i="0" u="none" strike="noStrike" noProof="0"/>
                        <a:t>σημαντική βελτίωση</a:t>
                      </a:r>
                      <a:endParaRPr sz="1400">
                        <a:latin typeface="Aptos" panose="020B0004020202020204" pitchFamily="34" charset="0"/>
                      </a:endParaRPr>
                    </a:p>
                  </a:txBody>
                  <a:tcPr anchor="ctr">
                    <a:solidFill>
                      <a:srgbClr val="FFFFFF"/>
                    </a:solidFill>
                  </a:tcPr>
                </a:tc>
                <a:extLst>
                  <a:ext uri="{0D108BD9-81ED-4DB2-BD59-A6C34878D82A}">
                    <a16:rowId xmlns:a16="http://schemas.microsoft.com/office/drawing/2014/main" val="10004"/>
                  </a:ext>
                </a:extLst>
              </a:tr>
              <a:tr h="393192">
                <a:tc>
                  <a:txBody>
                    <a:bodyPr/>
                    <a:lstStyle/>
                    <a:p>
                      <a:pPr algn="ctr">
                        <a:defRPr sz="1300">
                          <a:solidFill>
                            <a:srgbClr val="1A1A1A"/>
                          </a:solidFill>
                          <a:latin typeface="Calibri"/>
                        </a:defRPr>
                      </a:pPr>
                      <a:r>
                        <a:rPr sz="1400">
                          <a:latin typeface="Aptos" panose="020B0004020202020204" pitchFamily="34" charset="0"/>
                        </a:rPr>
                        <a:t>XGBoost</a:t>
                      </a:r>
                    </a:p>
                  </a:txBody>
                  <a:tcPr anchor="ctr">
                    <a:solidFill>
                      <a:srgbClr val="F2F2F2"/>
                    </a:solidFill>
                  </a:tcPr>
                </a:tc>
                <a:tc>
                  <a:txBody>
                    <a:bodyPr/>
                    <a:lstStyle/>
                    <a:p>
                      <a:pPr algn="ctr">
                        <a:defRPr sz="1300">
                          <a:solidFill>
                            <a:srgbClr val="1A1A1A"/>
                          </a:solidFill>
                          <a:latin typeface="Calibri"/>
                        </a:defRPr>
                      </a:pPr>
                      <a:r>
                        <a:rPr sz="1400">
                          <a:latin typeface="Aptos"/>
                        </a:rPr>
                        <a:t>+0.166</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−0.036</a:t>
                      </a:r>
                    </a:p>
                  </a:txBody>
                  <a:tcPr anchor="ctr">
                    <a:solidFill>
                      <a:srgbClr val="F2F2F2"/>
                    </a:solidFill>
                  </a:tcPr>
                </a:tc>
                <a:tc>
                  <a:txBody>
                    <a:bodyPr/>
                    <a:lstStyle/>
                    <a:p>
                      <a:pPr lvl="0" algn="ctr">
                        <a:buNone/>
                      </a:pPr>
                      <a:r>
                        <a:rPr lang="el-GR" sz="1400" b="0" i="0" u="none" strike="noStrike" noProof="0"/>
                        <a:t>Μικτή εικόνα</a:t>
                      </a:r>
                      <a:endParaRPr lang="en-US"/>
                    </a:p>
                  </a:txBody>
                  <a:tcPr anchor="ctr">
                    <a:solidFill>
                      <a:srgbClr val="F2F2F2"/>
                    </a:solidFill>
                  </a:tcPr>
                </a:tc>
                <a:extLst>
                  <a:ext uri="{0D108BD9-81ED-4DB2-BD59-A6C34878D82A}">
                    <a16:rowId xmlns:a16="http://schemas.microsoft.com/office/drawing/2014/main" val="10005"/>
                  </a:ext>
                </a:extLst>
              </a:tr>
            </a:tbl>
          </a:graphicData>
        </a:graphic>
      </p:graphicFrame>
      <p:sp>
        <p:nvSpPr>
          <p:cNvPr id="5" name="Rectangle 4">
            <a:extLst>
              <a:ext uri="{FF2B5EF4-FFF2-40B4-BE49-F238E27FC236}">
                <a16:creationId xmlns:a16="http://schemas.microsoft.com/office/drawing/2014/main" id="{42BFCD66-6B54-44F7-6E10-5572C4227623}"/>
              </a:ext>
            </a:extLst>
          </p:cNvPr>
          <p:cNvSpPr/>
          <p:nvPr/>
        </p:nvSpPr>
        <p:spPr>
          <a:xfrm>
            <a:off x="457200" y="4351132"/>
            <a:ext cx="11247120" cy="237744"/>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n-US" sz="800">
                <a:solidFill>
                  <a:schemeClr val="tx1"/>
                </a:solidFill>
                <a:ea typeface="+mn-lt"/>
                <a:cs typeface="+mn-lt"/>
              </a:rPr>
              <a:t>Πίνακας 6.3: Επίδραση αφαίρεσης/επέκτασης χαρακτηριστικών (feature ablation effect)</a:t>
            </a:r>
            <a:endParaRPr lang="en-US">
              <a:solidFill>
                <a:schemeClr val="tx1"/>
              </a:solidFill>
              <a:ea typeface="Calibri"/>
              <a:cs typeface="Calibri"/>
            </a:endParaRPr>
          </a:p>
        </p:txBody>
      </p:sp>
      <p:sp>
        <p:nvSpPr>
          <p:cNvPr id="6" name="Rectangle 5">
            <a:extLst>
              <a:ext uri="{FF2B5EF4-FFF2-40B4-BE49-F238E27FC236}">
                <a16:creationId xmlns:a16="http://schemas.microsoft.com/office/drawing/2014/main" id="{72A5216D-4F5C-649F-2E00-9C5A49ACE883}"/>
              </a:ext>
            </a:extLst>
          </p:cNvPr>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itle 8">
            <a:extLst>
              <a:ext uri="{FF2B5EF4-FFF2-40B4-BE49-F238E27FC236}">
                <a16:creationId xmlns:a16="http://schemas.microsoft.com/office/drawing/2014/main" id="{12E3A94D-FECB-A383-E4F4-211FB8826DFD}"/>
              </a:ext>
            </a:extLst>
          </p:cNvPr>
          <p:cNvSpPr>
            <a:spLocks noGrp="1"/>
          </p:cNvSpPr>
          <p:nvPr>
            <p:ph type="title"/>
          </p:nvPr>
        </p:nvSpPr>
        <p:spPr>
          <a:xfrm>
            <a:off x="0" y="0"/>
            <a:ext cx="12192000" cy="900000"/>
          </a:xfrm>
        </p:spPr>
        <p:txBody>
          <a:bodyPr>
            <a:normAutofit/>
          </a:bodyPr>
          <a:lstStyle/>
          <a:p>
            <a:r>
              <a:rPr lang="en-GB">
                <a:latin typeface="Aptos"/>
              </a:rPr>
              <a:t>RQ2 – </a:t>
            </a:r>
            <a:r>
              <a:rPr lang="en-GB" err="1">
                <a:latin typeface="Aptos"/>
              </a:rPr>
              <a:t>Βελτιώνει</a:t>
            </a:r>
            <a:r>
              <a:rPr lang="en-GB">
                <a:latin typeface="Aptos"/>
              </a:rPr>
              <a:t> η επ</a:t>
            </a:r>
            <a:r>
              <a:rPr lang="en-GB" err="1">
                <a:latin typeface="Aptos"/>
              </a:rPr>
              <a:t>έκτ</a:t>
            </a:r>
            <a:r>
              <a:rPr lang="en-GB">
                <a:latin typeface="Aptos"/>
              </a:rPr>
              <a:t>α</a:t>
            </a:r>
            <a:r>
              <a:rPr lang="en-GB" err="1">
                <a:latin typeface="Aptos"/>
              </a:rPr>
              <a:t>ση</a:t>
            </a:r>
            <a:r>
              <a:rPr lang="en-GB">
                <a:latin typeface="Aptos"/>
              </a:rPr>
              <a:t> χαρα</a:t>
            </a:r>
            <a:r>
              <a:rPr lang="en-GB" err="1">
                <a:latin typeface="Aptos"/>
              </a:rPr>
              <a:t>κτηριστικών</a:t>
            </a:r>
            <a:r>
              <a:rPr lang="en-GB">
                <a:latin typeface="Aptos"/>
              </a:rPr>
              <a:t> </a:t>
            </a:r>
            <a:r>
              <a:rPr lang="en-GB" err="1">
                <a:latin typeface="Aptos"/>
              </a:rPr>
              <a:t>την</a:t>
            </a:r>
            <a:r>
              <a:rPr lang="en-GB">
                <a:latin typeface="Aptos"/>
              </a:rPr>
              <a:t> απ</a:t>
            </a:r>
            <a:r>
              <a:rPr lang="en-GB" err="1">
                <a:latin typeface="Aptos"/>
              </a:rPr>
              <a:t>όδοση</a:t>
            </a:r>
            <a:r>
              <a:rPr lang="en-GB">
                <a:latin typeface="Aptos"/>
              </a:rPr>
              <a:t>;</a:t>
            </a:r>
            <a:endParaRPr lang="en-US">
              <a:latin typeface="Aptos"/>
            </a:endParaRPr>
          </a:p>
        </p:txBody>
      </p:sp>
      <p:sp>
        <p:nvSpPr>
          <p:cNvPr id="7" name="TextBox 6">
            <a:extLst>
              <a:ext uri="{FF2B5EF4-FFF2-40B4-BE49-F238E27FC236}">
                <a16:creationId xmlns:a16="http://schemas.microsoft.com/office/drawing/2014/main" id="{3549E311-CDBB-2933-816F-8F855FD23067}"/>
              </a:ext>
            </a:extLst>
          </p:cNvPr>
          <p:cNvSpPr txBox="1"/>
          <p:nvPr/>
        </p:nvSpPr>
        <p:spPr>
          <a:xfrm>
            <a:off x="475561" y="5405336"/>
            <a:ext cx="11247120" cy="584775"/>
          </a:xfrm>
          <a:prstGeom prst="rect">
            <a:avLst/>
          </a:prstGeom>
          <a:noFill/>
        </p:spPr>
        <p:txBody>
          <a:bodyPr wrap="square" lIns="91440" tIns="45720" rIns="91440" bIns="45720" anchor="t">
            <a:spAutoFit/>
          </a:bodyPr>
          <a:lstStyle/>
          <a:p>
            <a:pPr algn="ctr">
              <a:defRPr sz="1600" b="1">
                <a:solidFill>
                  <a:srgbClr val="E86C00"/>
                </a:solidFill>
                <a:latin typeface="Calibri"/>
              </a:defRPr>
            </a:pPr>
            <a:r>
              <a:rPr lang="en-US" sz="1600" err="1">
                <a:solidFill>
                  <a:srgbClr val="E86C00"/>
                </a:solidFill>
                <a:ea typeface="+mn-lt"/>
                <a:cs typeface="+mn-lt"/>
              </a:rPr>
              <a:t>Συμ</a:t>
            </a:r>
            <a:r>
              <a:rPr lang="en-US" sz="1600">
                <a:solidFill>
                  <a:srgbClr val="E86C00"/>
                </a:solidFill>
                <a:ea typeface="+mn-lt"/>
                <a:cs typeface="+mn-lt"/>
              </a:rPr>
              <a:t>π</a:t>
            </a:r>
            <a:r>
              <a:rPr lang="en-US" sz="1600" err="1">
                <a:solidFill>
                  <a:srgbClr val="E86C00"/>
                </a:solidFill>
                <a:ea typeface="+mn-lt"/>
                <a:cs typeface="+mn-lt"/>
              </a:rPr>
              <a:t>έρ</a:t>
            </a:r>
            <a:r>
              <a:rPr lang="en-US" sz="1600">
                <a:solidFill>
                  <a:srgbClr val="E86C00"/>
                </a:solidFill>
                <a:ea typeface="+mn-lt"/>
                <a:cs typeface="+mn-lt"/>
              </a:rPr>
              <a:t>α</a:t>
            </a:r>
            <a:r>
              <a:rPr lang="en-US" sz="1600" err="1">
                <a:solidFill>
                  <a:srgbClr val="E86C00"/>
                </a:solidFill>
                <a:ea typeface="+mn-lt"/>
                <a:cs typeface="+mn-lt"/>
              </a:rPr>
              <a:t>σμ</a:t>
            </a:r>
            <a:r>
              <a:rPr lang="en-US">
                <a:ea typeface="+mn-lt"/>
                <a:cs typeface="+mn-lt"/>
              </a:rPr>
              <a:t>α RQ2: </a:t>
            </a:r>
            <a:r>
              <a:rPr lang="en-US">
                <a:solidFill>
                  <a:srgbClr val="002B5C"/>
                </a:solidFill>
                <a:ea typeface="+mn-lt"/>
                <a:cs typeface="+mn-lt"/>
              </a:rPr>
              <a:t>Ναι, </a:t>
            </a:r>
            <a:r>
              <a:rPr lang="en-US" err="1">
                <a:solidFill>
                  <a:srgbClr val="002B5C"/>
                </a:solidFill>
                <a:ea typeface="+mn-lt"/>
                <a:cs typeface="+mn-lt"/>
              </a:rPr>
              <a:t>κυρίως</a:t>
            </a:r>
            <a:r>
              <a:rPr lang="en-US">
                <a:solidFill>
                  <a:srgbClr val="002B5C"/>
                </a:solidFill>
                <a:ea typeface="+mn-lt"/>
                <a:cs typeface="+mn-lt"/>
              </a:rPr>
              <a:t> </a:t>
            </a:r>
            <a:r>
              <a:rPr lang="en-US" err="1">
                <a:solidFill>
                  <a:srgbClr val="002B5C"/>
                </a:solidFill>
                <a:ea typeface="+mn-lt"/>
                <a:cs typeface="+mn-lt"/>
              </a:rPr>
              <a:t>στο</a:t>
            </a:r>
            <a:r>
              <a:rPr lang="en-US">
                <a:solidFill>
                  <a:srgbClr val="002B5C"/>
                </a:solidFill>
                <a:ea typeface="+mn-lt"/>
                <a:cs typeface="+mn-lt"/>
              </a:rPr>
              <a:t> </a:t>
            </a:r>
            <a:r>
              <a:rPr lang="en-US" err="1">
                <a:solidFill>
                  <a:srgbClr val="002B5C"/>
                </a:solidFill>
                <a:ea typeface="+mn-lt"/>
                <a:cs typeface="+mn-lt"/>
              </a:rPr>
              <a:t>ReadText</a:t>
            </a:r>
            <a:r>
              <a:rPr lang="en-US">
                <a:solidFill>
                  <a:srgbClr val="002B5C"/>
                </a:solidFill>
                <a:ea typeface="+mn-lt"/>
                <a:cs typeface="+mn-lt"/>
              </a:rPr>
              <a:t>, </a:t>
            </a:r>
            <a:br>
              <a:rPr lang="en-US">
                <a:ea typeface="+mn-lt"/>
                <a:cs typeface="+mn-lt"/>
              </a:rPr>
            </a:br>
            <a:r>
              <a:rPr lang="en-US">
                <a:solidFill>
                  <a:srgbClr val="002B5C"/>
                </a:solidFill>
                <a:ea typeface="+mn-lt"/>
                <a:cs typeface="+mn-lt"/>
              </a:rPr>
              <a:t>α</a:t>
            </a:r>
            <a:r>
              <a:rPr lang="en-US" err="1">
                <a:solidFill>
                  <a:srgbClr val="002B5C"/>
                </a:solidFill>
                <a:ea typeface="+mn-lt"/>
                <a:cs typeface="+mn-lt"/>
              </a:rPr>
              <a:t>λλά</a:t>
            </a:r>
            <a:r>
              <a:rPr lang="en-US">
                <a:solidFill>
                  <a:srgbClr val="002B5C"/>
                </a:solidFill>
                <a:ea typeface="+mn-lt"/>
                <a:cs typeface="+mn-lt"/>
              </a:rPr>
              <a:t> η επ</a:t>
            </a:r>
            <a:r>
              <a:rPr lang="en-US" err="1">
                <a:solidFill>
                  <a:srgbClr val="002B5C"/>
                </a:solidFill>
                <a:ea typeface="+mn-lt"/>
                <a:cs typeface="+mn-lt"/>
              </a:rPr>
              <a:t>έκτ</a:t>
            </a:r>
            <a:r>
              <a:rPr lang="en-US">
                <a:solidFill>
                  <a:srgbClr val="002B5C"/>
                </a:solidFill>
                <a:ea typeface="+mn-lt"/>
                <a:cs typeface="+mn-lt"/>
              </a:rPr>
              <a:t>α</a:t>
            </a:r>
            <a:r>
              <a:rPr lang="en-US" err="1">
                <a:solidFill>
                  <a:srgbClr val="002B5C"/>
                </a:solidFill>
                <a:ea typeface="+mn-lt"/>
                <a:cs typeface="+mn-lt"/>
              </a:rPr>
              <a:t>ση</a:t>
            </a:r>
            <a:r>
              <a:rPr lang="en-US">
                <a:solidFill>
                  <a:srgbClr val="002B5C"/>
                </a:solidFill>
                <a:ea typeface="+mn-lt"/>
                <a:cs typeface="+mn-lt"/>
              </a:rPr>
              <a:t> χαρα</a:t>
            </a:r>
            <a:r>
              <a:rPr lang="en-US" err="1">
                <a:solidFill>
                  <a:srgbClr val="002B5C"/>
                </a:solidFill>
                <a:ea typeface="+mn-lt"/>
                <a:cs typeface="+mn-lt"/>
              </a:rPr>
              <a:t>κτηριστικών</a:t>
            </a:r>
            <a:r>
              <a:rPr lang="en-US">
                <a:solidFill>
                  <a:srgbClr val="002B5C"/>
                </a:solidFill>
                <a:ea typeface="+mn-lt"/>
                <a:cs typeface="+mn-lt"/>
              </a:rPr>
              <a:t> </a:t>
            </a:r>
            <a:r>
              <a:rPr lang="en-US" err="1">
                <a:solidFill>
                  <a:srgbClr val="002B5C"/>
                </a:solidFill>
                <a:ea typeface="+mn-lt"/>
                <a:cs typeface="+mn-lt"/>
              </a:rPr>
              <a:t>εξ</a:t>
            </a:r>
            <a:r>
              <a:rPr lang="en-US">
                <a:solidFill>
                  <a:srgbClr val="002B5C"/>
                </a:solidFill>
                <a:ea typeface="+mn-lt"/>
                <a:cs typeface="+mn-lt"/>
              </a:rPr>
              <a:t>α</a:t>
            </a:r>
            <a:r>
              <a:rPr lang="en-US" err="1">
                <a:solidFill>
                  <a:srgbClr val="002B5C"/>
                </a:solidFill>
                <a:ea typeface="+mn-lt"/>
                <a:cs typeface="+mn-lt"/>
              </a:rPr>
              <a:t>ρτάτ</a:t>
            </a:r>
            <a:r>
              <a:rPr lang="en-US">
                <a:solidFill>
                  <a:srgbClr val="002B5C"/>
                </a:solidFill>
                <a:ea typeface="+mn-lt"/>
                <a:cs typeface="+mn-lt"/>
              </a:rPr>
              <a:t>αι από </a:t>
            </a:r>
            <a:r>
              <a:rPr lang="en-US" err="1">
                <a:solidFill>
                  <a:srgbClr val="002B5C"/>
                </a:solidFill>
                <a:ea typeface="+mn-lt"/>
                <a:cs typeface="+mn-lt"/>
              </a:rPr>
              <a:t>το</a:t>
            </a:r>
            <a:r>
              <a:rPr lang="en-US">
                <a:solidFill>
                  <a:srgbClr val="002B5C"/>
                </a:solidFill>
                <a:ea typeface="+mn-lt"/>
                <a:cs typeface="+mn-lt"/>
              </a:rPr>
              <a:t> </a:t>
            </a:r>
            <a:r>
              <a:rPr lang="en-US" err="1">
                <a:solidFill>
                  <a:srgbClr val="002B5C"/>
                </a:solidFill>
                <a:ea typeface="+mn-lt"/>
                <a:cs typeface="+mn-lt"/>
              </a:rPr>
              <a:t>είδος</a:t>
            </a:r>
            <a:r>
              <a:rPr lang="en-US">
                <a:solidFill>
                  <a:srgbClr val="002B5C"/>
                </a:solidFill>
                <a:ea typeface="+mn-lt"/>
                <a:cs typeface="+mn-lt"/>
              </a:rPr>
              <a:t> </a:t>
            </a:r>
            <a:r>
              <a:rPr lang="en-US" err="1">
                <a:solidFill>
                  <a:srgbClr val="002B5C"/>
                </a:solidFill>
                <a:ea typeface="+mn-lt"/>
                <a:cs typeface="+mn-lt"/>
              </a:rPr>
              <a:t>της</a:t>
            </a:r>
            <a:r>
              <a:rPr lang="en-US">
                <a:solidFill>
                  <a:srgbClr val="002B5C"/>
                </a:solidFill>
                <a:ea typeface="+mn-lt"/>
                <a:cs typeface="+mn-lt"/>
              </a:rPr>
              <a:t> </a:t>
            </a:r>
            <a:r>
              <a:rPr lang="en-US" err="1">
                <a:solidFill>
                  <a:srgbClr val="002B5C"/>
                </a:solidFill>
                <a:ea typeface="+mn-lt"/>
                <a:cs typeface="+mn-lt"/>
              </a:rPr>
              <a:t>ομιλί</a:t>
            </a:r>
            <a:r>
              <a:rPr lang="en-US">
                <a:solidFill>
                  <a:srgbClr val="002B5C"/>
                </a:solidFill>
                <a:ea typeface="+mn-lt"/>
                <a:cs typeface="+mn-lt"/>
              </a:rPr>
              <a:t>ας και </a:t>
            </a:r>
            <a:r>
              <a:rPr lang="en-US" i="1" u="sng" err="1">
                <a:solidFill>
                  <a:srgbClr val="002B5C"/>
                </a:solidFill>
                <a:ea typeface="+mn-lt"/>
                <a:cs typeface="+mn-lt"/>
              </a:rPr>
              <a:t>δεν</a:t>
            </a:r>
            <a:r>
              <a:rPr lang="en-US" i="1" u="sng">
                <a:solidFill>
                  <a:srgbClr val="002B5C"/>
                </a:solidFill>
                <a:ea typeface="+mn-lt"/>
                <a:cs typeface="+mn-lt"/>
              </a:rPr>
              <a:t> </a:t>
            </a:r>
            <a:r>
              <a:rPr lang="en-US" i="1" u="sng" err="1">
                <a:solidFill>
                  <a:srgbClr val="002B5C"/>
                </a:solidFill>
                <a:ea typeface="+mn-lt"/>
                <a:cs typeface="+mn-lt"/>
              </a:rPr>
              <a:t>είν</a:t>
            </a:r>
            <a:r>
              <a:rPr lang="en-US" i="1" u="sng">
                <a:solidFill>
                  <a:srgbClr val="002B5C"/>
                </a:solidFill>
                <a:ea typeface="+mn-lt"/>
                <a:cs typeface="+mn-lt"/>
              </a:rPr>
              <a:t>αι </a:t>
            </a:r>
            <a:r>
              <a:rPr lang="el-GR" i="1" u="sng">
                <a:solidFill>
                  <a:srgbClr val="002B5C"/>
                </a:solidFill>
                <a:latin typeface="Aptos"/>
                <a:ea typeface="+mn-lt"/>
                <a:cs typeface="+mn-lt"/>
              </a:rPr>
              <a:t>καθολική</a:t>
            </a:r>
            <a:r>
              <a:rPr lang="el-GR">
                <a:solidFill>
                  <a:srgbClr val="002B5C"/>
                </a:solidFill>
                <a:latin typeface="Aptos"/>
                <a:ea typeface="+mn-lt"/>
                <a:cs typeface="+mn-lt"/>
              </a:rPr>
              <a:t>.</a:t>
            </a:r>
            <a:r>
              <a:rPr lang="en-US">
                <a:solidFill>
                  <a:srgbClr val="002B5C"/>
                </a:solidFill>
                <a:latin typeface="Aptos"/>
                <a:ea typeface="+mn-lt"/>
                <a:cs typeface="+mn-lt"/>
              </a:rPr>
              <a:t> </a:t>
            </a:r>
          </a:p>
        </p:txBody>
      </p:sp>
    </p:spTree>
    <p:extLst>
      <p:ext uri="{BB962C8B-B14F-4D97-AF65-F5344CB8AC3E}">
        <p14:creationId xmlns:p14="http://schemas.microsoft.com/office/powerpoint/2010/main" val="4012382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2835129"/>
              </p:ext>
            </p:extLst>
          </p:nvPr>
        </p:nvGraphicFramePr>
        <p:xfrm>
          <a:off x="449855" y="2028939"/>
          <a:ext cx="11257144" cy="2803429"/>
        </p:xfrm>
        <a:graphic>
          <a:graphicData uri="http://schemas.openxmlformats.org/drawingml/2006/table">
            <a:tbl>
              <a:tblPr firstRow="1" bandRow="1">
                <a:tableStyleId>{5C22544A-7EE6-4342-B048-85BDC9FD1C3A}</a:tableStyleId>
              </a:tblPr>
              <a:tblGrid>
                <a:gridCol w="4221429">
                  <a:extLst>
                    <a:ext uri="{9D8B030D-6E8A-4147-A177-3AD203B41FA5}">
                      <a16:colId xmlns:a16="http://schemas.microsoft.com/office/drawing/2014/main" val="20000"/>
                    </a:ext>
                  </a:extLst>
                </a:gridCol>
                <a:gridCol w="4221429">
                  <a:extLst>
                    <a:ext uri="{9D8B030D-6E8A-4147-A177-3AD203B41FA5}">
                      <a16:colId xmlns:a16="http://schemas.microsoft.com/office/drawing/2014/main" val="20001"/>
                    </a:ext>
                  </a:extLst>
                </a:gridCol>
                <a:gridCol w="2814286">
                  <a:extLst>
                    <a:ext uri="{9D8B030D-6E8A-4147-A177-3AD203B41FA5}">
                      <a16:colId xmlns:a16="http://schemas.microsoft.com/office/drawing/2014/main" val="20002"/>
                    </a:ext>
                  </a:extLst>
                </a:gridCol>
              </a:tblGrid>
              <a:tr h="700857">
                <a:tc>
                  <a:txBody>
                    <a:bodyPr/>
                    <a:lstStyle/>
                    <a:p>
                      <a:pPr algn="ctr">
                        <a:defRPr sz="1400" b="1">
                          <a:solidFill>
                            <a:srgbClr val="FFFFFF"/>
                          </a:solidFill>
                          <a:latin typeface="Calibri"/>
                        </a:defRPr>
                      </a:pPr>
                      <a:r>
                        <a:rPr sz="1800">
                          <a:latin typeface="Aptos"/>
                        </a:rPr>
                        <a:t>Task / Features</a:t>
                      </a:r>
                    </a:p>
                  </a:txBody>
                  <a:tcPr anchor="ctr">
                    <a:solidFill>
                      <a:srgbClr val="002B5C"/>
                    </a:solidFill>
                  </a:tcPr>
                </a:tc>
                <a:tc>
                  <a:txBody>
                    <a:bodyPr/>
                    <a:lstStyle/>
                    <a:p>
                      <a:pPr algn="ctr">
                        <a:defRPr sz="1400" b="1">
                          <a:solidFill>
                            <a:srgbClr val="FFFFFF"/>
                          </a:solidFill>
                          <a:latin typeface="Calibri"/>
                        </a:defRPr>
                      </a:pPr>
                      <a:r>
                        <a:rPr sz="1800">
                          <a:latin typeface="Aptos"/>
                        </a:rPr>
                        <a:t>Δ ROC-AUC (Weighted − Unweighted)</a:t>
                      </a:r>
                    </a:p>
                  </a:txBody>
                  <a:tcPr anchor="ctr">
                    <a:solidFill>
                      <a:srgbClr val="002B5C"/>
                    </a:solidFill>
                  </a:tcPr>
                </a:tc>
                <a:tc>
                  <a:txBody>
                    <a:bodyPr/>
                    <a:lstStyle/>
                    <a:p>
                      <a:pPr lvl="0" algn="ctr">
                        <a:buNone/>
                        <a:defRPr sz="1400" b="1">
                          <a:solidFill>
                            <a:srgbClr val="FFFFFF"/>
                          </a:solidFill>
                          <a:latin typeface="Calibri"/>
                        </a:defRPr>
                      </a:pPr>
                      <a:r>
                        <a:rPr lang="en-US" sz="1800" b="1" i="0" u="none" strike="noStrike" noProof="0" err="1">
                          <a:latin typeface="Aptos"/>
                        </a:rPr>
                        <a:t>Ετυμηγορί</a:t>
                      </a:r>
                      <a:r>
                        <a:rPr lang="en-US" sz="1800" b="1" i="0" u="none" strike="noStrike" noProof="0">
                          <a:latin typeface="Aptos"/>
                        </a:rPr>
                        <a:t>α</a:t>
                      </a:r>
                      <a:endParaRPr sz="1800" b="1">
                        <a:latin typeface="Aptos"/>
                      </a:endParaRPr>
                    </a:p>
                  </a:txBody>
                  <a:tcPr anchor="ctr">
                    <a:solidFill>
                      <a:srgbClr val="002B5C"/>
                    </a:solidFill>
                  </a:tcPr>
                </a:tc>
                <a:extLst>
                  <a:ext uri="{0D108BD9-81ED-4DB2-BD59-A6C34878D82A}">
                    <a16:rowId xmlns:a16="http://schemas.microsoft.com/office/drawing/2014/main" val="10000"/>
                  </a:ext>
                </a:extLst>
              </a:tr>
              <a:tr h="525643">
                <a:tc>
                  <a:txBody>
                    <a:bodyPr/>
                    <a:lstStyle/>
                    <a:p>
                      <a:pPr algn="ctr">
                        <a:defRPr sz="1300">
                          <a:solidFill>
                            <a:srgbClr val="1A1A1A"/>
                          </a:solidFill>
                          <a:latin typeface="Calibri"/>
                        </a:defRPr>
                      </a:pPr>
                      <a:r>
                        <a:rPr sz="1400" b="1" err="1">
                          <a:solidFill>
                            <a:srgbClr val="E86C00"/>
                          </a:solidFill>
                          <a:latin typeface="Aptos"/>
                        </a:rPr>
                        <a:t>ReadText</a:t>
                      </a:r>
                      <a:r>
                        <a:rPr sz="1400" b="1">
                          <a:solidFill>
                            <a:srgbClr val="E86C00"/>
                          </a:solidFill>
                          <a:latin typeface="Aptos"/>
                        </a:rPr>
                        <a:t> / Baseline (47)</a:t>
                      </a:r>
                    </a:p>
                  </a:txBody>
                  <a:tcPr anchor="ctr">
                    <a:solidFill>
                      <a:srgbClr val="F2F2F2"/>
                    </a:solidFill>
                  </a:tcPr>
                </a:tc>
                <a:tc>
                  <a:txBody>
                    <a:bodyPr/>
                    <a:lstStyle/>
                    <a:p>
                      <a:pPr algn="ctr">
                        <a:defRPr sz="1300" b="1">
                          <a:solidFill>
                            <a:srgbClr val="E86C00"/>
                          </a:solidFill>
                          <a:latin typeface="Calibri"/>
                        </a:defRPr>
                      </a:pPr>
                      <a:r>
                        <a:rPr sz="1400" b="1">
                          <a:latin typeface="Aptos"/>
                        </a:rPr>
                        <a:t>+0.097</a:t>
                      </a:r>
                    </a:p>
                  </a:txBody>
                  <a:tcPr anchor="ctr">
                    <a:solidFill>
                      <a:srgbClr val="F2F2F2"/>
                    </a:solidFill>
                  </a:tcPr>
                </a:tc>
                <a:tc>
                  <a:txBody>
                    <a:bodyPr/>
                    <a:lstStyle/>
                    <a:p>
                      <a:pPr lvl="0" algn="ctr">
                        <a:buNone/>
                      </a:pPr>
                      <a:r>
                        <a:rPr lang="en-US" sz="1400" b="1" i="0" u="none" strike="noStrike" noProof="0" err="1">
                          <a:latin typeface="Aptos"/>
                        </a:rPr>
                        <a:t>Όφελος</a:t>
                      </a:r>
                      <a:r>
                        <a:rPr lang="en-US" sz="1400" b="1" i="0" u="none" strike="noStrike" noProof="0">
                          <a:latin typeface="Aptos"/>
                        </a:rPr>
                        <a:t> </a:t>
                      </a:r>
                      <a:r>
                        <a:rPr lang="en-US" sz="1400" b="1" i="0" u="none" strike="noStrike" noProof="0" err="1">
                          <a:latin typeface="Aptos"/>
                        </a:rPr>
                        <a:t>μόνο</a:t>
                      </a:r>
                      <a:r>
                        <a:rPr lang="en-US" sz="1400" b="1" i="0" u="none" strike="noStrike" noProof="0">
                          <a:latin typeface="Aptos"/>
                        </a:rPr>
                        <a:t> </a:t>
                      </a:r>
                      <a:r>
                        <a:rPr lang="en-US" sz="1400" b="1" i="0" u="none" strike="noStrike" noProof="0" err="1">
                          <a:latin typeface="Aptos"/>
                        </a:rPr>
                        <a:t>εδώ</a:t>
                      </a:r>
                      <a:endParaRPr sz="1400" b="1" i="0" u="none" strike="noStrike" noProof="0" err="1">
                        <a:latin typeface="Aptos"/>
                      </a:endParaRPr>
                    </a:p>
                  </a:txBody>
                  <a:tcPr anchor="ctr">
                    <a:solidFill>
                      <a:srgbClr val="F2F2F2"/>
                    </a:solidFill>
                  </a:tcPr>
                </a:tc>
                <a:extLst>
                  <a:ext uri="{0D108BD9-81ED-4DB2-BD59-A6C34878D82A}">
                    <a16:rowId xmlns:a16="http://schemas.microsoft.com/office/drawing/2014/main" val="10001"/>
                  </a:ext>
                </a:extLst>
              </a:tr>
              <a:tr h="525643">
                <a:tc>
                  <a:txBody>
                    <a:bodyPr/>
                    <a:lstStyle/>
                    <a:p>
                      <a:pPr algn="ctr">
                        <a:defRPr sz="1300">
                          <a:solidFill>
                            <a:srgbClr val="1A1A1A"/>
                          </a:solidFill>
                          <a:latin typeface="Calibri"/>
                        </a:defRPr>
                      </a:pPr>
                      <a:r>
                        <a:rPr sz="1400" err="1">
                          <a:latin typeface="Aptos"/>
                        </a:rPr>
                        <a:t>ReadText</a:t>
                      </a:r>
                      <a:r>
                        <a:rPr sz="1400">
                          <a:latin typeface="Aptos"/>
                        </a:rPr>
                        <a:t> / Extended (78)</a:t>
                      </a:r>
                    </a:p>
                  </a:txBody>
                  <a:tcPr anchor="ctr">
                    <a:solidFill>
                      <a:srgbClr val="FFFFFF"/>
                    </a:solidFill>
                  </a:tcPr>
                </a:tc>
                <a:tc>
                  <a:txBody>
                    <a:bodyPr/>
                    <a:lstStyle/>
                    <a:p>
                      <a:pPr algn="ctr">
                        <a:defRPr sz="1300">
                          <a:solidFill>
                            <a:srgbClr val="1A1A1A"/>
                          </a:solidFill>
                          <a:latin typeface="Calibri"/>
                        </a:defRPr>
                      </a:pPr>
                      <a:r>
                        <a:rPr sz="1400">
                          <a:latin typeface="Aptos"/>
                        </a:rPr>
                        <a:t>−0.017</a:t>
                      </a:r>
                    </a:p>
                  </a:txBody>
                  <a:tcPr anchor="ctr">
                    <a:solidFill>
                      <a:srgbClr val="FFFFFF"/>
                    </a:solidFill>
                  </a:tcPr>
                </a:tc>
                <a:tc>
                  <a:txBody>
                    <a:bodyPr/>
                    <a:lstStyle/>
                    <a:p>
                      <a:pPr lvl="0" algn="ctr">
                        <a:buNone/>
                      </a:pPr>
                      <a:r>
                        <a:rPr lang="en-US" sz="1400" b="0" i="0" u="none" strike="noStrike" noProof="0" err="1">
                          <a:latin typeface="Aptos"/>
                        </a:rPr>
                        <a:t>Ελ</a:t>
                      </a:r>
                      <a:r>
                        <a:rPr lang="en-US" sz="1400" b="0" i="0" u="none" strike="noStrike" noProof="0">
                          <a:latin typeface="Aptos"/>
                        </a:rPr>
                        <a:t>α</a:t>
                      </a:r>
                      <a:r>
                        <a:rPr lang="en-US" sz="1400" b="0" i="0" u="none" strike="noStrike" noProof="0" err="1">
                          <a:latin typeface="Aptos"/>
                        </a:rPr>
                        <a:t>φρώς</a:t>
                      </a:r>
                      <a:r>
                        <a:rPr lang="en-US" sz="1400" b="0" i="0" u="none" strike="noStrike" noProof="0">
                          <a:latin typeface="Aptos"/>
                        </a:rPr>
                        <a:t> επ</a:t>
                      </a:r>
                      <a:r>
                        <a:rPr lang="en-US" sz="1400" b="0" i="0" u="none" strike="noStrike" noProof="0" err="1">
                          <a:latin typeface="Aptos"/>
                        </a:rPr>
                        <a:t>ιζήμιο</a:t>
                      </a:r>
                      <a:endParaRPr sz="1400">
                        <a:latin typeface="Aptos"/>
                      </a:endParaRPr>
                    </a:p>
                  </a:txBody>
                  <a:tcPr anchor="ctr">
                    <a:solidFill>
                      <a:srgbClr val="FFFFFF"/>
                    </a:solidFill>
                  </a:tcPr>
                </a:tc>
                <a:extLst>
                  <a:ext uri="{0D108BD9-81ED-4DB2-BD59-A6C34878D82A}">
                    <a16:rowId xmlns:a16="http://schemas.microsoft.com/office/drawing/2014/main" val="10002"/>
                  </a:ext>
                </a:extLst>
              </a:tr>
              <a:tr h="525643">
                <a:tc>
                  <a:txBody>
                    <a:bodyPr/>
                    <a:lstStyle/>
                    <a:p>
                      <a:pPr algn="ctr">
                        <a:defRPr sz="1300">
                          <a:solidFill>
                            <a:srgbClr val="1A1A1A"/>
                          </a:solidFill>
                          <a:latin typeface="Calibri"/>
                        </a:defRPr>
                      </a:pPr>
                      <a:r>
                        <a:rPr sz="1400">
                          <a:latin typeface="Aptos"/>
                        </a:rPr>
                        <a:t>Spontaneous / Baseline (47)</a:t>
                      </a:r>
                    </a:p>
                  </a:txBody>
                  <a:tcPr anchor="ctr">
                    <a:solidFill>
                      <a:srgbClr val="F2F2F2"/>
                    </a:solidFill>
                  </a:tcPr>
                </a:tc>
                <a:tc>
                  <a:txBody>
                    <a:bodyPr/>
                    <a:lstStyle/>
                    <a:p>
                      <a:pPr algn="ctr">
                        <a:defRPr sz="1300">
                          <a:solidFill>
                            <a:srgbClr val="1A1A1A"/>
                          </a:solidFill>
                          <a:latin typeface="Calibri"/>
                        </a:defRPr>
                      </a:pPr>
                      <a:r>
                        <a:rPr sz="1400">
                          <a:latin typeface="Aptos"/>
                        </a:rPr>
                        <a:t>−0.001</a:t>
                      </a:r>
                    </a:p>
                  </a:txBody>
                  <a:tcPr anchor="ctr">
                    <a:solidFill>
                      <a:srgbClr val="F2F2F2"/>
                    </a:solidFill>
                  </a:tcPr>
                </a:tc>
                <a:tc>
                  <a:txBody>
                    <a:bodyPr/>
                    <a:lstStyle/>
                    <a:p>
                      <a:pPr lvl="0" algn="ctr">
                        <a:buNone/>
                      </a:pPr>
                      <a:r>
                        <a:rPr lang="en-US" sz="1400" b="0" i="0" u="none" strike="noStrike" noProof="0">
                          <a:latin typeface="Aptos"/>
                        </a:rPr>
                        <a:t>Κα</a:t>
                      </a:r>
                      <a:r>
                        <a:rPr lang="en-US" sz="1400" b="0" i="0" u="none" strike="noStrike" noProof="0" err="1">
                          <a:latin typeface="Aptos"/>
                        </a:rPr>
                        <a:t>μί</a:t>
                      </a:r>
                      <a:r>
                        <a:rPr lang="en-US" sz="1400" b="0" i="0" u="none" strike="noStrike" noProof="0">
                          <a:latin typeface="Aptos"/>
                        </a:rPr>
                        <a:t>α επ</a:t>
                      </a:r>
                      <a:r>
                        <a:rPr lang="en-US" sz="1400" b="0" i="0" u="none" strike="noStrike" noProof="0" err="1">
                          <a:latin typeface="Aptos"/>
                        </a:rPr>
                        <a:t>ίδρ</a:t>
                      </a:r>
                      <a:r>
                        <a:rPr lang="en-US" sz="1400" b="0" i="0" u="none" strike="noStrike" noProof="0">
                          <a:latin typeface="Aptos"/>
                        </a:rPr>
                        <a:t>α</a:t>
                      </a:r>
                      <a:r>
                        <a:rPr lang="en-US" sz="1400" b="0" i="0" u="none" strike="noStrike" noProof="0" err="1">
                          <a:latin typeface="Aptos"/>
                        </a:rPr>
                        <a:t>ση</a:t>
                      </a:r>
                      <a:endParaRPr sz="1400">
                        <a:latin typeface="Aptos"/>
                      </a:endParaRPr>
                    </a:p>
                  </a:txBody>
                  <a:tcPr anchor="ctr">
                    <a:solidFill>
                      <a:srgbClr val="F2F2F2"/>
                    </a:solidFill>
                  </a:tcPr>
                </a:tc>
                <a:extLst>
                  <a:ext uri="{0D108BD9-81ED-4DB2-BD59-A6C34878D82A}">
                    <a16:rowId xmlns:a16="http://schemas.microsoft.com/office/drawing/2014/main" val="10003"/>
                  </a:ext>
                </a:extLst>
              </a:tr>
              <a:tr h="525643">
                <a:tc>
                  <a:txBody>
                    <a:bodyPr/>
                    <a:lstStyle/>
                    <a:p>
                      <a:pPr algn="ctr">
                        <a:defRPr sz="1300">
                          <a:solidFill>
                            <a:srgbClr val="1A1A1A"/>
                          </a:solidFill>
                          <a:latin typeface="Calibri"/>
                        </a:defRPr>
                      </a:pPr>
                      <a:r>
                        <a:rPr sz="1400">
                          <a:latin typeface="Aptos"/>
                        </a:rPr>
                        <a:t>Spontaneous / Extended (78)</a:t>
                      </a:r>
                    </a:p>
                  </a:txBody>
                  <a:tcPr anchor="ctr">
                    <a:solidFill>
                      <a:srgbClr val="FFFFFF"/>
                    </a:solidFill>
                  </a:tcPr>
                </a:tc>
                <a:tc>
                  <a:txBody>
                    <a:bodyPr/>
                    <a:lstStyle/>
                    <a:p>
                      <a:pPr algn="ctr">
                        <a:defRPr sz="1300">
                          <a:solidFill>
                            <a:srgbClr val="1A1A1A"/>
                          </a:solidFill>
                          <a:latin typeface="Calibri"/>
                        </a:defRPr>
                      </a:pPr>
                      <a:r>
                        <a:rPr sz="1400">
                          <a:latin typeface="Aptos"/>
                        </a:rPr>
                        <a:t>−0.034</a:t>
                      </a:r>
                    </a:p>
                  </a:txBody>
                  <a:tcPr anchor="ctr">
                    <a:solidFill>
                      <a:srgbClr val="FFFFFF"/>
                    </a:solidFill>
                  </a:tcPr>
                </a:tc>
                <a:tc>
                  <a:txBody>
                    <a:bodyPr/>
                    <a:lstStyle/>
                    <a:p>
                      <a:pPr lvl="0" algn="ctr">
                        <a:buNone/>
                      </a:pPr>
                      <a:r>
                        <a:rPr lang="en-US" sz="1400" b="0" i="0" u="none" strike="noStrike" noProof="0" err="1">
                          <a:latin typeface="Aptos"/>
                        </a:rPr>
                        <a:t>Ελ</a:t>
                      </a:r>
                      <a:r>
                        <a:rPr lang="en-US" sz="1400" b="0" i="0" u="none" strike="noStrike" noProof="0">
                          <a:latin typeface="Aptos"/>
                        </a:rPr>
                        <a:t>α</a:t>
                      </a:r>
                      <a:r>
                        <a:rPr lang="en-US" sz="1400" b="0" i="0" u="none" strike="noStrike" noProof="0" err="1">
                          <a:latin typeface="Aptos"/>
                        </a:rPr>
                        <a:t>φρώς</a:t>
                      </a:r>
                      <a:r>
                        <a:rPr lang="en-US" sz="1400" b="0" i="0" u="none" strike="noStrike" noProof="0">
                          <a:latin typeface="Aptos"/>
                        </a:rPr>
                        <a:t> επ</a:t>
                      </a:r>
                      <a:r>
                        <a:rPr lang="en-US" sz="1400" b="0" i="0" u="none" strike="noStrike" noProof="0" err="1">
                          <a:latin typeface="Aptos"/>
                        </a:rPr>
                        <a:t>ιζήμιο</a:t>
                      </a:r>
                      <a:endParaRPr sz="1400">
                        <a:latin typeface="Aptos"/>
                      </a:endParaRPr>
                    </a:p>
                  </a:txBody>
                  <a:tcPr anchor="ctr">
                    <a:solidFill>
                      <a:srgbClr val="FFFF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448019" y="4833171"/>
            <a:ext cx="11247120" cy="237744"/>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n-US" sz="800">
                <a:solidFill>
                  <a:schemeClr val="tx1"/>
                </a:solidFill>
                <a:ea typeface="+mn-lt"/>
                <a:cs typeface="+mn-lt"/>
              </a:rPr>
              <a:t>Πίνακας 6.4: Επίδραση στάθμισης κλάσεων</a:t>
            </a:r>
            <a:endParaRPr lang="en-US">
              <a:solidFill>
                <a:schemeClr val="tx1"/>
              </a:solidFill>
              <a:ea typeface="+mn-lt"/>
              <a:cs typeface="+mn-lt"/>
            </a:endParaRP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8019" y="5461795"/>
            <a:ext cx="11247120" cy="605294"/>
          </a:xfrm>
          <a:prstGeom prst="rect">
            <a:avLst/>
          </a:prstGeom>
          <a:noFill/>
        </p:spPr>
        <p:txBody>
          <a:bodyPr wrap="square" lIns="91440" tIns="45720" rIns="91440" bIns="45720" anchor="t">
            <a:spAutoFit/>
          </a:bodyPr>
          <a:lstStyle/>
          <a:p>
            <a:pPr algn="ctr">
              <a:defRPr sz="1600" b="1">
                <a:solidFill>
                  <a:srgbClr val="E86C00"/>
                </a:solidFill>
                <a:latin typeface="Calibri"/>
              </a:defRPr>
            </a:pPr>
            <a:r>
              <a:rPr lang="en-US" err="1">
                <a:ea typeface="+mn-lt"/>
                <a:cs typeface="+mn-lt"/>
              </a:rPr>
              <a:t>Συμ</a:t>
            </a:r>
            <a:r>
              <a:rPr lang="en-US">
                <a:ea typeface="+mn-lt"/>
                <a:cs typeface="+mn-lt"/>
              </a:rPr>
              <a:t>π</a:t>
            </a:r>
            <a:r>
              <a:rPr lang="en-US" err="1">
                <a:ea typeface="+mn-lt"/>
                <a:cs typeface="+mn-lt"/>
              </a:rPr>
              <a:t>έρ</a:t>
            </a:r>
            <a:r>
              <a:rPr lang="en-US">
                <a:ea typeface="+mn-lt"/>
                <a:cs typeface="+mn-lt"/>
              </a:rPr>
              <a:t>α</a:t>
            </a:r>
            <a:r>
              <a:rPr lang="en-US" err="1">
                <a:ea typeface="+mn-lt"/>
                <a:cs typeface="+mn-lt"/>
              </a:rPr>
              <a:t>σμ</a:t>
            </a:r>
            <a:r>
              <a:rPr lang="en-US">
                <a:ea typeface="+mn-lt"/>
                <a:cs typeface="+mn-lt"/>
              </a:rPr>
              <a:t>α RQ3: </a:t>
            </a:r>
            <a:r>
              <a:rPr lang="en-US" err="1">
                <a:solidFill>
                  <a:srgbClr val="002B5C"/>
                </a:solidFill>
                <a:ea typeface="+mn-lt"/>
                <a:cs typeface="+mn-lt"/>
              </a:rPr>
              <a:t>Σε</a:t>
            </a:r>
            <a:r>
              <a:rPr lang="en-US">
                <a:solidFill>
                  <a:srgbClr val="002B5C"/>
                </a:solidFill>
                <a:ea typeface="+mn-lt"/>
                <a:cs typeface="+mn-lt"/>
              </a:rPr>
              <a:t> α</a:t>
            </a:r>
            <a:r>
              <a:rPr lang="en-US" err="1">
                <a:solidFill>
                  <a:srgbClr val="002B5C"/>
                </a:solidFill>
                <a:ea typeface="+mn-lt"/>
                <a:cs typeface="+mn-lt"/>
              </a:rPr>
              <a:t>νισορρο</a:t>
            </a:r>
            <a:r>
              <a:rPr lang="en-US">
                <a:solidFill>
                  <a:srgbClr val="002B5C"/>
                </a:solidFill>
                <a:ea typeface="+mn-lt"/>
                <a:cs typeface="+mn-lt"/>
              </a:rPr>
              <a:t>πία </a:t>
            </a:r>
            <a:r>
              <a:rPr lang="en-US" err="1">
                <a:solidFill>
                  <a:srgbClr val="002B5C"/>
                </a:solidFill>
                <a:ea typeface="+mn-lt"/>
                <a:cs typeface="+mn-lt"/>
              </a:rPr>
              <a:t>κλάσεων</a:t>
            </a:r>
            <a:r>
              <a:rPr lang="en-US">
                <a:solidFill>
                  <a:srgbClr val="002B5C"/>
                </a:solidFill>
                <a:ea typeface="+mn-lt"/>
                <a:cs typeface="+mn-lt"/>
              </a:rPr>
              <a:t> ~1.3:1, η </a:t>
            </a:r>
            <a:r>
              <a:rPr lang="en-US" err="1">
                <a:solidFill>
                  <a:srgbClr val="002B5C"/>
                </a:solidFill>
                <a:ea typeface="+mn-lt"/>
                <a:cs typeface="+mn-lt"/>
              </a:rPr>
              <a:t>στάθμιση</a:t>
            </a:r>
            <a:r>
              <a:rPr lang="en-US">
                <a:solidFill>
                  <a:srgbClr val="002B5C"/>
                </a:solidFill>
                <a:ea typeface="+mn-lt"/>
                <a:cs typeface="+mn-lt"/>
              </a:rPr>
              <a:t> </a:t>
            </a:r>
            <a:r>
              <a:rPr lang="en-US" err="1">
                <a:solidFill>
                  <a:srgbClr val="002B5C"/>
                </a:solidFill>
                <a:ea typeface="+mn-lt"/>
                <a:cs typeface="+mn-lt"/>
              </a:rPr>
              <a:t>κλάσεων</a:t>
            </a:r>
            <a:r>
              <a:rPr lang="en-US">
                <a:solidFill>
                  <a:srgbClr val="002B5C"/>
                </a:solidFill>
                <a:ea typeface="+mn-lt"/>
                <a:cs typeface="+mn-lt"/>
              </a:rPr>
              <a:t> </a:t>
            </a:r>
            <a:r>
              <a:rPr lang="en-US" err="1">
                <a:solidFill>
                  <a:srgbClr val="002B5C"/>
                </a:solidFill>
                <a:ea typeface="+mn-lt"/>
                <a:cs typeface="+mn-lt"/>
              </a:rPr>
              <a:t>δεν</a:t>
            </a:r>
            <a:r>
              <a:rPr lang="en-US">
                <a:solidFill>
                  <a:srgbClr val="002B5C"/>
                </a:solidFill>
                <a:ea typeface="+mn-lt"/>
                <a:cs typeface="+mn-lt"/>
              </a:rPr>
              <a:t> </a:t>
            </a:r>
            <a:r>
              <a:rPr lang="en-US" err="1">
                <a:solidFill>
                  <a:srgbClr val="002B5C"/>
                </a:solidFill>
                <a:ea typeface="+mn-lt"/>
                <a:cs typeface="+mn-lt"/>
              </a:rPr>
              <a:t>είν</a:t>
            </a:r>
            <a:r>
              <a:rPr lang="en-US">
                <a:solidFill>
                  <a:srgbClr val="002B5C"/>
                </a:solidFill>
                <a:ea typeface="+mn-lt"/>
                <a:cs typeface="+mn-lt"/>
              </a:rPr>
              <a:t>αι απαρα</a:t>
            </a:r>
            <a:r>
              <a:rPr lang="en-US" err="1">
                <a:solidFill>
                  <a:srgbClr val="002B5C"/>
                </a:solidFill>
                <a:ea typeface="+mn-lt"/>
                <a:cs typeface="+mn-lt"/>
              </a:rPr>
              <a:t>ίτητη</a:t>
            </a:r>
            <a:r>
              <a:rPr lang="en-US">
                <a:solidFill>
                  <a:srgbClr val="002B5C"/>
                </a:solidFill>
                <a:ea typeface="+mn-lt"/>
                <a:cs typeface="+mn-lt"/>
              </a:rPr>
              <a:t>.</a:t>
            </a:r>
            <a:endParaRPr lang="en-US">
              <a:solidFill>
                <a:srgbClr val="002B5C"/>
              </a:solidFill>
              <a:ea typeface="Calibri"/>
              <a:cs typeface="Calibri"/>
            </a:endParaRPr>
          </a:p>
          <a:p>
            <a:pPr algn="ctr">
              <a:spcBef>
                <a:spcPts val="400"/>
              </a:spcBef>
              <a:spcAft>
                <a:spcPts val="200"/>
              </a:spcAft>
              <a:defRPr sz="1400" b="0">
                <a:solidFill>
                  <a:srgbClr val="666666"/>
                </a:solidFill>
                <a:latin typeface="Calibri"/>
              </a:defRPr>
            </a:pPr>
            <a:r>
              <a:rPr lang="en-US" err="1">
                <a:ea typeface="+mn-lt"/>
                <a:cs typeface="+mn-lt"/>
              </a:rPr>
              <a:t>Στ</a:t>
            </a:r>
            <a:r>
              <a:rPr lang="en-US">
                <a:ea typeface="+mn-lt"/>
                <a:cs typeface="+mn-lt"/>
              </a:rPr>
              <a:t>α </a:t>
            </a:r>
            <a:r>
              <a:rPr lang="en-US" err="1">
                <a:ea typeface="+mn-lt"/>
                <a:cs typeface="+mn-lt"/>
              </a:rPr>
              <a:t>άλλ</a:t>
            </a:r>
            <a:r>
              <a:rPr lang="en-US">
                <a:ea typeface="+mn-lt"/>
                <a:cs typeface="+mn-lt"/>
              </a:rPr>
              <a:t>α </a:t>
            </a:r>
            <a:r>
              <a:rPr lang="en-US" err="1">
                <a:ea typeface="+mn-lt"/>
                <a:cs typeface="+mn-lt"/>
              </a:rPr>
              <a:t>μοντέλ</a:t>
            </a:r>
            <a:r>
              <a:rPr lang="en-US">
                <a:ea typeface="+mn-lt"/>
                <a:cs typeface="+mn-lt"/>
              </a:rPr>
              <a:t>α (</a:t>
            </a:r>
            <a:r>
              <a:rPr lang="en-US" err="1">
                <a:ea typeface="+mn-lt"/>
                <a:cs typeface="+mn-lt"/>
              </a:rPr>
              <a:t>Λογιστική</a:t>
            </a:r>
            <a:r>
              <a:rPr lang="en-US">
                <a:ea typeface="+mn-lt"/>
                <a:cs typeface="+mn-lt"/>
              </a:rPr>
              <a:t> Πα</a:t>
            </a:r>
            <a:r>
              <a:rPr lang="en-US" err="1">
                <a:ea typeface="+mn-lt"/>
                <a:cs typeface="+mn-lt"/>
              </a:rPr>
              <a:t>λινδρόμηση</a:t>
            </a:r>
            <a:r>
              <a:rPr lang="en-US">
                <a:ea typeface="+mn-lt"/>
                <a:cs typeface="+mn-lt"/>
              </a:rPr>
              <a:t>, SVM, Gradient Boosting, </a:t>
            </a:r>
            <a:r>
              <a:rPr lang="en-US" err="1">
                <a:ea typeface="+mn-lt"/>
                <a:cs typeface="+mn-lt"/>
              </a:rPr>
              <a:t>XGBoost</a:t>
            </a:r>
            <a:r>
              <a:rPr lang="en-US">
                <a:ea typeface="+mn-lt"/>
                <a:cs typeface="+mn-lt"/>
              </a:rPr>
              <a:t>) </a:t>
            </a:r>
            <a:r>
              <a:rPr lang="en-US" err="1">
                <a:ea typeface="+mn-lt"/>
                <a:cs typeface="+mn-lt"/>
              </a:rPr>
              <a:t>δεν</a:t>
            </a:r>
            <a:r>
              <a:rPr lang="en-US">
                <a:ea typeface="+mn-lt"/>
                <a:cs typeface="+mn-lt"/>
              </a:rPr>
              <a:t> παρα</a:t>
            </a:r>
            <a:r>
              <a:rPr lang="en-US" err="1">
                <a:ea typeface="+mn-lt"/>
                <a:cs typeface="+mn-lt"/>
              </a:rPr>
              <a:t>τηρείτ</a:t>
            </a:r>
            <a:r>
              <a:rPr lang="en-US">
                <a:ea typeface="+mn-lt"/>
                <a:cs typeface="+mn-lt"/>
              </a:rPr>
              <a:t>αι </a:t>
            </a:r>
            <a:r>
              <a:rPr lang="en-US" err="1">
                <a:ea typeface="+mn-lt"/>
                <a:cs typeface="+mn-lt"/>
              </a:rPr>
              <a:t>όφελος</a:t>
            </a:r>
            <a:r>
              <a:rPr lang="en-US">
                <a:ea typeface="+mn-lt"/>
                <a:cs typeface="+mn-lt"/>
              </a:rPr>
              <a:t> ή υπ</a:t>
            </a:r>
            <a:r>
              <a:rPr lang="en-US" err="1">
                <a:ea typeface="+mn-lt"/>
                <a:cs typeface="+mn-lt"/>
              </a:rPr>
              <a:t>άρχει</a:t>
            </a:r>
            <a:r>
              <a:rPr lang="en-US">
                <a:ea typeface="+mn-lt"/>
                <a:cs typeface="+mn-lt"/>
              </a:rPr>
              <a:t> </a:t>
            </a:r>
            <a:r>
              <a:rPr lang="en-US" err="1">
                <a:ea typeface="+mn-lt"/>
                <a:cs typeface="+mn-lt"/>
              </a:rPr>
              <a:t>ελ</a:t>
            </a:r>
            <a:r>
              <a:rPr lang="en-US">
                <a:ea typeface="+mn-lt"/>
                <a:cs typeface="+mn-lt"/>
              </a:rPr>
              <a:t>α</a:t>
            </a:r>
            <a:r>
              <a:rPr lang="en-US" err="1">
                <a:ea typeface="+mn-lt"/>
                <a:cs typeface="+mn-lt"/>
              </a:rPr>
              <a:t>φρώς</a:t>
            </a:r>
            <a:r>
              <a:rPr lang="en-US">
                <a:ea typeface="+mn-lt"/>
                <a:cs typeface="+mn-lt"/>
              </a:rPr>
              <a:t> α</a:t>
            </a:r>
            <a:r>
              <a:rPr lang="en-US" err="1">
                <a:ea typeface="+mn-lt"/>
                <a:cs typeface="+mn-lt"/>
              </a:rPr>
              <a:t>ρνητική</a:t>
            </a:r>
            <a:r>
              <a:rPr lang="en-US">
                <a:ea typeface="+mn-lt"/>
                <a:cs typeface="+mn-lt"/>
              </a:rPr>
              <a:t> επ</a:t>
            </a:r>
            <a:r>
              <a:rPr lang="en-US" err="1">
                <a:ea typeface="+mn-lt"/>
                <a:cs typeface="+mn-lt"/>
              </a:rPr>
              <a:t>ίδρ</a:t>
            </a:r>
            <a:r>
              <a:rPr lang="en-US">
                <a:ea typeface="+mn-lt"/>
                <a:cs typeface="+mn-lt"/>
              </a:rPr>
              <a:t>α</a:t>
            </a:r>
            <a:r>
              <a:rPr lang="en-US" err="1">
                <a:ea typeface="+mn-lt"/>
                <a:cs typeface="+mn-lt"/>
              </a:rPr>
              <a:t>ση</a:t>
            </a:r>
            <a:r>
              <a:rPr lang="en-US">
                <a:ea typeface="+mn-lt"/>
                <a:cs typeface="+mn-lt"/>
              </a:rPr>
              <a:t>.</a:t>
            </a:r>
            <a:endParaRPr>
              <a:ea typeface="Calibri"/>
              <a:cs typeface="Calibri"/>
            </a:endParaRPr>
          </a:p>
        </p:txBody>
      </p:sp>
      <p:sp>
        <p:nvSpPr>
          <p:cNvPr id="9" name="Title 8">
            <a:extLst>
              <a:ext uri="{FF2B5EF4-FFF2-40B4-BE49-F238E27FC236}">
                <a16:creationId xmlns:a16="http://schemas.microsoft.com/office/drawing/2014/main" id="{DA2309F7-D422-3F04-922D-A83E403E52F4}"/>
              </a:ext>
            </a:extLst>
          </p:cNvPr>
          <p:cNvSpPr>
            <a:spLocks noGrp="1"/>
          </p:cNvSpPr>
          <p:nvPr>
            <p:ph type="title"/>
          </p:nvPr>
        </p:nvSpPr>
        <p:spPr>
          <a:xfrm>
            <a:off x="0" y="0"/>
            <a:ext cx="12192000" cy="900000"/>
          </a:xfrm>
        </p:spPr>
        <p:txBody>
          <a:bodyPr>
            <a:normAutofit/>
          </a:bodyPr>
          <a:lstStyle/>
          <a:p>
            <a:r>
              <a:rPr lang="en-GB">
                <a:latin typeface="Aptos"/>
              </a:rPr>
              <a:t>RQ3 – </a:t>
            </a:r>
            <a:r>
              <a:rPr lang="en-US" err="1">
                <a:latin typeface="Aptos"/>
                <a:ea typeface="Calibri"/>
                <a:cs typeface="Calibri"/>
              </a:rPr>
              <a:t>Βοηθά</a:t>
            </a:r>
            <a:r>
              <a:rPr lang="en-US">
                <a:latin typeface="Aptos"/>
                <a:ea typeface="Calibri"/>
                <a:cs typeface="Calibri"/>
              </a:rPr>
              <a:t> </a:t>
            </a:r>
            <a:r>
              <a:rPr lang="en-US" err="1">
                <a:latin typeface="Aptos"/>
                <a:ea typeface="Calibri"/>
                <a:cs typeface="Calibri"/>
              </a:rPr>
              <a:t>το</a:t>
            </a:r>
            <a:r>
              <a:rPr lang="en-US">
                <a:latin typeface="Aptos"/>
                <a:ea typeface="Calibri"/>
                <a:cs typeface="Calibri"/>
              </a:rPr>
              <a:t> class weighting </a:t>
            </a:r>
            <a:r>
              <a:rPr lang="en-US" err="1">
                <a:latin typeface="Aptos"/>
                <a:ea typeface="Calibri"/>
                <a:cs typeface="Calibri"/>
              </a:rPr>
              <a:t>σε</a:t>
            </a:r>
            <a:r>
              <a:rPr lang="en-US">
                <a:latin typeface="Aptos"/>
                <a:ea typeface="Calibri"/>
                <a:cs typeface="Calibri"/>
              </a:rPr>
              <a:t> α</a:t>
            </a:r>
            <a:r>
              <a:rPr lang="en-US" err="1">
                <a:latin typeface="Aptos"/>
                <a:ea typeface="Calibri"/>
                <a:cs typeface="Calibri"/>
              </a:rPr>
              <a:t>νισορρο</a:t>
            </a:r>
            <a:r>
              <a:rPr lang="en-US">
                <a:latin typeface="Aptos"/>
                <a:ea typeface="Calibri"/>
                <a:cs typeface="Calibri"/>
              </a:rPr>
              <a:t>πία </a:t>
            </a:r>
            <a:r>
              <a:rPr lang="en-US" err="1">
                <a:latin typeface="Aptos"/>
                <a:ea typeface="Calibri"/>
                <a:cs typeface="Calibri"/>
              </a:rPr>
              <a:t>κλάσεων</a:t>
            </a:r>
            <a:r>
              <a:rPr lang="en-US">
                <a:latin typeface="Aptos"/>
                <a:ea typeface="Calibri"/>
                <a:cs typeface="Calibri"/>
              </a:rPr>
              <a:t>;</a:t>
            </a:r>
            <a:endParaRPr lang="en-GB">
              <a:latin typeface="Apto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660171015"/>
              </p:ext>
            </p:extLst>
          </p:nvPr>
        </p:nvGraphicFramePr>
        <p:xfrm>
          <a:off x="447174" y="1592179"/>
          <a:ext cx="11247118" cy="2151588"/>
        </p:xfrm>
        <a:graphic>
          <a:graphicData uri="http://schemas.openxmlformats.org/drawingml/2006/table">
            <a:tbl>
              <a:tblPr firstRow="1" bandRow="1">
                <a:tableStyleId>{5C22544A-7EE6-4342-B048-85BDC9FD1C3A}</a:tableStyleId>
              </a:tblPr>
              <a:tblGrid>
                <a:gridCol w="3551722">
                  <a:extLst>
                    <a:ext uri="{9D8B030D-6E8A-4147-A177-3AD203B41FA5}">
                      <a16:colId xmlns:a16="http://schemas.microsoft.com/office/drawing/2014/main" val="20000"/>
                    </a:ext>
                  </a:extLst>
                </a:gridCol>
                <a:gridCol w="3847698">
                  <a:extLst>
                    <a:ext uri="{9D8B030D-6E8A-4147-A177-3AD203B41FA5}">
                      <a16:colId xmlns:a16="http://schemas.microsoft.com/office/drawing/2014/main" val="20001"/>
                    </a:ext>
                  </a:extLst>
                </a:gridCol>
                <a:gridCol w="3847698">
                  <a:extLst>
                    <a:ext uri="{9D8B030D-6E8A-4147-A177-3AD203B41FA5}">
                      <a16:colId xmlns:a16="http://schemas.microsoft.com/office/drawing/2014/main" val="20002"/>
                    </a:ext>
                  </a:extLst>
                </a:gridCol>
              </a:tblGrid>
              <a:tr h="578820">
                <a:tc>
                  <a:txBody>
                    <a:bodyPr/>
                    <a:lstStyle/>
                    <a:p>
                      <a:pPr lvl="0" algn="ctr">
                        <a:buNone/>
                        <a:defRPr sz="1400" b="1">
                          <a:solidFill>
                            <a:srgbClr val="FFFFFF"/>
                          </a:solidFill>
                          <a:latin typeface="Calibri"/>
                        </a:defRPr>
                      </a:pPr>
                      <a:r>
                        <a:rPr lang="en-US" sz="1800" b="1" i="0" u="none" strike="noStrike" noProof="0"/>
                        <a:t>Μετρική</a:t>
                      </a:r>
                      <a:endParaRPr sz="1800" b="1">
                        <a:latin typeface="Aptos"/>
                      </a:endParaRPr>
                    </a:p>
                  </a:txBody>
                  <a:tcPr anchor="ctr">
                    <a:solidFill>
                      <a:srgbClr val="002B5C"/>
                    </a:solidFill>
                  </a:tcPr>
                </a:tc>
                <a:tc>
                  <a:txBody>
                    <a:bodyPr/>
                    <a:lstStyle/>
                    <a:p>
                      <a:pPr algn="ctr">
                        <a:defRPr sz="1400" b="1">
                          <a:solidFill>
                            <a:srgbClr val="FFFFFF"/>
                          </a:solidFill>
                          <a:latin typeface="Calibri"/>
                        </a:defRPr>
                      </a:pPr>
                      <a:r>
                        <a:rPr sz="1800">
                          <a:latin typeface="Aptos"/>
                        </a:rPr>
                        <a:t>Dataset A (MDVR-KCL)</a:t>
                      </a:r>
                    </a:p>
                  </a:txBody>
                  <a:tcPr anchor="ctr">
                    <a:solidFill>
                      <a:srgbClr val="002B5C"/>
                    </a:solidFill>
                  </a:tcPr>
                </a:tc>
                <a:tc>
                  <a:txBody>
                    <a:bodyPr/>
                    <a:lstStyle/>
                    <a:p>
                      <a:pPr algn="ctr">
                        <a:defRPr sz="1400" b="1">
                          <a:solidFill>
                            <a:srgbClr val="FFFFFF"/>
                          </a:solidFill>
                          <a:latin typeface="Calibri"/>
                        </a:defRPr>
                      </a:pPr>
                      <a:r>
                        <a:rPr sz="1800">
                          <a:latin typeface="Aptos"/>
                        </a:rPr>
                        <a:t>Dataset B (PD Speech)</a:t>
                      </a:r>
                    </a:p>
                  </a:txBody>
                  <a:tcPr anchor="ctr">
                    <a:solidFill>
                      <a:srgbClr val="002B5C"/>
                    </a:solidFill>
                  </a:tcPr>
                </a:tc>
                <a:extLst>
                  <a:ext uri="{0D108BD9-81ED-4DB2-BD59-A6C34878D82A}">
                    <a16:rowId xmlns:a16="http://schemas.microsoft.com/office/drawing/2014/main" val="10000"/>
                  </a:ext>
                </a:extLst>
              </a:tr>
              <a:tr h="393192">
                <a:tc>
                  <a:txBody>
                    <a:bodyPr/>
                    <a:lstStyle/>
                    <a:p>
                      <a:pPr lvl="0" algn="ctr">
                        <a:buNone/>
                        <a:defRPr sz="1300">
                          <a:solidFill>
                            <a:srgbClr val="1A1A1A"/>
                          </a:solidFill>
                          <a:latin typeface="Calibri"/>
                        </a:defRPr>
                      </a:pPr>
                      <a:r>
                        <a:rPr lang="en-US" sz="1400" b="0" i="0" u="none" strike="noStrike" noProof="0"/>
                        <a:t>Καλύτερο</a:t>
                      </a:r>
                      <a:r>
                        <a:rPr sz="1400">
                          <a:latin typeface="Aptos"/>
                        </a:rPr>
                        <a:t>ROC-AUC</a:t>
                      </a:r>
                      <a:endParaRPr/>
                    </a:p>
                  </a:txBody>
                  <a:tcPr anchor="ctr">
                    <a:solidFill>
                      <a:srgbClr val="F2F2F2"/>
                    </a:solidFill>
                  </a:tcPr>
                </a:tc>
                <a:tc>
                  <a:txBody>
                    <a:bodyPr/>
                    <a:lstStyle/>
                    <a:p>
                      <a:pPr algn="ctr">
                        <a:defRPr sz="1300">
                          <a:solidFill>
                            <a:srgbClr val="1A1A1A"/>
                          </a:solidFill>
                          <a:latin typeface="Calibri"/>
                        </a:defRPr>
                      </a:pPr>
                      <a:r>
                        <a:rPr sz="1400">
                          <a:latin typeface="Aptos"/>
                        </a:rPr>
                        <a:t>0.857 ± 0.171</a:t>
                      </a:r>
                      <a:endParaRPr/>
                    </a:p>
                  </a:txBody>
                  <a:tcPr anchor="ctr">
                    <a:solidFill>
                      <a:srgbClr val="F2F2F2"/>
                    </a:solidFill>
                  </a:tcPr>
                </a:tc>
                <a:tc>
                  <a:txBody>
                    <a:bodyPr/>
                    <a:lstStyle/>
                    <a:p>
                      <a:pPr algn="ctr">
                        <a:defRPr sz="1300">
                          <a:solidFill>
                            <a:srgbClr val="1A1A1A"/>
                          </a:solidFill>
                          <a:latin typeface="Calibri"/>
                        </a:defRPr>
                      </a:pPr>
                      <a:r>
                        <a:rPr sz="1400">
                          <a:latin typeface="Aptos"/>
                        </a:rPr>
                        <a:t>0.952 ± 0.015</a:t>
                      </a:r>
                      <a:endParaRPr/>
                    </a:p>
                  </a:txBody>
                  <a:tcPr anchor="ctr">
                    <a:solidFill>
                      <a:srgbClr val="F2F2F2"/>
                    </a:solidFill>
                  </a:tcPr>
                </a:tc>
                <a:extLst>
                  <a:ext uri="{0D108BD9-81ED-4DB2-BD59-A6C34878D82A}">
                    <a16:rowId xmlns:a16="http://schemas.microsoft.com/office/drawing/2014/main" val="10001"/>
                  </a:ext>
                </a:extLst>
              </a:tr>
              <a:tr h="393192">
                <a:tc>
                  <a:txBody>
                    <a:bodyPr/>
                    <a:lstStyle/>
                    <a:p>
                      <a:pPr lvl="0" algn="ctr">
                        <a:buNone/>
                      </a:pPr>
                      <a:r>
                        <a:rPr lang="en-US" sz="1400" b="0" i="0" u="none" strike="noStrike" noProof="0"/>
                        <a:t>Εύρος τυπικής απόκλισης ROC-AUC</a:t>
                      </a:r>
                      <a:endParaRPr lang="en-US" b="0" i="0" u="none" strike="noStrike" noProof="0"/>
                    </a:p>
                  </a:txBody>
                  <a:tcPr anchor="ctr">
                    <a:solidFill>
                      <a:srgbClr val="FFFFFF"/>
                    </a:solidFill>
                  </a:tcPr>
                </a:tc>
                <a:tc>
                  <a:txBody>
                    <a:bodyPr/>
                    <a:lstStyle/>
                    <a:p>
                      <a:pPr algn="ctr">
                        <a:defRPr sz="1300">
                          <a:solidFill>
                            <a:srgbClr val="1A1A1A"/>
                          </a:solidFill>
                          <a:latin typeface="Calibri"/>
                        </a:defRPr>
                      </a:pPr>
                      <a:r>
                        <a:rPr sz="1400">
                          <a:latin typeface="Aptos"/>
                        </a:rPr>
                        <a:t>±0.15 </a:t>
                      </a:r>
                      <a:r>
                        <a:rPr lang="en-GB" sz="1400">
                          <a:latin typeface="Aptos"/>
                        </a:rPr>
                        <a:t>-</a:t>
                      </a:r>
                      <a:r>
                        <a:rPr sz="1400">
                          <a:latin typeface="Aptos"/>
                        </a:rPr>
                        <a:t> 0.30</a:t>
                      </a:r>
                    </a:p>
                  </a:txBody>
                  <a:tcPr anchor="ctr">
                    <a:solidFill>
                      <a:srgbClr val="FFFFFF"/>
                    </a:solidFill>
                  </a:tcPr>
                </a:tc>
                <a:tc>
                  <a:txBody>
                    <a:bodyPr/>
                    <a:lstStyle/>
                    <a:p>
                      <a:pPr algn="ctr">
                        <a:defRPr sz="1300">
                          <a:solidFill>
                            <a:srgbClr val="1A1A1A"/>
                          </a:solidFill>
                          <a:latin typeface="Calibri"/>
                        </a:defRPr>
                      </a:pPr>
                      <a:r>
                        <a:rPr sz="1400">
                          <a:latin typeface="Aptos"/>
                        </a:rPr>
                        <a:t>±0.01 </a:t>
                      </a:r>
                      <a:r>
                        <a:rPr lang="en-GB" sz="1400">
                          <a:latin typeface="Aptos"/>
                        </a:rPr>
                        <a:t>-</a:t>
                      </a:r>
                      <a:r>
                        <a:rPr sz="1400">
                          <a:latin typeface="Aptos"/>
                        </a:rPr>
                        <a:t> 0.03</a:t>
                      </a:r>
                    </a:p>
                  </a:txBody>
                  <a:tcPr anchor="ctr">
                    <a:solidFill>
                      <a:srgbClr val="FFFFFF"/>
                    </a:solidFill>
                  </a:tcPr>
                </a:tc>
                <a:extLst>
                  <a:ext uri="{0D108BD9-81ED-4DB2-BD59-A6C34878D82A}">
                    <a16:rowId xmlns:a16="http://schemas.microsoft.com/office/drawing/2014/main" val="10002"/>
                  </a:ext>
                </a:extLst>
              </a:tr>
              <a:tr h="393192">
                <a:tc>
                  <a:txBody>
                    <a:bodyPr/>
                    <a:lstStyle/>
                    <a:p>
                      <a:pPr lvl="0" algn="ctr">
                        <a:buNone/>
                      </a:pPr>
                      <a:r>
                        <a:rPr lang="en-US" sz="1400" b="0" i="0" u="none" strike="noStrike" noProof="0"/>
                        <a:t>Εύρος τυπικής απόκλισης Accuracy</a:t>
                      </a:r>
                      <a:endParaRPr lang="en-US" b="0" i="0" u="none" strike="noStrike" noProof="0"/>
                    </a:p>
                  </a:txBody>
                  <a:tcPr anchor="ctr">
                    <a:solidFill>
                      <a:srgbClr val="F2F2F2"/>
                    </a:solidFill>
                  </a:tcPr>
                </a:tc>
                <a:tc>
                  <a:txBody>
                    <a:bodyPr/>
                    <a:lstStyle/>
                    <a:p>
                      <a:pPr algn="ctr">
                        <a:defRPr sz="1300">
                          <a:solidFill>
                            <a:srgbClr val="1A1A1A"/>
                          </a:solidFill>
                          <a:latin typeface="Calibri"/>
                        </a:defRPr>
                      </a:pPr>
                      <a:r>
                        <a:rPr sz="1400">
                          <a:latin typeface="Aptos"/>
                        </a:rPr>
                        <a:t>±0.14 </a:t>
                      </a:r>
                      <a:r>
                        <a:rPr lang="en-GB" sz="1400">
                          <a:latin typeface="Aptos"/>
                        </a:rPr>
                        <a:t>-</a:t>
                      </a:r>
                      <a:r>
                        <a:rPr sz="1400">
                          <a:latin typeface="Aptos"/>
                        </a:rPr>
                        <a:t> 0.18</a:t>
                      </a:r>
                    </a:p>
                  </a:txBody>
                  <a:tcPr anchor="ctr">
                    <a:solidFill>
                      <a:srgbClr val="F2F2F2"/>
                    </a:solidFill>
                  </a:tcPr>
                </a:tc>
                <a:tc>
                  <a:txBody>
                    <a:bodyPr/>
                    <a:lstStyle/>
                    <a:p>
                      <a:pPr algn="ctr">
                        <a:defRPr sz="1300">
                          <a:solidFill>
                            <a:srgbClr val="1A1A1A"/>
                          </a:solidFill>
                          <a:latin typeface="Calibri"/>
                        </a:defRPr>
                      </a:pPr>
                      <a:r>
                        <a:rPr sz="1400">
                          <a:latin typeface="Aptos"/>
                        </a:rPr>
                        <a:t>±0.008 </a:t>
                      </a:r>
                      <a:r>
                        <a:rPr lang="en-GB" sz="1400">
                          <a:latin typeface="Aptos"/>
                        </a:rPr>
                        <a:t>-</a:t>
                      </a:r>
                      <a:r>
                        <a:rPr sz="1400">
                          <a:latin typeface="Aptos"/>
                        </a:rPr>
                        <a:t> 0.024</a:t>
                      </a:r>
                    </a:p>
                  </a:txBody>
                  <a:tcPr anchor="ctr">
                    <a:solidFill>
                      <a:srgbClr val="F2F2F2"/>
                    </a:solidFill>
                  </a:tcPr>
                </a:tc>
                <a:extLst>
                  <a:ext uri="{0D108BD9-81ED-4DB2-BD59-A6C34878D82A}">
                    <a16:rowId xmlns:a16="http://schemas.microsoft.com/office/drawing/2014/main" val="10003"/>
                  </a:ext>
                </a:extLst>
              </a:tr>
              <a:tr h="393192">
                <a:tc>
                  <a:txBody>
                    <a:bodyPr/>
                    <a:lstStyle/>
                    <a:p>
                      <a:pPr lvl="0" algn="ctr">
                        <a:buNone/>
                      </a:pPr>
                      <a:r>
                        <a:rPr lang="en-US" sz="1400" b="0" i="0" u="none" strike="noStrike" noProof="0"/>
                        <a:t>Εύρος τυπικής απόκλισης F1</a:t>
                      </a:r>
                      <a:endParaRPr lang="en-US" b="0" i="0" u="none" strike="noStrike" noProof="0"/>
                    </a:p>
                  </a:txBody>
                  <a:tcPr anchor="ctr">
                    <a:solidFill>
                      <a:srgbClr val="FFFFFF"/>
                    </a:solidFill>
                  </a:tcPr>
                </a:tc>
                <a:tc>
                  <a:txBody>
                    <a:bodyPr/>
                    <a:lstStyle/>
                    <a:p>
                      <a:pPr algn="ctr">
                        <a:defRPr sz="1300">
                          <a:solidFill>
                            <a:srgbClr val="1A1A1A"/>
                          </a:solidFill>
                          <a:latin typeface="Calibri"/>
                        </a:defRPr>
                      </a:pPr>
                      <a:r>
                        <a:rPr sz="1400">
                          <a:latin typeface="Aptos"/>
                        </a:rPr>
                        <a:t>±0.21 </a:t>
                      </a:r>
                      <a:r>
                        <a:rPr lang="en-GB" sz="1400">
                          <a:latin typeface="Aptos"/>
                        </a:rPr>
                        <a:t>-</a:t>
                      </a:r>
                      <a:r>
                        <a:rPr sz="1400">
                          <a:latin typeface="Aptos"/>
                        </a:rPr>
                        <a:t> 0.39</a:t>
                      </a:r>
                    </a:p>
                  </a:txBody>
                  <a:tcPr anchor="ctr">
                    <a:solidFill>
                      <a:srgbClr val="FFFFFF"/>
                    </a:solidFill>
                  </a:tcPr>
                </a:tc>
                <a:tc>
                  <a:txBody>
                    <a:bodyPr/>
                    <a:lstStyle/>
                    <a:p>
                      <a:pPr algn="ctr">
                        <a:defRPr sz="1300">
                          <a:solidFill>
                            <a:srgbClr val="1A1A1A"/>
                          </a:solidFill>
                          <a:latin typeface="Calibri"/>
                        </a:defRPr>
                      </a:pPr>
                      <a:r>
                        <a:rPr sz="1400">
                          <a:latin typeface="Aptos"/>
                        </a:rPr>
                        <a:t>±0.006 </a:t>
                      </a:r>
                      <a:r>
                        <a:rPr lang="en-GB" sz="1400">
                          <a:latin typeface="Aptos"/>
                        </a:rPr>
                        <a:t>-</a:t>
                      </a:r>
                      <a:r>
                        <a:rPr sz="1400">
                          <a:latin typeface="Aptos"/>
                        </a:rPr>
                        <a:t> 0.015</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447174" y="3743767"/>
            <a:ext cx="11247120" cy="237744"/>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n-US" sz="800" err="1">
                <a:solidFill>
                  <a:schemeClr val="tx1"/>
                </a:solidFill>
                <a:ea typeface="+mn-lt"/>
                <a:cs typeface="+mn-lt"/>
              </a:rPr>
              <a:t>Πίν</a:t>
            </a:r>
            <a:r>
              <a:rPr lang="en-US" sz="800">
                <a:solidFill>
                  <a:schemeClr val="tx1"/>
                </a:solidFill>
                <a:ea typeface="+mn-lt"/>
                <a:cs typeface="+mn-lt"/>
              </a:rPr>
              <a:t>ακας 6.5: </a:t>
            </a:r>
            <a:r>
              <a:rPr lang="en-US" sz="800" err="1">
                <a:solidFill>
                  <a:schemeClr val="tx1"/>
                </a:solidFill>
                <a:ea typeface="+mn-lt"/>
                <a:cs typeface="+mn-lt"/>
              </a:rPr>
              <a:t>Σύγκριση</a:t>
            </a:r>
            <a:r>
              <a:rPr lang="en-US" sz="800">
                <a:solidFill>
                  <a:schemeClr val="tx1"/>
                </a:solidFill>
                <a:ea typeface="+mn-lt"/>
                <a:cs typeface="+mn-lt"/>
              </a:rPr>
              <a:t> </a:t>
            </a:r>
            <a:r>
              <a:rPr lang="en-US" sz="800" err="1">
                <a:solidFill>
                  <a:schemeClr val="tx1"/>
                </a:solidFill>
                <a:ea typeface="+mn-lt"/>
                <a:cs typeface="+mn-lt"/>
              </a:rPr>
              <a:t>δι</a:t>
            </a:r>
            <a:r>
              <a:rPr lang="en-US" sz="800">
                <a:solidFill>
                  <a:schemeClr val="tx1"/>
                </a:solidFill>
                <a:ea typeface="+mn-lt"/>
                <a:cs typeface="+mn-lt"/>
              </a:rPr>
              <a:t>α</a:t>
            </a:r>
            <a:r>
              <a:rPr lang="en-US" sz="800" err="1">
                <a:solidFill>
                  <a:schemeClr val="tx1"/>
                </a:solidFill>
                <a:ea typeface="+mn-lt"/>
                <a:cs typeface="+mn-lt"/>
              </a:rPr>
              <a:t>κύμ</a:t>
            </a:r>
            <a:r>
              <a:rPr lang="en-US" sz="800">
                <a:solidFill>
                  <a:schemeClr val="tx1"/>
                </a:solidFill>
                <a:ea typeface="+mn-lt"/>
                <a:cs typeface="+mn-lt"/>
              </a:rPr>
              <a:t>α</a:t>
            </a:r>
            <a:r>
              <a:rPr lang="en-US" sz="800" err="1">
                <a:solidFill>
                  <a:schemeClr val="tx1"/>
                </a:solidFill>
                <a:ea typeface="+mn-lt"/>
                <a:cs typeface="+mn-lt"/>
              </a:rPr>
              <a:t>νσης</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7174" y="4732421"/>
            <a:ext cx="11257146" cy="830997"/>
          </a:xfrm>
          <a:prstGeom prst="rect">
            <a:avLst/>
          </a:prstGeom>
          <a:noFill/>
        </p:spPr>
        <p:txBody>
          <a:bodyPr wrap="square" lIns="91440" tIns="45720" rIns="91440" bIns="45720" anchor="t">
            <a:spAutoFit/>
          </a:bodyPr>
          <a:lstStyle/>
          <a:p>
            <a:pPr algn="ctr">
              <a:defRPr sz="1500" b="1">
                <a:solidFill>
                  <a:srgbClr val="C62828"/>
                </a:solidFill>
                <a:latin typeface="Calibri"/>
              </a:defRPr>
            </a:pPr>
            <a:r>
              <a:rPr lang="en-US" sz="1600" err="1">
                <a:solidFill>
                  <a:srgbClr val="E86C00"/>
                </a:solidFill>
                <a:ea typeface="+mn-lt"/>
                <a:cs typeface="+mn-lt"/>
              </a:rPr>
              <a:t>Συμ</a:t>
            </a:r>
            <a:r>
              <a:rPr lang="en-US" sz="1600">
                <a:solidFill>
                  <a:srgbClr val="E86C00"/>
                </a:solidFill>
                <a:ea typeface="+mn-lt"/>
                <a:cs typeface="+mn-lt"/>
              </a:rPr>
              <a:t>π</a:t>
            </a:r>
            <a:r>
              <a:rPr lang="en-US" sz="1600" err="1">
                <a:solidFill>
                  <a:srgbClr val="E86C00"/>
                </a:solidFill>
                <a:ea typeface="+mn-lt"/>
                <a:cs typeface="+mn-lt"/>
              </a:rPr>
              <a:t>έρ</a:t>
            </a:r>
            <a:r>
              <a:rPr lang="en-US" sz="1600">
                <a:solidFill>
                  <a:srgbClr val="E86C00"/>
                </a:solidFill>
                <a:ea typeface="+mn-lt"/>
                <a:cs typeface="+mn-lt"/>
              </a:rPr>
              <a:t>α</a:t>
            </a:r>
            <a:r>
              <a:rPr lang="en-US" sz="1600" err="1">
                <a:solidFill>
                  <a:srgbClr val="E86C00"/>
                </a:solidFill>
                <a:ea typeface="+mn-lt"/>
                <a:cs typeface="+mn-lt"/>
              </a:rPr>
              <a:t>σμ</a:t>
            </a:r>
            <a:r>
              <a:rPr lang="en-US" sz="1600">
                <a:solidFill>
                  <a:srgbClr val="E86C00"/>
                </a:solidFill>
                <a:ea typeface="+mn-lt"/>
                <a:cs typeface="+mn-lt"/>
              </a:rPr>
              <a:t>α RQ4: Ναι, υπ</a:t>
            </a:r>
            <a:r>
              <a:rPr lang="en-US" sz="1600" err="1">
                <a:solidFill>
                  <a:srgbClr val="E86C00"/>
                </a:solidFill>
                <a:ea typeface="+mn-lt"/>
                <a:cs typeface="+mn-lt"/>
              </a:rPr>
              <a:t>άρχει</a:t>
            </a:r>
            <a:r>
              <a:rPr lang="en-US" sz="1600">
                <a:solidFill>
                  <a:srgbClr val="E86C00"/>
                </a:solidFill>
                <a:ea typeface="+mn-lt"/>
                <a:cs typeface="+mn-lt"/>
              </a:rPr>
              <a:t> </a:t>
            </a:r>
            <a:r>
              <a:rPr lang="en-US" sz="1600" err="1">
                <a:solidFill>
                  <a:srgbClr val="E86C00"/>
                </a:solidFill>
                <a:ea typeface="+mn-lt"/>
                <a:cs typeface="+mn-lt"/>
              </a:rPr>
              <a:t>ουσι</a:t>
            </a:r>
            <a:r>
              <a:rPr lang="en-US" sz="1600">
                <a:solidFill>
                  <a:srgbClr val="E86C00"/>
                </a:solidFill>
                <a:ea typeface="+mn-lt"/>
                <a:cs typeface="+mn-lt"/>
              </a:rPr>
              <a:t>α</a:t>
            </a:r>
            <a:r>
              <a:rPr lang="en-US" sz="1600" err="1">
                <a:solidFill>
                  <a:srgbClr val="E86C00"/>
                </a:solidFill>
                <a:ea typeface="+mn-lt"/>
                <a:cs typeface="+mn-lt"/>
              </a:rPr>
              <a:t>σική</a:t>
            </a:r>
            <a:r>
              <a:rPr lang="en-US" sz="1600">
                <a:solidFill>
                  <a:srgbClr val="E86C00"/>
                </a:solidFill>
                <a:ea typeface="+mn-lt"/>
                <a:cs typeface="+mn-lt"/>
              </a:rPr>
              <a:t> </a:t>
            </a:r>
            <a:r>
              <a:rPr lang="en-US" sz="1600" err="1">
                <a:solidFill>
                  <a:srgbClr val="E86C00"/>
                </a:solidFill>
                <a:ea typeface="+mn-lt"/>
                <a:cs typeface="+mn-lt"/>
              </a:rPr>
              <a:t>δι</a:t>
            </a:r>
            <a:r>
              <a:rPr lang="en-US" sz="1600">
                <a:solidFill>
                  <a:srgbClr val="E86C00"/>
                </a:solidFill>
                <a:ea typeface="+mn-lt"/>
                <a:cs typeface="+mn-lt"/>
              </a:rPr>
              <a:t>α</a:t>
            </a:r>
            <a:r>
              <a:rPr lang="en-US" sz="1600" err="1">
                <a:solidFill>
                  <a:srgbClr val="E86C00"/>
                </a:solidFill>
                <a:ea typeface="+mn-lt"/>
                <a:cs typeface="+mn-lt"/>
              </a:rPr>
              <a:t>φορά</a:t>
            </a:r>
            <a:r>
              <a:rPr lang="en-US" sz="1600">
                <a:solidFill>
                  <a:srgbClr val="E86C00"/>
                </a:solidFill>
                <a:ea typeface="+mn-lt"/>
                <a:cs typeface="+mn-lt"/>
              </a:rPr>
              <a:t> </a:t>
            </a:r>
            <a:r>
              <a:rPr lang="en-US" sz="1600" err="1">
                <a:solidFill>
                  <a:srgbClr val="E86C00"/>
                </a:solidFill>
                <a:ea typeface="+mn-lt"/>
                <a:cs typeface="+mn-lt"/>
              </a:rPr>
              <a:t>εκτίμησης</a:t>
            </a:r>
            <a:r>
              <a:rPr lang="en-US" sz="1600">
                <a:solidFill>
                  <a:srgbClr val="E86C00"/>
                </a:solidFill>
                <a:ea typeface="+mn-lt"/>
                <a:cs typeface="+mn-lt"/>
              </a:rPr>
              <a:t>.</a:t>
            </a:r>
            <a:endParaRPr lang="en-US" sz="1600">
              <a:ea typeface="+mn-lt"/>
              <a:cs typeface="+mn-lt"/>
            </a:endParaRPr>
          </a:p>
          <a:p>
            <a:pPr algn="ctr">
              <a:defRPr sz="1400" b="0">
                <a:solidFill>
                  <a:srgbClr val="666666"/>
                </a:solidFill>
                <a:latin typeface="Calibri"/>
              </a:defRPr>
            </a:pPr>
            <a:r>
              <a:rPr lang="en-US" sz="1600" b="1">
                <a:solidFill>
                  <a:srgbClr val="002B5C"/>
                </a:solidFill>
                <a:ea typeface="+mn-lt"/>
                <a:cs typeface="+mn-lt"/>
              </a:rPr>
              <a:t>Η </a:t>
            </a:r>
            <a:r>
              <a:rPr lang="en-US" sz="1600" b="1" err="1">
                <a:solidFill>
                  <a:srgbClr val="002B5C"/>
                </a:solidFill>
                <a:ea typeface="+mn-lt"/>
                <a:cs typeface="+mn-lt"/>
              </a:rPr>
              <a:t>υψηλή</a:t>
            </a:r>
            <a:r>
              <a:rPr lang="en-US" sz="1600" b="1">
                <a:solidFill>
                  <a:srgbClr val="002B5C"/>
                </a:solidFill>
                <a:ea typeface="+mn-lt"/>
                <a:cs typeface="+mn-lt"/>
              </a:rPr>
              <a:t> </a:t>
            </a:r>
            <a:r>
              <a:rPr lang="en-US" sz="1600" b="1" err="1">
                <a:solidFill>
                  <a:srgbClr val="002B5C"/>
                </a:solidFill>
                <a:ea typeface="+mn-lt"/>
                <a:cs typeface="+mn-lt"/>
              </a:rPr>
              <a:t>δι</a:t>
            </a:r>
            <a:r>
              <a:rPr lang="en-US" sz="1600" b="1">
                <a:solidFill>
                  <a:srgbClr val="002B5C"/>
                </a:solidFill>
                <a:ea typeface="+mn-lt"/>
                <a:cs typeface="+mn-lt"/>
              </a:rPr>
              <a:t>α</a:t>
            </a:r>
            <a:r>
              <a:rPr lang="en-US" sz="1600" b="1" err="1">
                <a:solidFill>
                  <a:srgbClr val="002B5C"/>
                </a:solidFill>
                <a:ea typeface="+mn-lt"/>
                <a:cs typeface="+mn-lt"/>
              </a:rPr>
              <a:t>κύμ</a:t>
            </a:r>
            <a:r>
              <a:rPr lang="en-US" sz="1600" b="1">
                <a:solidFill>
                  <a:srgbClr val="002B5C"/>
                </a:solidFill>
                <a:ea typeface="+mn-lt"/>
                <a:cs typeface="+mn-lt"/>
              </a:rPr>
              <a:t>α</a:t>
            </a:r>
            <a:r>
              <a:rPr lang="en-US" sz="1600" b="1" err="1">
                <a:solidFill>
                  <a:srgbClr val="002B5C"/>
                </a:solidFill>
                <a:ea typeface="+mn-lt"/>
                <a:cs typeface="+mn-lt"/>
              </a:rPr>
              <a:t>νση</a:t>
            </a:r>
            <a:r>
              <a:rPr lang="en-US" sz="1600" b="1">
                <a:solidFill>
                  <a:srgbClr val="002B5C"/>
                </a:solidFill>
                <a:ea typeface="+mn-lt"/>
                <a:cs typeface="+mn-lt"/>
              </a:rPr>
              <a:t> </a:t>
            </a:r>
            <a:r>
              <a:rPr lang="en-US" sz="1600" b="1" err="1">
                <a:solidFill>
                  <a:srgbClr val="002B5C"/>
                </a:solidFill>
                <a:ea typeface="+mn-lt"/>
                <a:cs typeface="+mn-lt"/>
              </a:rPr>
              <a:t>του</a:t>
            </a:r>
            <a:r>
              <a:rPr lang="en-US" sz="1600" b="1">
                <a:solidFill>
                  <a:srgbClr val="002B5C"/>
                </a:solidFill>
                <a:ea typeface="+mn-lt"/>
                <a:cs typeface="+mn-lt"/>
              </a:rPr>
              <a:t> Dataset A </a:t>
            </a:r>
            <a:r>
              <a:rPr lang="en-US" sz="1600" b="1" err="1">
                <a:solidFill>
                  <a:srgbClr val="002B5C"/>
                </a:solidFill>
                <a:ea typeface="+mn-lt"/>
                <a:cs typeface="+mn-lt"/>
              </a:rPr>
              <a:t>είν</a:t>
            </a:r>
            <a:r>
              <a:rPr lang="en-US" sz="1600" b="1">
                <a:solidFill>
                  <a:srgbClr val="002B5C"/>
                </a:solidFill>
                <a:ea typeface="+mn-lt"/>
                <a:cs typeface="+mn-lt"/>
              </a:rPr>
              <a:t>αι «</a:t>
            </a:r>
            <a:r>
              <a:rPr lang="en-US" sz="1600" b="1" err="1">
                <a:solidFill>
                  <a:srgbClr val="002B5C"/>
                </a:solidFill>
                <a:ea typeface="+mn-lt"/>
                <a:cs typeface="+mn-lt"/>
              </a:rPr>
              <a:t>ειλικρινής</a:t>
            </a:r>
            <a:r>
              <a:rPr lang="en-US" sz="1600" b="1">
                <a:solidFill>
                  <a:srgbClr val="002B5C"/>
                </a:solidFill>
                <a:ea typeface="+mn-lt"/>
                <a:cs typeface="+mn-lt"/>
              </a:rPr>
              <a:t>» (~7 </a:t>
            </a:r>
            <a:r>
              <a:rPr lang="en-US" sz="1600" b="1" err="1">
                <a:solidFill>
                  <a:srgbClr val="002B5C"/>
                </a:solidFill>
                <a:ea typeface="+mn-lt"/>
                <a:cs typeface="+mn-lt"/>
              </a:rPr>
              <a:t>συμμετέχοντες</a:t>
            </a:r>
            <a:r>
              <a:rPr lang="en-US" sz="1600" b="1">
                <a:solidFill>
                  <a:srgbClr val="002B5C"/>
                </a:solidFill>
                <a:ea typeface="+mn-lt"/>
                <a:cs typeface="+mn-lt"/>
              </a:rPr>
              <a:t> α</a:t>
            </a:r>
            <a:r>
              <a:rPr lang="en-US" sz="1600" b="1" err="1">
                <a:solidFill>
                  <a:srgbClr val="002B5C"/>
                </a:solidFill>
                <a:ea typeface="+mn-lt"/>
                <a:cs typeface="+mn-lt"/>
              </a:rPr>
              <a:t>νά</a:t>
            </a:r>
            <a:r>
              <a:rPr lang="en-US" sz="1600" b="1">
                <a:solidFill>
                  <a:srgbClr val="002B5C"/>
                </a:solidFill>
                <a:ea typeface="+mn-lt"/>
                <a:cs typeface="+mn-lt"/>
              </a:rPr>
              <a:t> fold </a:t>
            </a:r>
            <a:r>
              <a:rPr lang="en-US" sz="1600" b="1" err="1">
                <a:solidFill>
                  <a:srgbClr val="002B5C"/>
                </a:solidFill>
                <a:ea typeface="+mn-lt"/>
                <a:cs typeface="+mn-lt"/>
              </a:rPr>
              <a:t>με</a:t>
            </a:r>
            <a:r>
              <a:rPr lang="en-US" sz="1600" b="1">
                <a:solidFill>
                  <a:srgbClr val="002B5C"/>
                </a:solidFill>
                <a:ea typeface="+mn-lt"/>
                <a:cs typeface="+mn-lt"/>
              </a:rPr>
              <a:t> grouped CV).</a:t>
            </a:r>
            <a:endParaRPr sz="1600" b="1">
              <a:solidFill>
                <a:srgbClr val="002B5C"/>
              </a:solidFill>
              <a:ea typeface="Calibri"/>
              <a:cs typeface="Calibri"/>
            </a:endParaRPr>
          </a:p>
          <a:p>
            <a:pPr algn="ctr">
              <a:defRPr sz="1400" b="0">
                <a:solidFill>
                  <a:srgbClr val="666666"/>
                </a:solidFill>
                <a:latin typeface="Calibri"/>
              </a:defRPr>
            </a:pPr>
            <a:r>
              <a:rPr lang="en-US" sz="1600" b="1">
                <a:solidFill>
                  <a:srgbClr val="002B5C"/>
                </a:solidFill>
                <a:ea typeface="+mn-lt"/>
                <a:cs typeface="+mn-lt"/>
              </a:rPr>
              <a:t>Τα απ</a:t>
            </a:r>
            <a:r>
              <a:rPr lang="en-US" sz="1600" b="1" err="1">
                <a:solidFill>
                  <a:srgbClr val="002B5C"/>
                </a:solidFill>
                <a:ea typeface="+mn-lt"/>
                <a:cs typeface="+mn-lt"/>
              </a:rPr>
              <a:t>οτελέσμ</a:t>
            </a:r>
            <a:r>
              <a:rPr lang="en-US" sz="1600" b="1">
                <a:solidFill>
                  <a:srgbClr val="002B5C"/>
                </a:solidFill>
                <a:ea typeface="+mn-lt"/>
                <a:cs typeface="+mn-lt"/>
              </a:rPr>
              <a:t>ατα </a:t>
            </a:r>
            <a:r>
              <a:rPr lang="en-US" sz="1600" b="1" err="1">
                <a:solidFill>
                  <a:srgbClr val="002B5C"/>
                </a:solidFill>
                <a:ea typeface="+mn-lt"/>
                <a:cs typeface="+mn-lt"/>
              </a:rPr>
              <a:t>του</a:t>
            </a:r>
            <a:r>
              <a:rPr lang="en-US" sz="1600" b="1">
                <a:solidFill>
                  <a:srgbClr val="002B5C"/>
                </a:solidFill>
                <a:ea typeface="+mn-lt"/>
                <a:cs typeface="+mn-lt"/>
              </a:rPr>
              <a:t> Dataset B επ</a:t>
            </a:r>
            <a:r>
              <a:rPr lang="en-US" sz="1600" b="1" err="1">
                <a:solidFill>
                  <a:srgbClr val="002B5C"/>
                </a:solidFill>
                <a:ea typeface="+mn-lt"/>
                <a:cs typeface="+mn-lt"/>
              </a:rPr>
              <a:t>ισημ</a:t>
            </a:r>
            <a:r>
              <a:rPr lang="en-US" sz="1600" b="1">
                <a:solidFill>
                  <a:srgbClr val="002B5C"/>
                </a:solidFill>
                <a:ea typeface="+mn-lt"/>
                <a:cs typeface="+mn-lt"/>
              </a:rPr>
              <a:t>α</a:t>
            </a:r>
            <a:r>
              <a:rPr lang="en-US" sz="1600" b="1" err="1">
                <a:solidFill>
                  <a:srgbClr val="002B5C"/>
                </a:solidFill>
                <a:ea typeface="+mn-lt"/>
                <a:cs typeface="+mn-lt"/>
              </a:rPr>
              <a:t>ίνοντ</a:t>
            </a:r>
            <a:r>
              <a:rPr lang="en-US" sz="1600" b="1">
                <a:solidFill>
                  <a:srgbClr val="002B5C"/>
                </a:solidFill>
                <a:ea typeface="+mn-lt"/>
                <a:cs typeface="+mn-lt"/>
              </a:rPr>
              <a:t>αι </a:t>
            </a:r>
            <a:r>
              <a:rPr lang="en-US" sz="1600" b="1" err="1">
                <a:solidFill>
                  <a:srgbClr val="002B5C"/>
                </a:solidFill>
                <a:ea typeface="+mn-lt"/>
                <a:cs typeface="+mn-lt"/>
              </a:rPr>
              <a:t>ως</a:t>
            </a:r>
            <a:r>
              <a:rPr lang="en-US" sz="1600" b="1">
                <a:solidFill>
                  <a:srgbClr val="002B5C"/>
                </a:solidFill>
                <a:ea typeface="+mn-lt"/>
                <a:cs typeface="+mn-lt"/>
              </a:rPr>
              <a:t> α</a:t>
            </a:r>
            <a:r>
              <a:rPr lang="en-US" sz="1600" b="1" err="1">
                <a:solidFill>
                  <a:srgbClr val="002B5C"/>
                </a:solidFill>
                <a:ea typeface="+mn-lt"/>
                <a:cs typeface="+mn-lt"/>
              </a:rPr>
              <a:t>ισιόδοξ</a:t>
            </a:r>
            <a:r>
              <a:rPr lang="en-US" sz="1600" b="1">
                <a:solidFill>
                  <a:srgbClr val="002B5C"/>
                </a:solidFill>
                <a:ea typeface="+mn-lt"/>
                <a:cs typeface="+mn-lt"/>
              </a:rPr>
              <a:t>α (</a:t>
            </a:r>
            <a:r>
              <a:rPr lang="en-US" sz="1600" b="1" err="1">
                <a:solidFill>
                  <a:srgbClr val="002B5C"/>
                </a:solidFill>
                <a:ea typeface="+mn-lt"/>
                <a:cs typeface="+mn-lt"/>
              </a:rPr>
              <a:t>δεν</a:t>
            </a:r>
            <a:r>
              <a:rPr lang="en-US" sz="1600" b="1">
                <a:solidFill>
                  <a:srgbClr val="002B5C"/>
                </a:solidFill>
                <a:ea typeface="+mn-lt"/>
                <a:cs typeface="+mn-lt"/>
              </a:rPr>
              <a:t> </a:t>
            </a:r>
            <a:r>
              <a:rPr lang="en-US" sz="1600" b="1" err="1">
                <a:solidFill>
                  <a:srgbClr val="002B5C"/>
                </a:solidFill>
                <a:ea typeface="+mn-lt"/>
                <a:cs typeface="+mn-lt"/>
              </a:rPr>
              <a:t>είν</a:t>
            </a:r>
            <a:r>
              <a:rPr lang="en-US" sz="1600" b="1">
                <a:solidFill>
                  <a:srgbClr val="002B5C"/>
                </a:solidFill>
                <a:ea typeface="+mn-lt"/>
                <a:cs typeface="+mn-lt"/>
              </a:rPr>
              <a:t>αι </a:t>
            </a:r>
            <a:r>
              <a:rPr lang="en-US" sz="1600" b="1" err="1">
                <a:solidFill>
                  <a:srgbClr val="002B5C"/>
                </a:solidFill>
                <a:ea typeface="+mn-lt"/>
                <a:cs typeface="+mn-lt"/>
              </a:rPr>
              <a:t>δυν</a:t>
            </a:r>
            <a:r>
              <a:rPr lang="en-US" sz="1600" b="1">
                <a:solidFill>
                  <a:srgbClr val="002B5C"/>
                </a:solidFill>
                <a:ea typeface="+mn-lt"/>
                <a:cs typeface="+mn-lt"/>
              </a:rPr>
              <a:t>α</a:t>
            </a:r>
            <a:r>
              <a:rPr lang="en-US" sz="1600" b="1" err="1">
                <a:solidFill>
                  <a:srgbClr val="002B5C"/>
                </a:solidFill>
                <a:ea typeface="+mn-lt"/>
                <a:cs typeface="+mn-lt"/>
              </a:rPr>
              <a:t>τή</a:t>
            </a:r>
            <a:r>
              <a:rPr lang="en-US" sz="1600" b="1">
                <a:solidFill>
                  <a:srgbClr val="002B5C"/>
                </a:solidFill>
                <a:ea typeface="+mn-lt"/>
                <a:cs typeface="+mn-lt"/>
              </a:rPr>
              <a:t> η grouped CV) </a:t>
            </a:r>
            <a:r>
              <a:rPr lang="en-US" sz="1600" b="1" err="1">
                <a:solidFill>
                  <a:srgbClr val="002B5C"/>
                </a:solidFill>
                <a:ea typeface="+mn-lt"/>
                <a:cs typeface="+mn-lt"/>
              </a:rPr>
              <a:t>λόγω</a:t>
            </a:r>
            <a:r>
              <a:rPr lang="en-US" sz="1600" b="1">
                <a:solidFill>
                  <a:srgbClr val="002B5C"/>
                </a:solidFill>
                <a:ea typeface="+mn-lt"/>
                <a:cs typeface="+mn-lt"/>
              </a:rPr>
              <a:t> π</a:t>
            </a:r>
            <a:r>
              <a:rPr lang="en-US" sz="1600" b="1" err="1">
                <a:solidFill>
                  <a:srgbClr val="002B5C"/>
                </a:solidFill>
                <a:ea typeface="+mn-lt"/>
                <a:cs typeface="+mn-lt"/>
              </a:rPr>
              <a:t>ολλ</a:t>
            </a:r>
            <a:r>
              <a:rPr lang="en-US" sz="1600" b="1">
                <a:solidFill>
                  <a:srgbClr val="002B5C"/>
                </a:solidFill>
                <a:ea typeface="+mn-lt"/>
                <a:cs typeface="+mn-lt"/>
              </a:rPr>
              <a:t>απ</a:t>
            </a:r>
            <a:r>
              <a:rPr lang="en-US" sz="1600" b="1" err="1">
                <a:solidFill>
                  <a:srgbClr val="002B5C"/>
                </a:solidFill>
                <a:ea typeface="+mn-lt"/>
                <a:cs typeface="+mn-lt"/>
              </a:rPr>
              <a:t>λών</a:t>
            </a:r>
            <a:r>
              <a:rPr lang="en-US" sz="1600" b="1">
                <a:solidFill>
                  <a:srgbClr val="002B5C"/>
                </a:solidFill>
                <a:ea typeface="+mn-lt"/>
                <a:cs typeface="+mn-lt"/>
              </a:rPr>
              <a:t> confounders.</a:t>
            </a:r>
            <a:endParaRPr lang="en-US" sz="1600" b="1">
              <a:solidFill>
                <a:srgbClr val="002B5C"/>
              </a:solidFill>
              <a:ea typeface="Calibri"/>
              <a:cs typeface="Calibri"/>
            </a:endParaRPr>
          </a:p>
        </p:txBody>
      </p:sp>
      <p:sp>
        <p:nvSpPr>
          <p:cNvPr id="9" name="Title 8">
            <a:extLst>
              <a:ext uri="{FF2B5EF4-FFF2-40B4-BE49-F238E27FC236}">
                <a16:creationId xmlns:a16="http://schemas.microsoft.com/office/drawing/2014/main" id="{233AD8DF-FC6D-B3B3-3B93-2BACF9BF8D29}"/>
              </a:ext>
            </a:extLst>
          </p:cNvPr>
          <p:cNvSpPr>
            <a:spLocks noGrp="1"/>
          </p:cNvSpPr>
          <p:nvPr>
            <p:ph type="title"/>
          </p:nvPr>
        </p:nvSpPr>
        <p:spPr>
          <a:xfrm>
            <a:off x="0" y="0"/>
            <a:ext cx="12192000" cy="900000"/>
          </a:xfrm>
        </p:spPr>
        <p:txBody>
          <a:bodyPr>
            <a:normAutofit/>
          </a:bodyPr>
          <a:lstStyle/>
          <a:p>
            <a:r>
              <a:rPr lang="en-GB">
                <a:latin typeface="Aptos"/>
              </a:rPr>
              <a:t>RQ4 - </a:t>
            </a:r>
            <a:r>
              <a:rPr lang="en-GB">
                <a:latin typeface="Aptos"/>
                <a:ea typeface="Calibri"/>
                <a:cs typeface="Calibri"/>
              </a:rPr>
              <a:t> </a:t>
            </a:r>
            <a:r>
              <a:rPr lang="en-GB" err="1">
                <a:latin typeface="Aptos"/>
                <a:ea typeface="Calibri"/>
                <a:cs typeface="Calibri"/>
              </a:rPr>
              <a:t>Δι</a:t>
            </a:r>
            <a:r>
              <a:rPr lang="en-GB">
                <a:latin typeface="Aptos"/>
                <a:ea typeface="Calibri"/>
                <a:cs typeface="Calibri"/>
              </a:rPr>
              <a:t>α</a:t>
            </a:r>
            <a:r>
              <a:rPr lang="en-GB" err="1">
                <a:latin typeface="Aptos"/>
                <a:ea typeface="Calibri"/>
                <a:cs typeface="Calibri"/>
              </a:rPr>
              <a:t>φορές</a:t>
            </a:r>
            <a:r>
              <a:rPr lang="en-GB">
                <a:latin typeface="Aptos"/>
                <a:ea typeface="Calibri"/>
                <a:cs typeface="Calibri"/>
              </a:rPr>
              <a:t> </a:t>
            </a:r>
            <a:r>
              <a:rPr lang="en-GB" err="1">
                <a:latin typeface="Aptos"/>
                <a:ea typeface="Calibri"/>
                <a:cs typeface="Calibri"/>
              </a:rPr>
              <a:t>μετ</a:t>
            </a:r>
            <a:r>
              <a:rPr lang="en-GB">
                <a:latin typeface="Aptos"/>
                <a:ea typeface="Calibri"/>
                <a:cs typeface="Calibri"/>
              </a:rPr>
              <a:t>α</a:t>
            </a:r>
            <a:r>
              <a:rPr lang="en-GB" err="1">
                <a:latin typeface="Aptos"/>
                <a:ea typeface="Calibri"/>
                <a:cs typeface="Calibri"/>
              </a:rPr>
              <a:t>ξύ</a:t>
            </a:r>
            <a:r>
              <a:rPr lang="en-GB">
                <a:latin typeface="Aptos"/>
                <a:ea typeface="Calibri"/>
                <a:cs typeface="Calibri"/>
              </a:rPr>
              <a:t> </a:t>
            </a:r>
            <a:r>
              <a:rPr lang="en-GB">
                <a:latin typeface="Aptos"/>
              </a:rPr>
              <a:t>subject-level CV &amp; standard CV;</a:t>
            </a:r>
            <a:endParaRPr lang="en-GB"/>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a:extLst>
            <a:ext uri="{FF2B5EF4-FFF2-40B4-BE49-F238E27FC236}">
              <a16:creationId xmlns:a16="http://schemas.microsoft.com/office/drawing/2014/main" id="{ED02FED7-9CA4-C0F8-A7DE-FD869D101AD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8922F90-E9B5-8070-57D0-07BB6A1BA921}"/>
              </a:ext>
            </a:extLst>
          </p:cNvPr>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itle 8">
            <a:extLst>
              <a:ext uri="{FF2B5EF4-FFF2-40B4-BE49-F238E27FC236}">
                <a16:creationId xmlns:a16="http://schemas.microsoft.com/office/drawing/2014/main" id="{DD10E8C4-5330-0B16-9E41-BC79BE41F1C8}"/>
              </a:ext>
            </a:extLst>
          </p:cNvPr>
          <p:cNvSpPr>
            <a:spLocks noGrp="1"/>
          </p:cNvSpPr>
          <p:nvPr>
            <p:ph type="title"/>
          </p:nvPr>
        </p:nvSpPr>
        <p:spPr>
          <a:xfrm>
            <a:off x="0" y="0"/>
            <a:ext cx="12192000" cy="900000"/>
          </a:xfrm>
        </p:spPr>
        <p:txBody>
          <a:bodyPr>
            <a:noAutofit/>
          </a:bodyPr>
          <a:lstStyle/>
          <a:p>
            <a:r>
              <a:rPr lang="en-GB" sz="2400">
                <a:latin typeface="Aptos"/>
              </a:rPr>
              <a:t>RQ5 - </a:t>
            </a:r>
            <a:r>
              <a:rPr lang="el-GR" sz="2400">
                <a:latin typeface="Aptos"/>
              </a:rPr>
              <a:t>Υπάρχει διαφορά στην απόδοση μεταξύ δομημένης και αυθόρμητης ομιλίας;</a:t>
            </a:r>
            <a:endParaRPr lang="en-GB" sz="2400"/>
          </a:p>
        </p:txBody>
      </p:sp>
      <p:graphicFrame>
        <p:nvGraphicFramePr>
          <p:cNvPr id="11" name="Table 10">
            <a:extLst>
              <a:ext uri="{FF2B5EF4-FFF2-40B4-BE49-F238E27FC236}">
                <a16:creationId xmlns:a16="http://schemas.microsoft.com/office/drawing/2014/main" id="{48E21365-337A-E2CF-E071-CEB79E503FF4}"/>
              </a:ext>
            </a:extLst>
          </p:cNvPr>
          <p:cNvGraphicFramePr>
            <a:graphicFrameLocks noGrp="1"/>
          </p:cNvGraphicFramePr>
          <p:nvPr>
            <p:extLst>
              <p:ext uri="{D42A27DB-BD31-4B8C-83A1-F6EECF244321}">
                <p14:modId xmlns:p14="http://schemas.microsoft.com/office/powerpoint/2010/main" val="3792299396"/>
              </p:ext>
            </p:extLst>
          </p:nvPr>
        </p:nvGraphicFramePr>
        <p:xfrm>
          <a:off x="1263315" y="1564105"/>
          <a:ext cx="9913752" cy="2926853"/>
        </p:xfrm>
        <a:graphic>
          <a:graphicData uri="http://schemas.openxmlformats.org/drawingml/2006/table">
            <a:tbl>
              <a:tblPr firstRow="1" bandRow="1">
                <a:tableStyleId>{5C22544A-7EE6-4342-B048-85BDC9FD1C3A}</a:tableStyleId>
              </a:tblPr>
              <a:tblGrid>
                <a:gridCol w="1858828">
                  <a:extLst>
                    <a:ext uri="{9D8B030D-6E8A-4147-A177-3AD203B41FA5}">
                      <a16:colId xmlns:a16="http://schemas.microsoft.com/office/drawing/2014/main" val="20000"/>
                    </a:ext>
                  </a:extLst>
                </a:gridCol>
                <a:gridCol w="2013731">
                  <a:extLst>
                    <a:ext uri="{9D8B030D-6E8A-4147-A177-3AD203B41FA5}">
                      <a16:colId xmlns:a16="http://schemas.microsoft.com/office/drawing/2014/main" val="20001"/>
                    </a:ext>
                  </a:extLst>
                </a:gridCol>
                <a:gridCol w="2013731">
                  <a:extLst>
                    <a:ext uri="{9D8B030D-6E8A-4147-A177-3AD203B41FA5}">
                      <a16:colId xmlns:a16="http://schemas.microsoft.com/office/drawing/2014/main" val="20002"/>
                    </a:ext>
                  </a:extLst>
                </a:gridCol>
                <a:gridCol w="2013731">
                  <a:extLst>
                    <a:ext uri="{9D8B030D-6E8A-4147-A177-3AD203B41FA5}">
                      <a16:colId xmlns:a16="http://schemas.microsoft.com/office/drawing/2014/main" val="2241193311"/>
                    </a:ext>
                  </a:extLst>
                </a:gridCol>
                <a:gridCol w="2013731">
                  <a:extLst>
                    <a:ext uri="{9D8B030D-6E8A-4147-A177-3AD203B41FA5}">
                      <a16:colId xmlns:a16="http://schemas.microsoft.com/office/drawing/2014/main" val="2976784084"/>
                    </a:ext>
                  </a:extLst>
                </a:gridCol>
              </a:tblGrid>
              <a:tr h="670978">
                <a:tc>
                  <a:txBody>
                    <a:bodyPr/>
                    <a:lstStyle/>
                    <a:p>
                      <a:pPr lvl="0" algn="ctr">
                        <a:lnSpc>
                          <a:spcPct val="100000"/>
                        </a:lnSpc>
                        <a:spcBef>
                          <a:spcPts val="0"/>
                        </a:spcBef>
                        <a:spcAft>
                          <a:spcPts val="0"/>
                        </a:spcAft>
                        <a:buNone/>
                      </a:pPr>
                      <a:r>
                        <a:rPr lang="en-US" sz="1800" b="1" i="0" u="none" strike="noStrike" noProof="0">
                          <a:solidFill>
                            <a:srgbClr val="FFFFFF"/>
                          </a:solidFill>
                          <a:latin typeface="Calibri"/>
                          <a:ea typeface="Calibri"/>
                          <a:cs typeface="Calibri"/>
                        </a:rPr>
                        <a:t>Model</a:t>
                      </a:r>
                      <a:endParaRPr lang="en-US"/>
                    </a:p>
                  </a:txBody>
                  <a:tcPr anchor="ctr">
                    <a:solidFill>
                      <a:srgbClr val="002B5C"/>
                    </a:solidFill>
                  </a:tcPr>
                </a:tc>
                <a:tc>
                  <a:txBody>
                    <a:bodyPr/>
                    <a:lstStyle/>
                    <a:p>
                      <a:pPr lvl="0" algn="ctr">
                        <a:lnSpc>
                          <a:spcPts val="2175"/>
                        </a:lnSpc>
                        <a:buNone/>
                      </a:pPr>
                      <a:r>
                        <a:rPr lang="en-US" sz="1800" b="1" i="0" u="none" strike="noStrike" noProof="0" err="1">
                          <a:solidFill>
                            <a:srgbClr val="FFFFFF"/>
                          </a:solidFill>
                          <a:latin typeface="Calibri"/>
                          <a:ea typeface="Calibri"/>
                          <a:cs typeface="Calibri"/>
                        </a:rPr>
                        <a:t>ReadText</a:t>
                      </a:r>
                      <a:endParaRPr lang="en-US" sz="1800" b="0" i="0" u="none" strike="noStrike" noProof="0" err="1">
                        <a:solidFill>
                          <a:srgbClr val="000000"/>
                        </a:solidFill>
                        <a:latin typeface="Calibri"/>
                        <a:ea typeface="Calibri"/>
                        <a:cs typeface="Calibri"/>
                      </a:endParaRPr>
                    </a:p>
                    <a:p>
                      <a:pPr lvl="0" algn="ctr">
                        <a:lnSpc>
                          <a:spcPts val="2175"/>
                        </a:lnSpc>
                        <a:buNone/>
                      </a:pPr>
                      <a:r>
                        <a:rPr lang="en-US" sz="1800" b="1" i="0" u="none" strike="noStrike" noProof="0">
                          <a:solidFill>
                            <a:srgbClr val="FFFFFF"/>
                          </a:solidFill>
                          <a:latin typeface="Calibri"/>
                          <a:ea typeface="Calibri"/>
                          <a:cs typeface="Calibri"/>
                        </a:rPr>
                        <a:t>47 feat</a:t>
                      </a:r>
                      <a:endParaRPr lang="en-US"/>
                    </a:p>
                  </a:txBody>
                  <a:tcPr anchor="ctr">
                    <a:solidFill>
                      <a:srgbClr val="002B5C"/>
                    </a:solidFill>
                  </a:tcPr>
                </a:tc>
                <a:tc>
                  <a:txBody>
                    <a:bodyPr/>
                    <a:lstStyle/>
                    <a:p>
                      <a:pPr lvl="0" algn="ctr">
                        <a:lnSpc>
                          <a:spcPts val="2175"/>
                        </a:lnSpc>
                        <a:buNone/>
                      </a:pPr>
                      <a:r>
                        <a:rPr lang="en-US" sz="1800" b="1" i="0" u="none" strike="noStrike" noProof="0" err="1">
                          <a:solidFill>
                            <a:srgbClr val="FFFFFF"/>
                          </a:solidFill>
                          <a:latin typeface="Calibri"/>
                          <a:ea typeface="Calibri"/>
                          <a:cs typeface="Calibri"/>
                        </a:rPr>
                        <a:t>ReadText</a:t>
                      </a:r>
                      <a:endParaRPr lang="en-US" sz="1800" b="0" i="0" u="none" strike="noStrike" noProof="0" err="1">
                        <a:solidFill>
                          <a:srgbClr val="000000"/>
                        </a:solidFill>
                        <a:latin typeface="Calibri"/>
                        <a:ea typeface="Calibri"/>
                        <a:cs typeface="Calibri"/>
                      </a:endParaRPr>
                    </a:p>
                    <a:p>
                      <a:pPr lvl="0" algn="ctr">
                        <a:lnSpc>
                          <a:spcPts val="2175"/>
                        </a:lnSpc>
                        <a:buNone/>
                      </a:pPr>
                      <a:r>
                        <a:rPr lang="en-US" sz="1800" b="1" i="0" u="none" strike="noStrike" noProof="0">
                          <a:solidFill>
                            <a:srgbClr val="FFFFFF"/>
                          </a:solidFill>
                          <a:latin typeface="Calibri"/>
                          <a:ea typeface="Calibri"/>
                          <a:cs typeface="Calibri"/>
                        </a:rPr>
                        <a:t>78 feat.</a:t>
                      </a:r>
                      <a:endParaRPr lang="en-US"/>
                    </a:p>
                  </a:txBody>
                  <a:tcPr anchor="ctr">
                    <a:solidFill>
                      <a:srgbClr val="002B5C"/>
                    </a:solidFill>
                  </a:tcPr>
                </a:tc>
                <a:tc>
                  <a:txBody>
                    <a:bodyPr/>
                    <a:lstStyle/>
                    <a:p>
                      <a:pPr lvl="0" algn="ctr">
                        <a:lnSpc>
                          <a:spcPts val="2175"/>
                        </a:lnSpc>
                        <a:buNone/>
                      </a:pPr>
                      <a:r>
                        <a:rPr lang="en-US" sz="1800" b="1" i="0" u="none" strike="noStrike" noProof="0" err="1">
                          <a:solidFill>
                            <a:srgbClr val="FFFFFF"/>
                          </a:solidFill>
                          <a:latin typeface="Calibri"/>
                          <a:ea typeface="Calibri"/>
                          <a:cs typeface="Calibri"/>
                        </a:rPr>
                        <a:t>Spont</a:t>
                      </a:r>
                      <a:r>
                        <a:rPr lang="en-US" sz="1800" b="1" i="0" u="none" strike="noStrike" noProof="0">
                          <a:solidFill>
                            <a:srgbClr val="FFFFFF"/>
                          </a:solidFill>
                          <a:latin typeface="Calibri"/>
                          <a:ea typeface="Calibri"/>
                          <a:cs typeface="Calibri"/>
                        </a:rPr>
                        <a:t>.</a:t>
                      </a:r>
                      <a:endParaRPr lang="en-US" sz="1800" b="0" i="0" u="none" strike="noStrike" noProof="0">
                        <a:solidFill>
                          <a:srgbClr val="000000"/>
                        </a:solidFill>
                        <a:latin typeface="Calibri"/>
                        <a:ea typeface="Calibri"/>
                        <a:cs typeface="Calibri"/>
                      </a:endParaRPr>
                    </a:p>
                    <a:p>
                      <a:pPr lvl="0" algn="ctr">
                        <a:lnSpc>
                          <a:spcPts val="2175"/>
                        </a:lnSpc>
                        <a:buNone/>
                      </a:pPr>
                      <a:r>
                        <a:rPr lang="en-US" sz="1800" b="1" i="0" u="none" strike="noStrike" noProof="0">
                          <a:solidFill>
                            <a:srgbClr val="FFFFFF"/>
                          </a:solidFill>
                          <a:latin typeface="Calibri"/>
                          <a:ea typeface="Calibri"/>
                          <a:cs typeface="Calibri"/>
                        </a:rPr>
                        <a:t>47 feat.</a:t>
                      </a:r>
                      <a:endParaRPr lang="en-US"/>
                    </a:p>
                  </a:txBody>
                  <a:tcPr anchor="ctr">
                    <a:solidFill>
                      <a:srgbClr val="002B5C"/>
                    </a:solidFill>
                  </a:tcPr>
                </a:tc>
                <a:tc>
                  <a:txBody>
                    <a:bodyPr/>
                    <a:lstStyle/>
                    <a:p>
                      <a:pPr lvl="0" algn="ctr">
                        <a:lnSpc>
                          <a:spcPts val="2175"/>
                        </a:lnSpc>
                        <a:buNone/>
                      </a:pPr>
                      <a:r>
                        <a:rPr lang="en-US" sz="1800" b="1" i="0" u="none" strike="noStrike" noProof="0" err="1">
                          <a:solidFill>
                            <a:srgbClr val="FFFFFF"/>
                          </a:solidFill>
                          <a:latin typeface="Calibri"/>
                          <a:ea typeface="Calibri"/>
                          <a:cs typeface="Calibri"/>
                        </a:rPr>
                        <a:t>Spont</a:t>
                      </a:r>
                      <a:r>
                        <a:rPr lang="en-US" sz="1800" b="1" i="0" u="none" strike="noStrike" noProof="0">
                          <a:solidFill>
                            <a:srgbClr val="FFFFFF"/>
                          </a:solidFill>
                          <a:latin typeface="Calibri"/>
                          <a:ea typeface="Calibri"/>
                          <a:cs typeface="Calibri"/>
                        </a:rPr>
                        <a:t>.</a:t>
                      </a:r>
                      <a:endParaRPr lang="en-US" sz="1800" b="0" i="0" u="none" strike="noStrike" noProof="0">
                        <a:solidFill>
                          <a:srgbClr val="000000"/>
                        </a:solidFill>
                        <a:latin typeface="Calibri"/>
                        <a:ea typeface="Calibri"/>
                        <a:cs typeface="Calibri"/>
                      </a:endParaRPr>
                    </a:p>
                    <a:p>
                      <a:pPr lvl="0" algn="ctr">
                        <a:lnSpc>
                          <a:spcPts val="2175"/>
                        </a:lnSpc>
                        <a:buNone/>
                      </a:pPr>
                      <a:r>
                        <a:rPr lang="en-US" sz="1800" b="1" i="0" u="none" strike="noStrike" noProof="0">
                          <a:solidFill>
                            <a:srgbClr val="FFFFFF"/>
                          </a:solidFill>
                          <a:latin typeface="Calibri"/>
                          <a:ea typeface="Calibri"/>
                          <a:cs typeface="Calibri"/>
                        </a:rPr>
                        <a:t>78 feat.</a:t>
                      </a:r>
                      <a:endParaRPr lang="en-US"/>
                    </a:p>
                  </a:txBody>
                  <a:tcPr anchor="ctr">
                    <a:solidFill>
                      <a:srgbClr val="002B5C"/>
                    </a:solidFill>
                  </a:tcPr>
                </a:tc>
                <a:extLst>
                  <a:ext uri="{0D108BD9-81ED-4DB2-BD59-A6C34878D82A}">
                    <a16:rowId xmlns:a16="http://schemas.microsoft.com/office/drawing/2014/main" val="10000"/>
                  </a:ext>
                </a:extLst>
              </a:tr>
              <a:tr h="451175">
                <a:tc>
                  <a:txBody>
                    <a:bodyPr/>
                    <a:lstStyle/>
                    <a:p>
                      <a:pPr lvl="0" algn="ctr">
                        <a:lnSpc>
                          <a:spcPct val="100000"/>
                        </a:lnSpc>
                        <a:spcBef>
                          <a:spcPts val="0"/>
                        </a:spcBef>
                        <a:spcAft>
                          <a:spcPts val="0"/>
                        </a:spcAft>
                        <a:buNone/>
                      </a:pPr>
                      <a:r>
                        <a:rPr lang="en-US" sz="1800" b="0" i="0" u="none" strike="noStrike" noProof="0" err="1">
                          <a:solidFill>
                            <a:srgbClr val="000000"/>
                          </a:solidFill>
                          <a:latin typeface="Calibri"/>
                          <a:ea typeface="Calibri"/>
                          <a:cs typeface="Calibri"/>
                        </a:rPr>
                        <a:t>LogReg</a:t>
                      </a:r>
                    </a:p>
                  </a:txBody>
                  <a:tcPr anchor="ctr">
                    <a:solidFill>
                      <a:srgbClr val="F2F2F2"/>
                    </a:solidFill>
                  </a:tcPr>
                </a:tc>
                <a:tc>
                  <a:txBody>
                    <a:bodyPr/>
                    <a:lstStyle/>
                    <a:p>
                      <a:pPr lvl="0" algn="ctr">
                        <a:lnSpc>
                          <a:spcPts val="2175"/>
                        </a:lnSpc>
                        <a:buNone/>
                      </a:pPr>
                      <a:r>
                        <a:rPr lang="en-US" sz="1800" b="1">
                          <a:effectLst/>
                          <a:latin typeface="Calibri"/>
                        </a:rPr>
                        <a:t>0.717</a:t>
                      </a:r>
                      <a:endParaRPr lang="en-US" b="1">
                        <a:effectLst/>
                      </a:endParaRPr>
                    </a:p>
                  </a:txBody>
                  <a:tcPr anchor="ctr">
                    <a:lnR w="11582" cap="flat" cmpd="sng" algn="ctr">
                      <a:solidFill>
                        <a:srgbClr val="FFFFFF"/>
                      </a:solidFill>
                      <a:prstDash val="solid"/>
                      <a:round/>
                      <a:headEnd type="none" w="med" len="med"/>
                      <a:tailEnd type="none" w="med" len="med"/>
                    </a:lnR>
                    <a:lnB w="11582" cap="flat" cmpd="sng" algn="ctr">
                      <a:solidFill>
                        <a:srgbClr val="FFFFFF"/>
                      </a:solidFill>
                      <a:prstDash val="solid"/>
                      <a:round/>
                      <a:headEnd type="none" w="med" len="med"/>
                      <a:tailEnd type="none" w="med" len="med"/>
                    </a:lnB>
                    <a:solidFill>
                      <a:srgbClr val="F2F2F2"/>
                    </a:solidFill>
                  </a:tcPr>
                </a:tc>
                <a:tc>
                  <a:txBody>
                    <a:bodyPr/>
                    <a:lstStyle/>
                    <a:p>
                      <a:pPr lvl="0" algn="ctr">
                        <a:lnSpc>
                          <a:spcPts val="2175"/>
                        </a:lnSpc>
                        <a:buNone/>
                      </a:pPr>
                      <a:r>
                        <a:rPr lang="en-US" sz="1800">
                          <a:effectLst/>
                          <a:latin typeface="Calibri"/>
                        </a:rPr>
                        <a:t>0.698</a:t>
                      </a:r>
                      <a:endParaRPr lang="en-US">
                        <a:effectLst/>
                      </a:endParaRPr>
                    </a:p>
                  </a:txBody>
                  <a:tcPr anchor="ctr">
                    <a:lnL w="11582"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B w="11582" cap="flat" cmpd="sng" algn="ctr">
                      <a:solidFill>
                        <a:srgbClr val="FFFFFF"/>
                      </a:solidFill>
                      <a:prstDash val="solid"/>
                      <a:round/>
                      <a:headEnd type="none" w="med" len="med"/>
                      <a:tailEnd type="none" w="med" len="med"/>
                    </a:lnB>
                    <a:solidFill>
                      <a:srgbClr val="F2F2F2"/>
                    </a:solidFill>
                  </a:tcPr>
                </a:tc>
                <a:tc>
                  <a:txBody>
                    <a:bodyPr/>
                    <a:lstStyle/>
                    <a:p>
                      <a:pPr lvl="0" algn="ctr">
                        <a:lnSpc>
                          <a:spcPts val="2175"/>
                        </a:lnSpc>
                        <a:buNone/>
                      </a:pPr>
                      <a:r>
                        <a:rPr lang="en-US" sz="1800">
                          <a:effectLst/>
                          <a:latin typeface="Calibri"/>
                        </a:rPr>
                        <a:t>0.760</a:t>
                      </a:r>
                      <a:endParaRPr lang="en-US">
                        <a:effectLst/>
                      </a:endParaRPr>
                    </a:p>
                  </a:txBody>
                  <a:tcPr anchor="ctr">
                    <a:lnL w="11582"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B w="11582" cap="flat" cmpd="sng" algn="ctr">
                      <a:solidFill>
                        <a:srgbClr val="FFFFFF"/>
                      </a:solidFill>
                      <a:prstDash val="solid"/>
                      <a:round/>
                      <a:headEnd type="none" w="med" len="med"/>
                      <a:tailEnd type="none" w="med" len="med"/>
                    </a:lnB>
                    <a:solidFill>
                      <a:srgbClr val="F2F2F2"/>
                    </a:solidFill>
                  </a:tcPr>
                </a:tc>
                <a:tc>
                  <a:txBody>
                    <a:bodyPr/>
                    <a:lstStyle/>
                    <a:p>
                      <a:pPr lvl="0" algn="ctr">
                        <a:lnSpc>
                          <a:spcPts val="2175"/>
                        </a:lnSpc>
                        <a:buNone/>
                      </a:pPr>
                      <a:r>
                        <a:rPr lang="en-US" sz="1800">
                          <a:effectLst/>
                          <a:latin typeface="Calibri"/>
                        </a:rPr>
                        <a:t>0.783</a:t>
                      </a:r>
                      <a:endParaRPr lang="en-US">
                        <a:effectLst/>
                      </a:endParaRPr>
                    </a:p>
                  </a:txBody>
                  <a:tcPr anchor="ctr">
                    <a:lnL w="11582"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B w="11582"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451175">
                <a:tc>
                  <a:txBody>
                    <a:bodyPr/>
                    <a:lstStyle/>
                    <a:p>
                      <a:pPr lvl="0" algn="ctr">
                        <a:lnSpc>
                          <a:spcPct val="100000"/>
                        </a:lnSpc>
                        <a:spcBef>
                          <a:spcPts val="0"/>
                        </a:spcBef>
                        <a:spcAft>
                          <a:spcPts val="0"/>
                        </a:spcAft>
                        <a:buNone/>
                      </a:pPr>
                      <a:r>
                        <a:rPr lang="en-US" sz="1800" b="0" i="0" u="none" strike="noStrike" noProof="0">
                          <a:solidFill>
                            <a:srgbClr val="000000"/>
                          </a:solidFill>
                          <a:latin typeface="Calibri"/>
                          <a:ea typeface="Calibri"/>
                          <a:cs typeface="Calibri"/>
                        </a:rPr>
                        <a:t>RF</a:t>
                      </a:r>
                    </a:p>
                  </a:txBody>
                  <a:tcPr anchor="ctr">
                    <a:solidFill>
                      <a:srgbClr val="FFFFFF"/>
                    </a:solidFill>
                  </a:tcPr>
                </a:tc>
                <a:tc>
                  <a:txBody>
                    <a:bodyPr/>
                    <a:lstStyle/>
                    <a:p>
                      <a:pPr lvl="0" algn="ctr">
                        <a:lnSpc>
                          <a:spcPts val="2175"/>
                        </a:lnSpc>
                        <a:buNone/>
                      </a:pPr>
                      <a:r>
                        <a:rPr lang="en-US" sz="1800">
                          <a:effectLst/>
                          <a:latin typeface="Calibri"/>
                        </a:rPr>
                        <a:t>0.590</a:t>
                      </a:r>
                      <a:endParaRPr lang="en-US">
                        <a:effectLst/>
                      </a:endParaRPr>
                    </a:p>
                  </a:txBody>
                  <a:tcPr anchor="ctr">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FFFFF"/>
                    </a:solidFill>
                  </a:tcPr>
                </a:tc>
                <a:tc>
                  <a:txBody>
                    <a:bodyPr/>
                    <a:lstStyle/>
                    <a:p>
                      <a:pPr lvl="0" algn="ctr">
                        <a:lnSpc>
                          <a:spcPts val="2175"/>
                        </a:lnSpc>
                        <a:buNone/>
                      </a:pPr>
                      <a:r>
                        <a:rPr lang="en-US" sz="1800">
                          <a:effectLst/>
                          <a:latin typeface="Calibri"/>
                        </a:rPr>
                        <a:t>0.822</a:t>
                      </a:r>
                      <a:endParaRPr lang="en-US">
                        <a:effectLst/>
                      </a:endParaRPr>
                    </a:p>
                  </a:txBody>
                  <a:tcPr anchor="ctr">
                    <a:lnL w="11582"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FFFFF"/>
                    </a:solidFill>
                  </a:tcPr>
                </a:tc>
                <a:tc>
                  <a:txBody>
                    <a:bodyPr/>
                    <a:lstStyle/>
                    <a:p>
                      <a:pPr lvl="0" algn="ctr">
                        <a:lnSpc>
                          <a:spcPts val="2175"/>
                        </a:lnSpc>
                        <a:buNone/>
                      </a:pPr>
                      <a:r>
                        <a:rPr lang="en-US" sz="1800" b="1">
                          <a:effectLst/>
                          <a:latin typeface="Calibri"/>
                        </a:rPr>
                        <a:t>0.828</a:t>
                      </a:r>
                      <a:endParaRPr lang="en-US" b="1">
                        <a:effectLst/>
                      </a:endParaRPr>
                    </a:p>
                  </a:txBody>
                  <a:tcPr anchor="ctr">
                    <a:lnL w="11582"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FFFFF"/>
                    </a:solidFill>
                  </a:tcPr>
                </a:tc>
                <a:tc>
                  <a:txBody>
                    <a:bodyPr/>
                    <a:lstStyle/>
                    <a:p>
                      <a:pPr lvl="0" algn="ctr">
                        <a:lnSpc>
                          <a:spcPts val="2175"/>
                        </a:lnSpc>
                        <a:buNone/>
                      </a:pPr>
                      <a:r>
                        <a:rPr lang="en-US" sz="1800" b="1">
                          <a:effectLst/>
                          <a:latin typeface="Calibri"/>
                        </a:rPr>
                        <a:t>0.857</a:t>
                      </a:r>
                      <a:endParaRPr lang="en-US" b="1">
                        <a:effectLst/>
                      </a:endParaRPr>
                    </a:p>
                  </a:txBody>
                  <a:tcPr anchor="ctr">
                    <a:lnL w="11582"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1175">
                <a:tc>
                  <a:txBody>
                    <a:bodyPr/>
                    <a:lstStyle/>
                    <a:p>
                      <a:pPr lvl="0" algn="ctr">
                        <a:lnSpc>
                          <a:spcPct val="100000"/>
                        </a:lnSpc>
                        <a:spcBef>
                          <a:spcPts val="0"/>
                        </a:spcBef>
                        <a:spcAft>
                          <a:spcPts val="0"/>
                        </a:spcAft>
                        <a:buNone/>
                      </a:pPr>
                      <a:r>
                        <a:rPr lang="en-US" sz="1800" b="0" i="0" u="none" strike="noStrike" noProof="0">
                          <a:solidFill>
                            <a:srgbClr val="000000"/>
                          </a:solidFill>
                          <a:latin typeface="Calibri"/>
                          <a:ea typeface="Calibri"/>
                          <a:cs typeface="Calibri"/>
                        </a:rPr>
                        <a:t>SVM RBF</a:t>
                      </a:r>
                    </a:p>
                  </a:txBody>
                  <a:tcPr anchor="ctr">
                    <a:solidFill>
                      <a:srgbClr val="F2F2F2"/>
                    </a:solidFill>
                  </a:tcPr>
                </a:tc>
                <a:tc>
                  <a:txBody>
                    <a:bodyPr/>
                    <a:lstStyle/>
                    <a:p>
                      <a:pPr lvl="0" algn="ctr">
                        <a:lnSpc>
                          <a:spcPts val="2175"/>
                        </a:lnSpc>
                        <a:buNone/>
                      </a:pPr>
                      <a:r>
                        <a:rPr lang="en-US" sz="1800">
                          <a:effectLst/>
                          <a:latin typeface="Calibri"/>
                        </a:rPr>
                        <a:t>0.614</a:t>
                      </a:r>
                      <a:endParaRPr lang="en-US">
                        <a:effectLst/>
                      </a:endParaRPr>
                    </a:p>
                  </a:txBody>
                  <a:tcPr anchor="ctr">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2F2F2"/>
                    </a:solidFill>
                  </a:tcPr>
                </a:tc>
                <a:tc>
                  <a:txBody>
                    <a:bodyPr/>
                    <a:lstStyle/>
                    <a:p>
                      <a:pPr lvl="0" algn="ctr">
                        <a:lnSpc>
                          <a:spcPts val="2175"/>
                        </a:lnSpc>
                        <a:buNone/>
                      </a:pPr>
                      <a:r>
                        <a:rPr lang="en-US" sz="1800" b="1">
                          <a:effectLst/>
                          <a:latin typeface="Calibri"/>
                        </a:rPr>
                        <a:t>0.834</a:t>
                      </a:r>
                      <a:endParaRPr lang="en-US" b="1">
                        <a:effectLst/>
                      </a:endParaRPr>
                    </a:p>
                  </a:txBody>
                  <a:tcPr anchor="ctr">
                    <a:lnL w="11582"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2F2F2"/>
                    </a:solidFill>
                  </a:tcPr>
                </a:tc>
                <a:tc>
                  <a:txBody>
                    <a:bodyPr/>
                    <a:lstStyle/>
                    <a:p>
                      <a:pPr lvl="0" algn="ctr">
                        <a:lnSpc>
                          <a:spcPts val="2175"/>
                        </a:lnSpc>
                        <a:buNone/>
                      </a:pPr>
                      <a:r>
                        <a:rPr lang="en-US" sz="1800">
                          <a:effectLst/>
                          <a:latin typeface="Calibri"/>
                        </a:rPr>
                        <a:t>0.407</a:t>
                      </a:r>
                      <a:endParaRPr lang="en-US">
                        <a:effectLst/>
                      </a:endParaRPr>
                    </a:p>
                  </a:txBody>
                  <a:tcPr anchor="ctr">
                    <a:lnL w="11582"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2F2F2"/>
                    </a:solidFill>
                  </a:tcPr>
                </a:tc>
                <a:tc>
                  <a:txBody>
                    <a:bodyPr/>
                    <a:lstStyle/>
                    <a:p>
                      <a:pPr lvl="0" algn="ctr">
                        <a:lnSpc>
                          <a:spcPts val="2175"/>
                        </a:lnSpc>
                        <a:buNone/>
                      </a:pPr>
                      <a:r>
                        <a:rPr lang="en-US" sz="1800">
                          <a:effectLst/>
                          <a:latin typeface="Calibri"/>
                        </a:rPr>
                        <a:t>0.460</a:t>
                      </a:r>
                      <a:endParaRPr lang="en-US">
                        <a:effectLst/>
                      </a:endParaRPr>
                    </a:p>
                  </a:txBody>
                  <a:tcPr anchor="ctr">
                    <a:lnL w="11582"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451175">
                <a:tc>
                  <a:txBody>
                    <a:bodyPr/>
                    <a:lstStyle/>
                    <a:p>
                      <a:pPr lvl="0" algn="ctr">
                        <a:lnSpc>
                          <a:spcPct val="100000"/>
                        </a:lnSpc>
                        <a:spcBef>
                          <a:spcPts val="0"/>
                        </a:spcBef>
                        <a:spcAft>
                          <a:spcPts val="0"/>
                        </a:spcAft>
                        <a:buNone/>
                      </a:pPr>
                      <a:r>
                        <a:rPr lang="en-US" sz="1800" b="0" i="0" u="none" strike="noStrike" noProof="0" err="1">
                          <a:solidFill>
                            <a:srgbClr val="000000"/>
                          </a:solidFill>
                          <a:latin typeface="Calibri"/>
                          <a:ea typeface="Calibri"/>
                          <a:cs typeface="Calibri"/>
                        </a:rPr>
                        <a:t>GradBoost</a:t>
                      </a:r>
                    </a:p>
                  </a:txBody>
                  <a:tcPr anchor="ctr">
                    <a:solidFill>
                      <a:srgbClr val="F2F2F2"/>
                    </a:solidFill>
                  </a:tcPr>
                </a:tc>
                <a:tc>
                  <a:txBody>
                    <a:bodyPr/>
                    <a:lstStyle/>
                    <a:p>
                      <a:pPr lvl="0" algn="ctr">
                        <a:lnSpc>
                          <a:spcPts val="2175"/>
                        </a:lnSpc>
                        <a:buNone/>
                      </a:pPr>
                      <a:r>
                        <a:rPr lang="en-US" sz="1800">
                          <a:effectLst/>
                          <a:latin typeface="Calibri"/>
                        </a:rPr>
                        <a:t>0.500</a:t>
                      </a:r>
                      <a:endParaRPr lang="en-US">
                        <a:effectLst/>
                      </a:endParaRPr>
                    </a:p>
                  </a:txBody>
                  <a:tcPr anchor="ctr">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FFFFF"/>
                    </a:solidFill>
                  </a:tcPr>
                </a:tc>
                <a:tc>
                  <a:txBody>
                    <a:bodyPr/>
                    <a:lstStyle/>
                    <a:p>
                      <a:pPr lvl="0" algn="ctr">
                        <a:lnSpc>
                          <a:spcPts val="2175"/>
                        </a:lnSpc>
                        <a:buNone/>
                      </a:pPr>
                      <a:r>
                        <a:rPr lang="en-US" sz="1800">
                          <a:effectLst/>
                          <a:latin typeface="Calibri"/>
                        </a:rPr>
                        <a:t>0.724</a:t>
                      </a:r>
                      <a:endParaRPr lang="en-US">
                        <a:effectLst/>
                      </a:endParaRPr>
                    </a:p>
                  </a:txBody>
                  <a:tcPr anchor="ctr">
                    <a:lnL w="11582"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FFFFF"/>
                    </a:solidFill>
                  </a:tcPr>
                </a:tc>
                <a:tc>
                  <a:txBody>
                    <a:bodyPr/>
                    <a:lstStyle/>
                    <a:p>
                      <a:pPr lvl="0" algn="ctr">
                        <a:lnSpc>
                          <a:spcPts val="2175"/>
                        </a:lnSpc>
                        <a:buNone/>
                      </a:pPr>
                      <a:r>
                        <a:rPr lang="en-US" sz="1800">
                          <a:effectLst/>
                          <a:latin typeface="Calibri"/>
                        </a:rPr>
                        <a:t>0.615</a:t>
                      </a:r>
                      <a:endParaRPr lang="en-US">
                        <a:effectLst/>
                      </a:endParaRPr>
                    </a:p>
                  </a:txBody>
                  <a:tcPr anchor="ctr">
                    <a:lnL w="11582"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FFFFF"/>
                    </a:solidFill>
                  </a:tcPr>
                </a:tc>
                <a:tc>
                  <a:txBody>
                    <a:bodyPr/>
                    <a:lstStyle/>
                    <a:p>
                      <a:pPr lvl="0" algn="ctr">
                        <a:lnSpc>
                          <a:spcPts val="2175"/>
                        </a:lnSpc>
                        <a:buNone/>
                      </a:pPr>
                      <a:r>
                        <a:rPr lang="en-US" sz="1800">
                          <a:effectLst/>
                          <a:latin typeface="Calibri"/>
                        </a:rPr>
                        <a:t>0.638</a:t>
                      </a:r>
                      <a:endParaRPr lang="en-US">
                        <a:effectLst/>
                      </a:endParaRPr>
                    </a:p>
                  </a:txBody>
                  <a:tcPr anchor="ctr">
                    <a:lnL w="11582"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439778346"/>
                  </a:ext>
                </a:extLst>
              </a:tr>
              <a:tr h="451175">
                <a:tc>
                  <a:txBody>
                    <a:bodyPr/>
                    <a:lstStyle/>
                    <a:p>
                      <a:pPr lvl="0" algn="ctr">
                        <a:buNone/>
                      </a:pPr>
                      <a:r>
                        <a:rPr lang="en-US" sz="1800" b="0" i="0" u="none" strike="noStrike" noProof="0" err="1">
                          <a:solidFill>
                            <a:srgbClr val="000000"/>
                          </a:solidFill>
                          <a:latin typeface="Calibri"/>
                          <a:ea typeface="Calibri"/>
                          <a:cs typeface="Calibri"/>
                        </a:rPr>
                        <a:t>XGBoost</a:t>
                      </a:r>
                      <a:endParaRPr lang="en-US" err="1"/>
                    </a:p>
                  </a:txBody>
                  <a:tcPr anchor="ctr">
                    <a:solidFill>
                      <a:srgbClr val="FFFFFF"/>
                    </a:solidFill>
                  </a:tcPr>
                </a:tc>
                <a:tc>
                  <a:txBody>
                    <a:bodyPr/>
                    <a:lstStyle/>
                    <a:p>
                      <a:pPr lvl="0" algn="ctr">
                        <a:lnSpc>
                          <a:spcPts val="2175"/>
                        </a:lnSpc>
                        <a:buNone/>
                      </a:pPr>
                      <a:r>
                        <a:rPr lang="en-US" sz="1800">
                          <a:effectLst/>
                          <a:latin typeface="Calibri"/>
                        </a:rPr>
                        <a:t>0.628</a:t>
                      </a:r>
                      <a:endParaRPr lang="en-US">
                        <a:effectLst/>
                      </a:endParaRPr>
                    </a:p>
                  </a:txBody>
                  <a:tcPr anchor="ctr">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2F2F2"/>
                    </a:solidFill>
                  </a:tcPr>
                </a:tc>
                <a:tc>
                  <a:txBody>
                    <a:bodyPr/>
                    <a:lstStyle/>
                    <a:p>
                      <a:pPr lvl="0" algn="ctr">
                        <a:lnSpc>
                          <a:spcPts val="2175"/>
                        </a:lnSpc>
                        <a:buNone/>
                      </a:pPr>
                      <a:r>
                        <a:rPr lang="en-US" sz="1800">
                          <a:effectLst/>
                          <a:latin typeface="Calibri"/>
                        </a:rPr>
                        <a:t>0.794</a:t>
                      </a:r>
                      <a:endParaRPr lang="en-US">
                        <a:effectLst/>
                      </a:endParaRPr>
                    </a:p>
                  </a:txBody>
                  <a:tcPr anchor="ctr">
                    <a:lnL w="11582"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2F2F2"/>
                    </a:solidFill>
                  </a:tcPr>
                </a:tc>
                <a:tc>
                  <a:txBody>
                    <a:bodyPr/>
                    <a:lstStyle/>
                    <a:p>
                      <a:pPr lvl="0" algn="ctr">
                        <a:lnSpc>
                          <a:spcPts val="2175"/>
                        </a:lnSpc>
                        <a:buNone/>
                      </a:pPr>
                      <a:r>
                        <a:rPr lang="en-US" sz="1800">
                          <a:effectLst/>
                          <a:latin typeface="Calibri"/>
                        </a:rPr>
                        <a:t>0.723</a:t>
                      </a:r>
                      <a:endParaRPr lang="en-US">
                        <a:effectLst/>
                      </a:endParaRPr>
                    </a:p>
                  </a:txBody>
                  <a:tcPr anchor="ctr">
                    <a:lnL w="11582"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2F2F2"/>
                    </a:solidFill>
                  </a:tcPr>
                </a:tc>
                <a:tc>
                  <a:txBody>
                    <a:bodyPr/>
                    <a:lstStyle/>
                    <a:p>
                      <a:pPr lvl="0" algn="ctr">
                        <a:lnSpc>
                          <a:spcPts val="2175"/>
                        </a:lnSpc>
                        <a:buNone/>
                      </a:pPr>
                      <a:r>
                        <a:rPr lang="en-US" sz="1800">
                          <a:effectLst/>
                          <a:latin typeface="Calibri"/>
                        </a:rPr>
                        <a:t>0.687</a:t>
                      </a:r>
                      <a:endParaRPr lang="en-US">
                        <a:effectLst/>
                      </a:endParaRPr>
                    </a:p>
                  </a:txBody>
                  <a:tcPr anchor="ctr">
                    <a:lnL w="11582" cap="flat" cmpd="sng" algn="ctr">
                      <a:solidFill>
                        <a:srgbClr val="FFFFFF"/>
                      </a:solidFill>
                      <a:prstDash val="solid"/>
                      <a:round/>
                      <a:headEnd type="none" w="med" len="med"/>
                      <a:tailEnd type="none" w="med" len="med"/>
                    </a:lnL>
                    <a:lnR w="11582" cap="flat" cmpd="sng" algn="ctr">
                      <a:solidFill>
                        <a:srgbClr val="FFFFFF"/>
                      </a:solidFill>
                      <a:prstDash val="solid"/>
                      <a:round/>
                      <a:headEnd type="none" w="med" len="med"/>
                      <a:tailEnd type="none" w="med" len="med"/>
                    </a:lnR>
                    <a:lnT w="11582" cap="flat" cmpd="sng" algn="ctr">
                      <a:solidFill>
                        <a:srgbClr val="FFFFFF"/>
                      </a:solidFill>
                      <a:prstDash val="solid"/>
                      <a:round/>
                      <a:headEnd type="none" w="med" len="med"/>
                      <a:tailEnd type="none" w="med" len="med"/>
                    </a:lnT>
                    <a:lnB w="11582"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
        <p:nvSpPr>
          <p:cNvPr id="13" name="Rectangle 12">
            <a:extLst>
              <a:ext uri="{FF2B5EF4-FFF2-40B4-BE49-F238E27FC236}">
                <a16:creationId xmlns:a16="http://schemas.microsoft.com/office/drawing/2014/main" id="{F096B8E3-CE77-9B91-56BC-174F4909C4A6}"/>
              </a:ext>
            </a:extLst>
          </p:cNvPr>
          <p:cNvSpPr/>
          <p:nvPr/>
        </p:nvSpPr>
        <p:spPr>
          <a:xfrm>
            <a:off x="1260151" y="4492277"/>
            <a:ext cx="9923646" cy="237744"/>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n-US" sz="900">
                <a:solidFill>
                  <a:srgbClr val="666666"/>
                </a:solidFill>
                <a:ea typeface="+mn-lt"/>
                <a:cs typeface="+mn-lt"/>
              </a:rPr>
              <a:t>ROC-AUC mean α</a:t>
            </a:r>
            <a:r>
              <a:rPr lang="en-US" sz="900" err="1">
                <a:solidFill>
                  <a:srgbClr val="666666"/>
                </a:solidFill>
                <a:ea typeface="+mn-lt"/>
                <a:cs typeface="+mn-lt"/>
              </a:rPr>
              <a:t>νά</a:t>
            </a:r>
            <a:r>
              <a:rPr lang="en-US" sz="900">
                <a:solidFill>
                  <a:srgbClr val="666666"/>
                </a:solidFill>
                <a:ea typeface="+mn-lt"/>
                <a:cs typeface="+mn-lt"/>
              </a:rPr>
              <a:t> </a:t>
            </a:r>
            <a:r>
              <a:rPr lang="en-US" sz="900" err="1">
                <a:solidFill>
                  <a:srgbClr val="666666"/>
                </a:solidFill>
                <a:ea typeface="+mn-lt"/>
                <a:cs typeface="+mn-lt"/>
              </a:rPr>
              <a:t>μοντέλο</a:t>
            </a:r>
            <a:endParaRPr lang="en-US" err="1"/>
          </a:p>
        </p:txBody>
      </p:sp>
      <p:sp>
        <p:nvSpPr>
          <p:cNvPr id="17" name="TextBox 16">
            <a:extLst>
              <a:ext uri="{FF2B5EF4-FFF2-40B4-BE49-F238E27FC236}">
                <a16:creationId xmlns:a16="http://schemas.microsoft.com/office/drawing/2014/main" id="{2345F3F1-492D-44D1-2AA0-10C1FDEB749C}"/>
              </a:ext>
            </a:extLst>
          </p:cNvPr>
          <p:cNvSpPr txBox="1"/>
          <p:nvPr/>
        </p:nvSpPr>
        <p:spPr>
          <a:xfrm>
            <a:off x="457200" y="5153526"/>
            <a:ext cx="11166910" cy="584775"/>
          </a:xfrm>
          <a:prstGeom prst="rect">
            <a:avLst/>
          </a:prstGeom>
          <a:noFill/>
        </p:spPr>
        <p:txBody>
          <a:bodyPr wrap="square" lIns="91440" tIns="45720" rIns="91440" bIns="45720" anchor="t">
            <a:spAutoFit/>
          </a:bodyPr>
          <a:lstStyle/>
          <a:p>
            <a:pPr algn="ctr">
              <a:defRPr sz="1500" b="1">
                <a:solidFill>
                  <a:srgbClr val="C62828"/>
                </a:solidFill>
                <a:latin typeface="Calibri"/>
              </a:defRPr>
            </a:pPr>
            <a:r>
              <a:rPr lang="en-US" sz="1600" err="1">
                <a:solidFill>
                  <a:srgbClr val="E86C00"/>
                </a:solidFill>
                <a:ea typeface="+mn-lt"/>
                <a:cs typeface="+mn-lt"/>
              </a:rPr>
              <a:t>Συμ</a:t>
            </a:r>
            <a:r>
              <a:rPr lang="en-US" sz="1600">
                <a:solidFill>
                  <a:srgbClr val="E86C00"/>
                </a:solidFill>
                <a:ea typeface="+mn-lt"/>
                <a:cs typeface="+mn-lt"/>
              </a:rPr>
              <a:t>π</a:t>
            </a:r>
            <a:r>
              <a:rPr lang="en-US" sz="1600" err="1">
                <a:solidFill>
                  <a:srgbClr val="E86C00"/>
                </a:solidFill>
                <a:ea typeface="+mn-lt"/>
                <a:cs typeface="+mn-lt"/>
              </a:rPr>
              <a:t>έρ</a:t>
            </a:r>
            <a:r>
              <a:rPr lang="en-US" sz="1600">
                <a:solidFill>
                  <a:srgbClr val="E86C00"/>
                </a:solidFill>
                <a:ea typeface="+mn-lt"/>
                <a:cs typeface="+mn-lt"/>
              </a:rPr>
              <a:t>α</a:t>
            </a:r>
            <a:r>
              <a:rPr lang="en-US" sz="1600" err="1">
                <a:solidFill>
                  <a:srgbClr val="E86C00"/>
                </a:solidFill>
                <a:ea typeface="+mn-lt"/>
                <a:cs typeface="+mn-lt"/>
              </a:rPr>
              <a:t>σμ</a:t>
            </a:r>
            <a:r>
              <a:rPr lang="en-US" sz="1600">
                <a:solidFill>
                  <a:srgbClr val="E86C00"/>
                </a:solidFill>
                <a:ea typeface="+mn-lt"/>
                <a:cs typeface="+mn-lt"/>
              </a:rPr>
              <a:t>α RQ5: Ναι, </a:t>
            </a:r>
            <a:r>
              <a:rPr lang="en-US" sz="1600" err="1">
                <a:solidFill>
                  <a:srgbClr val="E86C00"/>
                </a:solidFill>
                <a:ea typeface="+mn-lt"/>
                <a:cs typeface="+mn-lt"/>
              </a:rPr>
              <a:t>δι</a:t>
            </a:r>
            <a:r>
              <a:rPr lang="en-US" sz="1600">
                <a:solidFill>
                  <a:srgbClr val="E86C00"/>
                </a:solidFill>
                <a:ea typeface="+mn-lt"/>
                <a:cs typeface="+mn-lt"/>
              </a:rPr>
              <a:t>α</a:t>
            </a:r>
            <a:r>
              <a:rPr lang="en-US" sz="1600" err="1">
                <a:solidFill>
                  <a:srgbClr val="E86C00"/>
                </a:solidFill>
                <a:ea typeface="+mn-lt"/>
                <a:cs typeface="+mn-lt"/>
              </a:rPr>
              <a:t>φορές</a:t>
            </a:r>
            <a:r>
              <a:rPr lang="en-US" sz="1600">
                <a:solidFill>
                  <a:srgbClr val="E86C00"/>
                </a:solidFill>
                <a:ea typeface="+mn-lt"/>
                <a:cs typeface="+mn-lt"/>
              </a:rPr>
              <a:t> υπ</a:t>
            </a:r>
            <a:r>
              <a:rPr lang="en-US" sz="1600" err="1">
                <a:solidFill>
                  <a:srgbClr val="E86C00"/>
                </a:solidFill>
                <a:ea typeface="+mn-lt"/>
                <a:cs typeface="+mn-lt"/>
              </a:rPr>
              <a:t>άρχουν</a:t>
            </a:r>
            <a:r>
              <a:rPr lang="en-US" sz="1600">
                <a:solidFill>
                  <a:srgbClr val="E86C00"/>
                </a:solidFill>
                <a:ea typeface="+mn-lt"/>
                <a:cs typeface="+mn-lt"/>
              </a:rPr>
              <a:t>. Spontaneous ≥ </a:t>
            </a:r>
            <a:r>
              <a:rPr lang="en-US" sz="1600" err="1">
                <a:solidFill>
                  <a:srgbClr val="E86C00"/>
                </a:solidFill>
                <a:ea typeface="+mn-lt"/>
                <a:cs typeface="+mn-lt"/>
              </a:rPr>
              <a:t>ReadText</a:t>
            </a:r>
            <a:r>
              <a:rPr lang="en-US" sz="1600">
                <a:solidFill>
                  <a:srgbClr val="E86C00"/>
                </a:solidFill>
                <a:ea typeface="+mn-lt"/>
                <a:cs typeface="+mn-lt"/>
              </a:rPr>
              <a:t> (ROC-AUC).</a:t>
            </a:r>
            <a:endParaRPr lang="en-US" sz="1600">
              <a:solidFill>
                <a:srgbClr val="C62828"/>
              </a:solidFill>
              <a:ea typeface="+mn-lt"/>
              <a:cs typeface="+mn-lt"/>
            </a:endParaRPr>
          </a:p>
          <a:p>
            <a:pPr algn="ctr">
              <a:defRPr sz="1400" b="0">
                <a:solidFill>
                  <a:srgbClr val="666666"/>
                </a:solidFill>
                <a:latin typeface="Calibri"/>
              </a:defRPr>
            </a:pPr>
            <a:r>
              <a:rPr lang="en-US" sz="1600" b="1" err="1">
                <a:solidFill>
                  <a:srgbClr val="002B5C"/>
                </a:solidFill>
                <a:ea typeface="Calibri"/>
                <a:cs typeface="Calibri"/>
              </a:rPr>
              <a:t>Όμως</a:t>
            </a:r>
            <a:r>
              <a:rPr lang="en-US" sz="1600" b="1">
                <a:solidFill>
                  <a:srgbClr val="002B5C"/>
                </a:solidFill>
                <a:ea typeface="Calibri"/>
                <a:cs typeface="Calibri"/>
              </a:rPr>
              <a:t> η </a:t>
            </a:r>
            <a:r>
              <a:rPr lang="en-US" sz="1600" b="1" err="1">
                <a:solidFill>
                  <a:srgbClr val="002B5C"/>
                </a:solidFill>
                <a:ea typeface="Calibri"/>
                <a:cs typeface="Calibri"/>
              </a:rPr>
              <a:t>δομημένη</a:t>
            </a:r>
            <a:r>
              <a:rPr lang="en-US" sz="1600" b="1">
                <a:solidFill>
                  <a:srgbClr val="002B5C"/>
                </a:solidFill>
                <a:ea typeface="Calibri"/>
                <a:cs typeface="Calibri"/>
              </a:rPr>
              <a:t> </a:t>
            </a:r>
            <a:r>
              <a:rPr lang="en-US" sz="1600" b="1" err="1">
                <a:solidFill>
                  <a:srgbClr val="002B5C"/>
                </a:solidFill>
                <a:ea typeface="Calibri"/>
                <a:cs typeface="Calibri"/>
              </a:rPr>
              <a:t>ομιλί</a:t>
            </a:r>
            <a:r>
              <a:rPr lang="en-US" sz="1600" b="1">
                <a:solidFill>
                  <a:srgbClr val="002B5C"/>
                </a:solidFill>
                <a:ea typeface="Calibri"/>
                <a:cs typeface="Calibri"/>
              </a:rPr>
              <a:t>α επ</a:t>
            </a:r>
            <a:r>
              <a:rPr lang="en-US" sz="1600" b="1" err="1">
                <a:solidFill>
                  <a:srgbClr val="002B5C"/>
                </a:solidFill>
                <a:ea typeface="Calibri"/>
                <a:cs typeface="Calibri"/>
              </a:rPr>
              <a:t>ωφελείτ</a:t>
            </a:r>
            <a:r>
              <a:rPr lang="en-US" sz="1600" b="1">
                <a:solidFill>
                  <a:srgbClr val="002B5C"/>
                </a:solidFill>
                <a:ea typeface="Calibri"/>
                <a:cs typeface="Calibri"/>
              </a:rPr>
              <a:t>αι π</a:t>
            </a:r>
            <a:r>
              <a:rPr lang="en-US" sz="1600" b="1" err="1">
                <a:solidFill>
                  <a:srgbClr val="002B5C"/>
                </a:solidFill>
                <a:ea typeface="Calibri"/>
                <a:cs typeface="Calibri"/>
              </a:rPr>
              <a:t>ερισσότερο</a:t>
            </a:r>
            <a:r>
              <a:rPr lang="en-US" sz="1600" b="1">
                <a:solidFill>
                  <a:srgbClr val="002B5C"/>
                </a:solidFill>
                <a:ea typeface="Calibri"/>
                <a:cs typeface="Calibri"/>
              </a:rPr>
              <a:t> από </a:t>
            </a:r>
            <a:r>
              <a:rPr lang="en-US" sz="1600" b="1" err="1">
                <a:solidFill>
                  <a:srgbClr val="002B5C"/>
                </a:solidFill>
                <a:ea typeface="Calibri"/>
                <a:cs typeface="Calibri"/>
              </a:rPr>
              <a:t>την</a:t>
            </a:r>
            <a:r>
              <a:rPr lang="en-US" sz="1600" b="1">
                <a:solidFill>
                  <a:srgbClr val="002B5C"/>
                </a:solidFill>
                <a:ea typeface="Calibri"/>
                <a:cs typeface="Calibri"/>
              </a:rPr>
              <a:t> επ</a:t>
            </a:r>
            <a:r>
              <a:rPr lang="en-US" sz="1600" b="1" err="1">
                <a:solidFill>
                  <a:srgbClr val="002B5C"/>
                </a:solidFill>
                <a:ea typeface="Calibri"/>
                <a:cs typeface="Calibri"/>
              </a:rPr>
              <a:t>έκτ</a:t>
            </a:r>
            <a:r>
              <a:rPr lang="en-US" sz="1600" b="1">
                <a:solidFill>
                  <a:srgbClr val="002B5C"/>
                </a:solidFill>
                <a:ea typeface="Calibri"/>
                <a:cs typeface="Calibri"/>
              </a:rPr>
              <a:t>α</a:t>
            </a:r>
            <a:r>
              <a:rPr lang="en-US" sz="1600" b="1" err="1">
                <a:solidFill>
                  <a:srgbClr val="002B5C"/>
                </a:solidFill>
                <a:ea typeface="Calibri"/>
                <a:cs typeface="Calibri"/>
              </a:rPr>
              <a:t>ση</a:t>
            </a:r>
            <a:r>
              <a:rPr lang="en-US" sz="1600" b="1">
                <a:solidFill>
                  <a:srgbClr val="002B5C"/>
                </a:solidFill>
                <a:ea typeface="Calibri"/>
                <a:cs typeface="Calibri"/>
              </a:rPr>
              <a:t> χαρα</a:t>
            </a:r>
            <a:r>
              <a:rPr lang="en-US" sz="1600" b="1" err="1">
                <a:solidFill>
                  <a:srgbClr val="002B5C"/>
                </a:solidFill>
                <a:ea typeface="Calibri"/>
                <a:cs typeface="Calibri"/>
              </a:rPr>
              <a:t>κτηριστικών</a:t>
            </a:r>
            <a:r>
              <a:rPr lang="en-US" sz="1600" b="1">
                <a:solidFill>
                  <a:srgbClr val="002B5C"/>
                </a:solidFill>
                <a:ea typeface="Calibri"/>
                <a:cs typeface="Calibri"/>
              </a:rPr>
              <a:t>.</a:t>
            </a:r>
            <a:endParaRPr lang="en-US" sz="1600" b="1">
              <a:ea typeface="Calibri"/>
              <a:cs typeface="Calibri"/>
            </a:endParaRPr>
          </a:p>
        </p:txBody>
      </p:sp>
    </p:spTree>
    <p:extLst>
      <p:ext uri="{BB962C8B-B14F-4D97-AF65-F5344CB8AC3E}">
        <p14:creationId xmlns:p14="http://schemas.microsoft.com/office/powerpoint/2010/main" val="1985907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pic>
        <p:nvPicPr>
          <p:cNvPr id="4" name="Picture 3" descr="fig_imp_readtext_cats.png"/>
          <p:cNvPicPr>
            <a:picLocks noChangeAspect="1"/>
          </p:cNvPicPr>
          <p:nvPr/>
        </p:nvPicPr>
        <p:blipFill>
          <a:blip r:embed="rId3"/>
          <a:stretch>
            <a:fillRect/>
          </a:stretch>
        </p:blipFill>
        <p:spPr>
          <a:xfrm>
            <a:off x="365760" y="1849249"/>
            <a:ext cx="5303520" cy="3162058"/>
          </a:xfrm>
          <a:prstGeom prst="rect">
            <a:avLst/>
          </a:prstGeom>
        </p:spPr>
      </p:pic>
      <p:sp>
        <p:nvSpPr>
          <p:cNvPr id="5" name="Rectangle 4"/>
          <p:cNvSpPr/>
          <p:nvPr/>
        </p:nvSpPr>
        <p:spPr>
          <a:xfrm>
            <a:off x="365760" y="5011306"/>
            <a:ext cx="5303520" cy="292608"/>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n-US" sz="800">
                <a:solidFill>
                  <a:schemeClr val="tx1"/>
                </a:solidFill>
                <a:ea typeface="+mn-lt"/>
                <a:cs typeface="+mn-lt"/>
              </a:rPr>
              <a:t>(α) ReadText – Κυριαρχούν τα MFCCs και το ύψος φωνής (F0)</a:t>
            </a:r>
            <a:endParaRPr lang="en-US">
              <a:solidFill>
                <a:schemeClr val="tx1"/>
              </a:solidFill>
              <a:ea typeface="Calibri"/>
              <a:cs typeface="Calibri"/>
            </a:endParaRPr>
          </a:p>
        </p:txBody>
      </p:sp>
      <p:pic>
        <p:nvPicPr>
          <p:cNvPr id="6" name="Picture 5" descr="fig_imp_spontaneous_cats.png"/>
          <p:cNvPicPr>
            <a:picLocks noChangeAspect="1"/>
          </p:cNvPicPr>
          <p:nvPr/>
        </p:nvPicPr>
        <p:blipFill>
          <a:blip r:embed="rId4"/>
          <a:stretch>
            <a:fillRect/>
          </a:stretch>
        </p:blipFill>
        <p:spPr>
          <a:xfrm>
            <a:off x="6309360" y="1849249"/>
            <a:ext cx="5303520" cy="3162058"/>
          </a:xfrm>
          <a:prstGeom prst="rect">
            <a:avLst/>
          </a:prstGeom>
        </p:spPr>
      </p:pic>
      <p:sp>
        <p:nvSpPr>
          <p:cNvPr id="7" name="Rectangle 6"/>
          <p:cNvSpPr/>
          <p:nvPr/>
        </p:nvSpPr>
        <p:spPr>
          <a:xfrm>
            <a:off x="6309360" y="5011307"/>
            <a:ext cx="5303520" cy="292608"/>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n-US" sz="800">
                <a:solidFill>
                  <a:schemeClr val="tx1"/>
                </a:solidFill>
                <a:ea typeface="+mn-lt"/>
                <a:cs typeface="+mn-lt"/>
              </a:rPr>
              <a:t>(β) Αυθόρμητη Ομιλία – Κυριαρχούν τα MFCCs και το shimmer</a:t>
            </a:r>
            <a:endParaRPr lang="en-US">
              <a:solidFill>
                <a:schemeClr val="tx1"/>
              </a:solidFill>
              <a:ea typeface="+mn-lt"/>
              <a:cs typeface="+mn-lt"/>
            </a:endParaRPr>
          </a:p>
        </p:txBody>
      </p:sp>
      <p:sp>
        <p:nvSpPr>
          <p:cNvPr id="8" name="Rectangle 7"/>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itle 9">
            <a:extLst>
              <a:ext uri="{FF2B5EF4-FFF2-40B4-BE49-F238E27FC236}">
                <a16:creationId xmlns:a16="http://schemas.microsoft.com/office/drawing/2014/main" id="{5014F74C-5BCA-6C51-0EDF-35ECD975597F}"/>
              </a:ext>
            </a:extLst>
          </p:cNvPr>
          <p:cNvSpPr>
            <a:spLocks noGrp="1"/>
          </p:cNvSpPr>
          <p:nvPr>
            <p:ph type="title"/>
          </p:nvPr>
        </p:nvSpPr>
        <p:spPr>
          <a:xfrm>
            <a:off x="0" y="0"/>
            <a:ext cx="12192000" cy="900000"/>
          </a:xfrm>
        </p:spPr>
        <p:txBody>
          <a:bodyPr>
            <a:normAutofit/>
          </a:bodyPr>
          <a:lstStyle/>
          <a:p>
            <a:r>
              <a:rPr lang="en-GB">
                <a:latin typeface="Aptos"/>
              </a:rPr>
              <a:t>Σημαντικότητα Χαρακτηριστικών ανά Κατηγορία</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nodeType="afterEffect">
                                  <p:stCondLst>
                                    <p:cond delay="5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5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pic>
        <p:nvPicPr>
          <p:cNvPr id="4" name="Picture 3" descr="fig_heatmap_readtext_permutation.png"/>
          <p:cNvPicPr>
            <a:picLocks noChangeAspect="1"/>
          </p:cNvPicPr>
          <p:nvPr/>
        </p:nvPicPr>
        <p:blipFill>
          <a:blip r:embed="rId3"/>
          <a:stretch>
            <a:fillRect/>
          </a:stretch>
        </p:blipFill>
        <p:spPr>
          <a:xfrm>
            <a:off x="833610" y="1225075"/>
            <a:ext cx="4388429" cy="4627818"/>
          </a:xfrm>
          <a:prstGeom prst="rect">
            <a:avLst/>
          </a:prstGeom>
        </p:spPr>
      </p:pic>
      <p:sp>
        <p:nvSpPr>
          <p:cNvPr id="5" name="Rectangle 4"/>
          <p:cNvSpPr/>
          <p:nvPr/>
        </p:nvSpPr>
        <p:spPr>
          <a:xfrm>
            <a:off x="815249" y="5860898"/>
            <a:ext cx="4407756" cy="292608"/>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sz="800">
                <a:solidFill>
                  <a:schemeClr val="tx1"/>
                </a:solidFill>
                <a:latin typeface="Aptos"/>
              </a:rPr>
              <a:t>(a) </a:t>
            </a:r>
            <a:r>
              <a:rPr sz="800" err="1">
                <a:solidFill>
                  <a:schemeClr val="tx1"/>
                </a:solidFill>
                <a:latin typeface="Aptos"/>
              </a:rPr>
              <a:t>ReadText</a:t>
            </a:r>
            <a:r>
              <a:rPr sz="800">
                <a:solidFill>
                  <a:schemeClr val="tx1"/>
                </a:solidFill>
                <a:latin typeface="Aptos"/>
              </a:rPr>
              <a:t> </a:t>
            </a:r>
            <a:r>
              <a:rPr lang="en-US" sz="800">
                <a:solidFill>
                  <a:schemeClr val="tx1"/>
                </a:solidFill>
                <a:latin typeface="Aptos"/>
              </a:rPr>
              <a:t>- </a:t>
            </a:r>
            <a:r>
              <a:rPr sz="800">
                <a:solidFill>
                  <a:schemeClr val="tx1"/>
                </a:solidFill>
                <a:latin typeface="Aptos"/>
              </a:rPr>
              <a:t>Feature × Model</a:t>
            </a:r>
            <a:endParaRPr lang="en-US" sz="800">
              <a:solidFill>
                <a:schemeClr val="tx1"/>
              </a:solidFill>
              <a:latin typeface="Aptos"/>
            </a:endParaRPr>
          </a:p>
        </p:txBody>
      </p:sp>
      <p:pic>
        <p:nvPicPr>
          <p:cNvPr id="6" name="Picture 5" descr="fig_heatmap_spontaneous_permutation.png"/>
          <p:cNvPicPr>
            <a:picLocks noChangeAspect="1"/>
          </p:cNvPicPr>
          <p:nvPr/>
        </p:nvPicPr>
        <p:blipFill>
          <a:blip r:embed="rId4"/>
          <a:stretch>
            <a:fillRect/>
          </a:stretch>
        </p:blipFill>
        <p:spPr>
          <a:xfrm>
            <a:off x="6901051" y="1225075"/>
            <a:ext cx="4397610" cy="4627818"/>
          </a:xfrm>
          <a:prstGeom prst="rect">
            <a:avLst/>
          </a:prstGeom>
        </p:spPr>
      </p:pic>
      <p:sp>
        <p:nvSpPr>
          <p:cNvPr id="7" name="Rectangle 6"/>
          <p:cNvSpPr/>
          <p:nvPr/>
        </p:nvSpPr>
        <p:spPr>
          <a:xfrm>
            <a:off x="6901052" y="5860898"/>
            <a:ext cx="4397610" cy="292608"/>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sz="800">
                <a:solidFill>
                  <a:schemeClr val="tx1"/>
                </a:solidFill>
                <a:latin typeface="Aptos"/>
              </a:rPr>
              <a:t>(b) </a:t>
            </a:r>
            <a:r>
              <a:rPr sz="800" err="1">
                <a:solidFill>
                  <a:schemeClr val="tx1"/>
                </a:solidFill>
                <a:latin typeface="Aptos"/>
              </a:rPr>
              <a:t>SpontaneousDialogue</a:t>
            </a:r>
            <a:r>
              <a:rPr sz="800">
                <a:solidFill>
                  <a:schemeClr val="tx1"/>
                </a:solidFill>
                <a:latin typeface="Aptos"/>
              </a:rPr>
              <a:t> </a:t>
            </a:r>
            <a:r>
              <a:rPr lang="en-US" sz="800">
                <a:solidFill>
                  <a:schemeClr val="tx1"/>
                </a:solidFill>
                <a:latin typeface="Aptos"/>
              </a:rPr>
              <a:t>- </a:t>
            </a:r>
            <a:r>
              <a:rPr sz="800">
                <a:solidFill>
                  <a:schemeClr val="tx1"/>
                </a:solidFill>
                <a:latin typeface="Aptos"/>
              </a:rPr>
              <a:t>Feature × Model</a:t>
            </a:r>
            <a:endParaRPr lang="en-US" sz="800">
              <a:solidFill>
                <a:schemeClr val="tx1"/>
              </a:solidFill>
              <a:latin typeface="Aptos"/>
            </a:endParaRPr>
          </a:p>
        </p:txBody>
      </p:sp>
      <p:sp>
        <p:nvSpPr>
          <p:cNvPr id="8" name="Rectangle 7"/>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itle 9">
            <a:extLst>
              <a:ext uri="{FF2B5EF4-FFF2-40B4-BE49-F238E27FC236}">
                <a16:creationId xmlns:a16="http://schemas.microsoft.com/office/drawing/2014/main" id="{03F59C5A-EB0C-4458-4098-44A9E1AC17B4}"/>
              </a:ext>
            </a:extLst>
          </p:cNvPr>
          <p:cNvSpPr>
            <a:spLocks noGrp="1"/>
          </p:cNvSpPr>
          <p:nvPr>
            <p:ph type="title"/>
          </p:nvPr>
        </p:nvSpPr>
        <p:spPr>
          <a:xfrm>
            <a:off x="0" y="0"/>
            <a:ext cx="12192000" cy="900000"/>
          </a:xfrm>
        </p:spPr>
        <p:txBody>
          <a:bodyPr>
            <a:normAutofit/>
          </a:bodyPr>
          <a:lstStyle/>
          <a:p>
            <a:r>
              <a:rPr lang="en-GB">
                <a:latin typeface="Aptos"/>
              </a:rPr>
              <a:t>Feature Permutation Importance Heatmaps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1" fill="hold">
                            <p:stCondLst>
                              <p:cond delay="500"/>
                            </p:stCondLst>
                            <p:childTnLst>
                              <p:par>
                                <p:cTn id="12" presetID="10" presetClass="entr" presetSubtype="0" fill="hold" nodeType="afterEffect">
                                  <p:stCondLst>
                                    <p:cond delay="5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5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96507084"/>
              </p:ext>
            </p:extLst>
          </p:nvPr>
        </p:nvGraphicFramePr>
        <p:xfrm>
          <a:off x="447174" y="1662808"/>
          <a:ext cx="11247120" cy="2890003"/>
        </p:xfrm>
        <a:graphic>
          <a:graphicData uri="http://schemas.openxmlformats.org/drawingml/2006/table">
            <a:tbl>
              <a:tblPr firstRow="1" bandRow="1">
                <a:tableStyleId>{5C22544A-7EE6-4342-B048-85BDC9FD1C3A}</a:tableStyleId>
              </a:tblPr>
              <a:tblGrid>
                <a:gridCol w="3655314">
                  <a:extLst>
                    <a:ext uri="{9D8B030D-6E8A-4147-A177-3AD203B41FA5}">
                      <a16:colId xmlns:a16="http://schemas.microsoft.com/office/drawing/2014/main" val="20000"/>
                    </a:ext>
                  </a:extLst>
                </a:gridCol>
                <a:gridCol w="3374136">
                  <a:extLst>
                    <a:ext uri="{9D8B030D-6E8A-4147-A177-3AD203B41FA5}">
                      <a16:colId xmlns:a16="http://schemas.microsoft.com/office/drawing/2014/main" val="20001"/>
                    </a:ext>
                  </a:extLst>
                </a:gridCol>
                <a:gridCol w="4217670">
                  <a:extLst>
                    <a:ext uri="{9D8B030D-6E8A-4147-A177-3AD203B41FA5}">
                      <a16:colId xmlns:a16="http://schemas.microsoft.com/office/drawing/2014/main" val="20002"/>
                    </a:ext>
                  </a:extLst>
                </a:gridCol>
              </a:tblGrid>
              <a:tr h="530851">
                <a:tc>
                  <a:txBody>
                    <a:bodyPr/>
                    <a:lstStyle/>
                    <a:p>
                      <a:pPr lvl="0" algn="ctr">
                        <a:buNone/>
                        <a:defRPr sz="1400" b="1">
                          <a:solidFill>
                            <a:srgbClr val="FFFFFF"/>
                          </a:solidFill>
                          <a:latin typeface="Calibri"/>
                        </a:defRPr>
                      </a:pPr>
                      <a:r>
                        <a:rPr lang="en-US" sz="1800" b="1" i="0" u="none" strike="noStrike" noProof="0"/>
                        <a:t>Περιορισμός</a:t>
                      </a:r>
                      <a:endParaRPr sz="1800" b="1">
                        <a:latin typeface="Aptos" panose="020B0004020202020204" pitchFamily="34" charset="0"/>
                      </a:endParaRPr>
                    </a:p>
                  </a:txBody>
                  <a:tcPr anchor="ctr">
                    <a:solidFill>
                      <a:srgbClr val="002B5C"/>
                    </a:solidFill>
                  </a:tcPr>
                </a:tc>
                <a:tc>
                  <a:txBody>
                    <a:bodyPr/>
                    <a:lstStyle/>
                    <a:p>
                      <a:pPr lvl="0" algn="ctr">
                        <a:buNone/>
                        <a:defRPr sz="1400" b="1">
                          <a:solidFill>
                            <a:srgbClr val="FFFFFF"/>
                          </a:solidFill>
                          <a:latin typeface="Calibri"/>
                        </a:defRPr>
                      </a:pPr>
                      <a:r>
                        <a:rPr lang="en-US" sz="1800" b="1" i="0" u="none" strike="noStrike" noProof="0"/>
                        <a:t>Επίδραση</a:t>
                      </a:r>
                      <a:endParaRPr sz="1800" b="1">
                        <a:latin typeface="Aptos" panose="020B0004020202020204" pitchFamily="34" charset="0"/>
                      </a:endParaRPr>
                    </a:p>
                  </a:txBody>
                  <a:tcPr anchor="ctr">
                    <a:solidFill>
                      <a:srgbClr val="002B5C"/>
                    </a:solidFill>
                  </a:tcPr>
                </a:tc>
                <a:tc>
                  <a:txBody>
                    <a:bodyPr/>
                    <a:lstStyle/>
                    <a:p>
                      <a:pPr lvl="0" algn="ctr">
                        <a:buNone/>
                        <a:defRPr sz="1400" b="1">
                          <a:solidFill>
                            <a:srgbClr val="FFFFFF"/>
                          </a:solidFill>
                          <a:latin typeface="Calibri"/>
                        </a:defRPr>
                      </a:pPr>
                      <a:r>
                        <a:rPr lang="en-US" sz="1800" b="1" i="0" u="none" strike="noStrike" noProof="0"/>
                        <a:t>Αντιμετώπιση</a:t>
                      </a:r>
                      <a:endParaRPr sz="1800" b="1">
                        <a:latin typeface="Aptos" panose="020B0004020202020204" pitchFamily="34" charset="0"/>
                      </a:endParaRPr>
                    </a:p>
                  </a:txBody>
                  <a:tcPr anchor="ctr">
                    <a:solidFill>
                      <a:srgbClr val="002B5C"/>
                    </a:solidFill>
                  </a:tcPr>
                </a:tc>
                <a:extLst>
                  <a:ext uri="{0D108BD9-81ED-4DB2-BD59-A6C34878D82A}">
                    <a16:rowId xmlns:a16="http://schemas.microsoft.com/office/drawing/2014/main" val="10000"/>
                  </a:ext>
                </a:extLst>
              </a:tr>
              <a:tr h="393192">
                <a:tc>
                  <a:txBody>
                    <a:bodyPr/>
                    <a:lstStyle/>
                    <a:p>
                      <a:pPr lvl="0" algn="ctr">
                        <a:buNone/>
                      </a:pPr>
                      <a:r>
                        <a:rPr lang="en-US" sz="1400" b="0" i="0" u="none" strike="noStrike" noProof="0"/>
                        <a:t>Μικρό δείγμα (n=37, Dataset A)</a:t>
                      </a:r>
                      <a:endParaRPr lang="en-US"/>
                    </a:p>
                  </a:txBody>
                  <a:tcPr anchor="ctr">
                    <a:solidFill>
                      <a:srgbClr val="F2F2F2"/>
                    </a:solidFill>
                  </a:tcPr>
                </a:tc>
                <a:tc>
                  <a:txBody>
                    <a:bodyPr/>
                    <a:lstStyle/>
                    <a:p>
                      <a:pPr lvl="0" algn="ctr">
                        <a:buNone/>
                      </a:pPr>
                      <a:r>
                        <a:rPr lang="en-US" sz="1400" b="0" i="0" u="none" strike="noStrike" noProof="0"/>
                        <a:t>Υψηλή διακύμανση</a:t>
                      </a:r>
                      <a:endParaRPr sz="1400" b="0" i="0" u="none" strike="noStrike" noProof="0"/>
                    </a:p>
                  </a:txBody>
                  <a:tcPr anchor="ctr">
                    <a:solidFill>
                      <a:srgbClr val="F2F2F2"/>
                    </a:solidFill>
                  </a:tcPr>
                </a:tc>
                <a:tc>
                  <a:txBody>
                    <a:bodyPr/>
                    <a:lstStyle/>
                    <a:p>
                      <a:pPr lvl="0" algn="ctr">
                        <a:buNone/>
                      </a:pPr>
                      <a:r>
                        <a:rPr lang="en-US" sz="1400" b="0" i="0" u="none" strike="noStrike" noProof="0"/>
                        <a:t>Grouped CV πιο ειλικρινής από τεχνητά διογκωμένο n</a:t>
                      </a:r>
                    </a:p>
                  </a:txBody>
                  <a:tcPr anchor="ctr">
                    <a:solidFill>
                      <a:srgbClr val="F2F2F2"/>
                    </a:solidFill>
                  </a:tcPr>
                </a:tc>
                <a:extLst>
                  <a:ext uri="{0D108BD9-81ED-4DB2-BD59-A6C34878D82A}">
                    <a16:rowId xmlns:a16="http://schemas.microsoft.com/office/drawing/2014/main" val="10001"/>
                  </a:ext>
                </a:extLst>
              </a:tr>
              <a:tr h="393192">
                <a:tc>
                  <a:txBody>
                    <a:bodyPr/>
                    <a:lstStyle/>
                    <a:p>
                      <a:pPr lvl="0" algn="ctr">
                        <a:buNone/>
                      </a:pPr>
                      <a:r>
                        <a:rPr lang="en-US" sz="1400" b="0" i="0" u="none" strike="noStrike" noProof="0"/>
                        <a:t>Μη διαθέσιμα</a:t>
                      </a:r>
                      <a:r>
                        <a:rPr lang="en-US" sz="1400">
                          <a:latin typeface="Aptos"/>
                        </a:rPr>
                        <a:t> </a:t>
                      </a:r>
                      <a:r>
                        <a:rPr lang="en-US" sz="1400" b="0" i="0" u="none" strike="noStrike" noProof="0"/>
                        <a:t>Subject </a:t>
                      </a:r>
                      <a:r>
                        <a:rPr sz="1400">
                          <a:latin typeface="Aptos"/>
                        </a:rPr>
                        <a:t>IDs (Dataset B)</a:t>
                      </a:r>
                    </a:p>
                  </a:txBody>
                  <a:tcPr anchor="ctr">
                    <a:solidFill>
                      <a:srgbClr val="FFFFFF"/>
                    </a:solidFill>
                  </a:tcPr>
                </a:tc>
                <a:tc>
                  <a:txBody>
                    <a:bodyPr/>
                    <a:lstStyle/>
                    <a:p>
                      <a:pPr lvl="0" algn="ctr">
                        <a:buNone/>
                      </a:pPr>
                      <a:r>
                        <a:rPr lang="en-US" sz="1400" b="0" i="0" u="none" strike="noStrike" noProof="0"/>
                        <a:t>Πιθανή διαρροή / αισιόδοξη εκτίμηση</a:t>
                      </a:r>
                      <a:endParaRPr sz="1400">
                        <a:latin typeface="Aptos" panose="020B0004020202020204" pitchFamily="34" charset="0"/>
                      </a:endParaRPr>
                    </a:p>
                  </a:txBody>
                  <a:tcPr anchor="ctr">
                    <a:solidFill>
                      <a:srgbClr val="FFFFFF"/>
                    </a:solidFill>
                  </a:tcPr>
                </a:tc>
                <a:tc>
                  <a:txBody>
                    <a:bodyPr/>
                    <a:lstStyle/>
                    <a:p>
                      <a:pPr lvl="0" algn="ctr">
                        <a:buNone/>
                      </a:pPr>
                      <a:r>
                        <a:rPr lang="en-US" sz="1400" b="0" i="0" u="none" strike="noStrike" noProof="0"/>
                        <a:t>Επισημαίνεται ρητά σε όλη τη μελέτη</a:t>
                      </a:r>
                      <a:endParaRPr sz="1400">
                        <a:latin typeface="Aptos" panose="020B0004020202020204" pitchFamily="34" charset="0"/>
                      </a:endParaRPr>
                    </a:p>
                  </a:txBody>
                  <a:tcPr anchor="ctr">
                    <a:solidFill>
                      <a:srgbClr val="FFFFFF"/>
                    </a:solidFill>
                  </a:tcPr>
                </a:tc>
                <a:extLst>
                  <a:ext uri="{0D108BD9-81ED-4DB2-BD59-A6C34878D82A}">
                    <a16:rowId xmlns:a16="http://schemas.microsoft.com/office/drawing/2014/main" val="10002"/>
                  </a:ext>
                </a:extLst>
              </a:tr>
              <a:tr h="393192">
                <a:tc>
                  <a:txBody>
                    <a:bodyPr/>
                    <a:lstStyle/>
                    <a:p>
                      <a:pPr lvl="0" algn="ctr">
                        <a:buNone/>
                      </a:pPr>
                      <a:r>
                        <a:rPr lang="en-US" sz="1400" b="0" i="0" u="none" strike="noStrike" noProof="0"/>
                        <a:t>Απουσία ρύθμισης υπερπαραμέτρων</a:t>
                      </a:r>
                      <a:endParaRPr sz="1400">
                        <a:latin typeface="Aptos"/>
                      </a:endParaRPr>
                    </a:p>
                  </a:txBody>
                  <a:tcPr anchor="ctr">
                    <a:solidFill>
                      <a:srgbClr val="F2F2F2"/>
                    </a:solidFill>
                  </a:tcPr>
                </a:tc>
                <a:tc>
                  <a:txBody>
                    <a:bodyPr/>
                    <a:lstStyle/>
                    <a:p>
                      <a:pPr lvl="0" algn="ctr">
                        <a:buNone/>
                      </a:pPr>
                      <a:r>
                        <a:rPr lang="en-US" sz="1400" b="0" i="0" u="none" strike="noStrike" noProof="0"/>
                        <a:t>Πιθανή υποεκτίμηση δυνατοτήτων</a:t>
                      </a:r>
                      <a:endParaRPr sz="1400">
                        <a:latin typeface="Aptos" panose="020B0004020202020204" pitchFamily="34" charset="0"/>
                      </a:endParaRPr>
                    </a:p>
                  </a:txBody>
                  <a:tcPr anchor="ctr">
                    <a:solidFill>
                      <a:srgbClr val="F2F2F2"/>
                    </a:solidFill>
                  </a:tcPr>
                </a:tc>
                <a:tc>
                  <a:txBody>
                    <a:bodyPr/>
                    <a:lstStyle/>
                    <a:p>
                      <a:pPr lvl="0" algn="ctr">
                        <a:buNone/>
                      </a:pPr>
                      <a:r>
                        <a:rPr lang="en-US" sz="1400" b="0" i="0" u="none" strike="noStrike" noProof="0"/>
                        <a:t>Για n=37, η nested CV μη αξιόπιστη (Varma, 2006)</a:t>
                      </a:r>
                    </a:p>
                  </a:txBody>
                  <a:tcPr anchor="ctr">
                    <a:solidFill>
                      <a:srgbClr val="F2F2F2"/>
                    </a:solidFill>
                  </a:tcPr>
                </a:tc>
                <a:extLst>
                  <a:ext uri="{0D108BD9-81ED-4DB2-BD59-A6C34878D82A}">
                    <a16:rowId xmlns:a16="http://schemas.microsoft.com/office/drawing/2014/main" val="10003"/>
                  </a:ext>
                </a:extLst>
              </a:tr>
              <a:tr h="393192">
                <a:tc>
                  <a:txBody>
                    <a:bodyPr/>
                    <a:lstStyle/>
                    <a:p>
                      <a:pPr lvl="0" algn="ctr">
                        <a:buNone/>
                      </a:pPr>
                      <a:r>
                        <a:rPr lang="en-US" sz="1400" b="0" i="0" u="none" strike="noStrike" noProof="0"/>
                        <a:t>Απουσία εξωτερικής επικύρωσης</a:t>
                      </a:r>
                      <a:endParaRPr sz="1400">
                        <a:latin typeface="Aptos" panose="020B0004020202020204" pitchFamily="34" charset="0"/>
                      </a:endParaRPr>
                    </a:p>
                  </a:txBody>
                  <a:tcPr anchor="ctr">
                    <a:solidFill>
                      <a:srgbClr val="FFFFFF"/>
                    </a:solidFill>
                  </a:tcPr>
                </a:tc>
                <a:tc>
                  <a:txBody>
                    <a:bodyPr/>
                    <a:lstStyle/>
                    <a:p>
                      <a:pPr lvl="0" algn="ctr">
                        <a:buNone/>
                      </a:pPr>
                      <a:r>
                        <a:rPr lang="en-US" sz="1400" b="0" i="0" u="none" strike="noStrike" noProof="0"/>
                        <a:t>Άγνωστη γενικευσιμότητα</a:t>
                      </a:r>
                      <a:endParaRPr sz="1400">
                        <a:latin typeface="Aptos" panose="020B0004020202020204" pitchFamily="34" charset="0"/>
                      </a:endParaRPr>
                    </a:p>
                  </a:txBody>
                  <a:tcPr anchor="ctr">
                    <a:solidFill>
                      <a:srgbClr val="FFFFFF"/>
                    </a:solidFill>
                  </a:tcPr>
                </a:tc>
                <a:tc>
                  <a:txBody>
                    <a:bodyPr/>
                    <a:lstStyle/>
                    <a:p>
                      <a:pPr lvl="0" algn="ctr">
                        <a:buNone/>
                      </a:pPr>
                      <a:r>
                        <a:rPr lang="en-US" sz="1400" b="0" i="0" u="none" strike="noStrike" noProof="0"/>
                        <a:t>Για μελλοντική μελέτη</a:t>
                      </a:r>
                      <a:endParaRPr sz="1400" b="0" i="0" u="none" strike="noStrike" noProof="0"/>
                    </a:p>
                  </a:txBody>
                  <a:tcPr anchor="ctr">
                    <a:solidFill>
                      <a:srgbClr val="FFFFFF"/>
                    </a:solidFill>
                  </a:tcPr>
                </a:tc>
                <a:extLst>
                  <a:ext uri="{0D108BD9-81ED-4DB2-BD59-A6C34878D82A}">
                    <a16:rowId xmlns:a16="http://schemas.microsoft.com/office/drawing/2014/main" val="10004"/>
                  </a:ext>
                </a:extLst>
              </a:tr>
              <a:tr h="393192">
                <a:tc>
                  <a:txBody>
                    <a:bodyPr/>
                    <a:lstStyle/>
                    <a:p>
                      <a:pPr algn="ctr">
                        <a:defRPr sz="1300">
                          <a:solidFill>
                            <a:srgbClr val="1A1A1A"/>
                          </a:solidFill>
                          <a:latin typeface="Calibri"/>
                        </a:defRPr>
                      </a:pPr>
                      <a:r>
                        <a:rPr sz="1400">
                          <a:latin typeface="Aptos"/>
                        </a:rPr>
                        <a:t>Classical ML</a:t>
                      </a:r>
                    </a:p>
                  </a:txBody>
                  <a:tcPr anchor="ctr">
                    <a:solidFill>
                      <a:srgbClr val="F2F2F2"/>
                    </a:solidFill>
                  </a:tcPr>
                </a:tc>
                <a:tc>
                  <a:txBody>
                    <a:bodyPr/>
                    <a:lstStyle/>
                    <a:p>
                      <a:pPr lvl="0" algn="ctr">
                        <a:buNone/>
                      </a:pPr>
                      <a:r>
                        <a:rPr lang="en-US" sz="1400" b="0" i="0" u="none" strike="noStrike" noProof="0"/>
                        <a:t>Η βαθιά μάθηση (DL) αποκλείστηκε</a:t>
                      </a:r>
                      <a:endParaRPr sz="1400" b="0" i="0" u="none" strike="noStrike" noProof="0"/>
                    </a:p>
                  </a:txBody>
                  <a:tcPr anchor="ctr">
                    <a:solidFill>
                      <a:srgbClr val="F2F2F2"/>
                    </a:solidFill>
                  </a:tcPr>
                </a:tc>
                <a:tc>
                  <a:txBody>
                    <a:bodyPr/>
                    <a:lstStyle/>
                    <a:p>
                      <a:pPr lvl="0" algn="ctr">
                        <a:buNone/>
                      </a:pPr>
                      <a:r>
                        <a:rPr lang="en-US" sz="1400" b="0" i="0" u="none" strike="noStrike" noProof="0"/>
                        <a:t>Τα δεδομένα είναι λίγα για DL</a:t>
                      </a:r>
                    </a:p>
                  </a:txBody>
                  <a:tcPr anchor="ctr">
                    <a:solidFill>
                      <a:srgbClr val="F2F2F2"/>
                    </a:solidFill>
                  </a:tcPr>
                </a:tc>
                <a:extLst>
                  <a:ext uri="{0D108BD9-81ED-4DB2-BD59-A6C34878D82A}">
                    <a16:rowId xmlns:a16="http://schemas.microsoft.com/office/drawing/2014/main" val="10005"/>
                  </a:ext>
                </a:extLst>
              </a:tr>
              <a:tr h="393192">
                <a:tc>
                  <a:txBody>
                    <a:bodyPr/>
                    <a:lstStyle/>
                    <a:p>
                      <a:pPr lvl="0" algn="ctr">
                        <a:buNone/>
                      </a:pPr>
                      <a:r>
                        <a:rPr lang="en-US" sz="1400" b="0" i="0" u="none" strike="noStrike" noProof="0"/>
                        <a:t>Μία μόνο συσκευή καταγραφής</a:t>
                      </a:r>
                      <a:endParaRPr sz="1400">
                        <a:latin typeface="Aptos" panose="020B0004020202020204" pitchFamily="34" charset="0"/>
                      </a:endParaRPr>
                    </a:p>
                  </a:txBody>
                  <a:tcPr anchor="ctr">
                    <a:solidFill>
                      <a:srgbClr val="FFFFFF"/>
                    </a:solidFill>
                  </a:tcPr>
                </a:tc>
                <a:tc>
                  <a:txBody>
                    <a:bodyPr/>
                    <a:lstStyle/>
                    <a:p>
                      <a:pPr lvl="0" algn="ctr">
                        <a:buNone/>
                      </a:pPr>
                      <a:r>
                        <a:rPr lang="en-US" sz="1400" b="0" i="0" u="none" strike="noStrike" noProof="0"/>
                        <a:t>Άγνωστη </a:t>
                      </a:r>
                      <a:r>
                        <a:rPr sz="1400">
                          <a:latin typeface="Aptos"/>
                        </a:rPr>
                        <a:t>cross-device </a:t>
                      </a:r>
                      <a:r>
                        <a:rPr lang="el-GR" sz="1400">
                          <a:latin typeface="Aptos"/>
                        </a:rPr>
                        <a:t>ανθεκτικότητα</a:t>
                      </a:r>
                      <a:endParaRPr sz="1400">
                        <a:latin typeface="Aptos"/>
                      </a:endParaRPr>
                    </a:p>
                  </a:txBody>
                  <a:tcPr anchor="ctr">
                    <a:solidFill>
                      <a:srgbClr val="FFFFFF"/>
                    </a:solidFill>
                  </a:tcPr>
                </a:tc>
                <a:tc>
                  <a:txBody>
                    <a:bodyPr/>
                    <a:lstStyle/>
                    <a:p>
                      <a:pPr lvl="0" algn="ctr">
                        <a:buNone/>
                      </a:pPr>
                      <a:r>
                        <a:rPr lang="en-US" sz="1400" b="0" i="0" u="none" strike="noStrike" noProof="0"/>
                        <a:t>Τυπικό ερευνητικό πρωτόκολλο</a:t>
                      </a:r>
                      <a:endParaRPr sz="1400">
                        <a:latin typeface="Aptos" panose="020B0004020202020204" pitchFamily="34" charset="0"/>
                      </a:endParaRPr>
                    </a:p>
                  </a:txBody>
                  <a:tcPr anchor="ctr">
                    <a:solidFill>
                      <a:srgbClr val="FFFFFF"/>
                    </a:solidFill>
                  </a:tcPr>
                </a:tc>
                <a:extLst>
                  <a:ext uri="{0D108BD9-81ED-4DB2-BD59-A6C34878D82A}">
                    <a16:rowId xmlns:a16="http://schemas.microsoft.com/office/drawing/2014/main" val="10006"/>
                  </a:ext>
                </a:extLst>
              </a:tr>
            </a:tbl>
          </a:graphicData>
        </a:graphic>
      </p:graphicFrame>
      <p:sp>
        <p:nvSpPr>
          <p:cNvPr id="5" name="Rectangle 4"/>
          <p:cNvSpPr/>
          <p:nvPr/>
        </p:nvSpPr>
        <p:spPr>
          <a:xfrm>
            <a:off x="447174" y="4552811"/>
            <a:ext cx="11247120" cy="237744"/>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n-US" sz="800">
                <a:solidFill>
                  <a:schemeClr val="tx1"/>
                </a:solidFill>
                <a:ea typeface="+mn-lt"/>
                <a:cs typeface="+mn-lt"/>
              </a:rPr>
              <a:t>Πίνακας 8.2: Απειλές εγκυρότητας και στρατηγικές αντιμετώπισης | tab:validity-threats-summary</a:t>
            </a:r>
            <a:endParaRPr lang="en-US">
              <a:solidFill>
                <a:schemeClr val="tx1"/>
              </a:solidFill>
              <a:ea typeface="+mn-lt"/>
              <a:cs typeface="+mn-lt"/>
            </a:endParaRP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itle 7">
            <a:extLst>
              <a:ext uri="{FF2B5EF4-FFF2-40B4-BE49-F238E27FC236}">
                <a16:creationId xmlns:a16="http://schemas.microsoft.com/office/drawing/2014/main" id="{0FB6B6FA-C1C1-9254-ABB7-791D612CF2C7}"/>
              </a:ext>
            </a:extLst>
          </p:cNvPr>
          <p:cNvSpPr>
            <a:spLocks noGrp="1"/>
          </p:cNvSpPr>
          <p:nvPr>
            <p:ph type="title"/>
          </p:nvPr>
        </p:nvSpPr>
        <p:spPr/>
        <p:txBody>
          <a:bodyPr>
            <a:normAutofit/>
          </a:bodyPr>
          <a:lstStyle/>
          <a:p>
            <a:r>
              <a:rPr lang="en-GB">
                <a:latin typeface="Aptos"/>
              </a:rPr>
              <a:t>Περιορισμοί</a:t>
            </a: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sp>
        <p:nvSpPr>
          <p:cNvPr id="3" name="TextBox 2"/>
          <p:cNvSpPr txBox="1"/>
          <p:nvPr/>
        </p:nvSpPr>
        <p:spPr>
          <a:xfrm>
            <a:off x="457200" y="1173480"/>
            <a:ext cx="5267935" cy="2462213"/>
          </a:xfrm>
          <a:prstGeom prst="rect">
            <a:avLst/>
          </a:prstGeom>
          <a:noFill/>
        </p:spPr>
        <p:txBody>
          <a:bodyPr wrap="square" lIns="91440" tIns="45720" rIns="91440" bIns="45720" anchor="t">
            <a:spAutoFit/>
          </a:bodyPr>
          <a:lstStyle/>
          <a:p>
            <a:pPr marL="445770" indent="-445770" algn="l">
              <a:spcBef>
                <a:spcPts val="1800"/>
              </a:spcBef>
              <a:spcAft>
                <a:spcPts val="300"/>
              </a:spcAft>
              <a:defRPr sz="2000" b="1">
                <a:solidFill>
                  <a:srgbClr val="0056A0"/>
                </a:solidFill>
                <a:latin typeface="Calibri"/>
              </a:defRPr>
            </a:pPr>
            <a:r>
              <a:rPr lang="en-US">
                <a:ea typeface="+mn-lt"/>
                <a:cs typeface="+mn-lt"/>
              </a:rPr>
              <a:t>Συνεισφορές</a:t>
            </a:r>
            <a:endParaRPr lang="en-US"/>
          </a:p>
          <a:p>
            <a:pPr marL="445770" indent="-445770">
              <a:spcBef>
                <a:spcPts val="1800"/>
              </a:spcBef>
              <a:spcAft>
                <a:spcPts val="300"/>
              </a:spcAft>
              <a:defRPr sz="1500" b="0">
                <a:solidFill>
                  <a:srgbClr val="1A1A1A"/>
                </a:solidFill>
                <a:latin typeface="Calibri"/>
              </a:defRPr>
            </a:pPr>
            <a:r>
              <a:rPr sz="1600" b="1">
                <a:latin typeface="Aptos"/>
              </a:rPr>
              <a:t>C1</a:t>
            </a:r>
            <a:r>
              <a:rPr sz="1600">
                <a:latin typeface="Aptos"/>
              </a:rPr>
              <a:t>:</a:t>
            </a:r>
            <a:r>
              <a:rPr lang="en-US" sz="1600">
                <a:latin typeface="Aptos"/>
              </a:rPr>
              <a:t>	</a:t>
            </a:r>
            <a:r>
              <a:rPr lang="en-US" sz="1600">
                <a:ea typeface="+mn-lt"/>
                <a:cs typeface="+mn-lt"/>
              </a:rPr>
              <a:t>Αυστηρή</a:t>
            </a:r>
            <a:r>
              <a:rPr lang="en-US" sz="1600">
                <a:latin typeface="Calibri"/>
                <a:ea typeface="Calibri"/>
                <a:cs typeface="Calibri"/>
              </a:rPr>
              <a:t> </a:t>
            </a:r>
            <a:r>
              <a:rPr sz="1600">
                <a:latin typeface="Aptos"/>
              </a:rPr>
              <a:t>grouped CV </a:t>
            </a:r>
            <a:r>
              <a:rPr lang="en-US" sz="1600">
                <a:ea typeface="+mn-lt"/>
                <a:cs typeface="+mn-lt"/>
              </a:rPr>
              <a:t>που αποτρέπει</a:t>
            </a:r>
            <a:r>
              <a:rPr lang="en-US" sz="1600">
                <a:latin typeface="Calibri"/>
                <a:ea typeface="Calibri"/>
                <a:cs typeface="Calibri"/>
              </a:rPr>
              <a:t> </a:t>
            </a:r>
            <a:r>
              <a:rPr sz="1600">
                <a:latin typeface="Aptos"/>
              </a:rPr>
              <a:t>subject leakage</a:t>
            </a:r>
          </a:p>
          <a:p>
            <a:pPr marL="445770" indent="-445770">
              <a:spcBef>
                <a:spcPts val="1800"/>
              </a:spcBef>
              <a:spcAft>
                <a:spcPts val="300"/>
              </a:spcAft>
              <a:defRPr sz="1500" b="0">
                <a:solidFill>
                  <a:srgbClr val="1A1A1A"/>
                </a:solidFill>
                <a:latin typeface="Calibri"/>
              </a:defRPr>
            </a:pPr>
            <a:r>
              <a:rPr sz="1600" b="1">
                <a:latin typeface="Aptos"/>
              </a:rPr>
              <a:t>C2</a:t>
            </a:r>
            <a:r>
              <a:rPr sz="1600">
                <a:latin typeface="Aptos"/>
              </a:rPr>
              <a:t>:</a:t>
            </a:r>
            <a:r>
              <a:rPr lang="en-US" sz="1600">
                <a:latin typeface="Aptos"/>
              </a:rPr>
              <a:t>	</a:t>
            </a:r>
            <a:r>
              <a:rPr lang="en-US" sz="1600">
                <a:ea typeface="+mn-lt"/>
                <a:cs typeface="+mn-lt"/>
              </a:rPr>
              <a:t>Ελεγχόμενη μελέτη επέκτασης χαρακτηριστικών</a:t>
            </a:r>
            <a:endParaRPr lang="en-US" sz="1600">
              <a:ea typeface="Calibri"/>
              <a:cs typeface="Calibri"/>
            </a:endParaRPr>
          </a:p>
          <a:p>
            <a:pPr marL="445770" indent="-445770">
              <a:spcBef>
                <a:spcPts val="1800"/>
              </a:spcBef>
              <a:spcAft>
                <a:spcPts val="300"/>
              </a:spcAft>
              <a:defRPr sz="1500" b="0">
                <a:solidFill>
                  <a:srgbClr val="1A1A1A"/>
                </a:solidFill>
                <a:latin typeface="Calibri"/>
              </a:defRPr>
            </a:pPr>
            <a:r>
              <a:rPr sz="1600" b="1">
                <a:latin typeface="Aptos"/>
              </a:rPr>
              <a:t>C3</a:t>
            </a:r>
            <a:r>
              <a:rPr sz="1600">
                <a:latin typeface="Aptos"/>
              </a:rPr>
              <a:t>:</a:t>
            </a:r>
            <a:r>
              <a:rPr lang="en-US" sz="1600">
                <a:latin typeface="Aptos"/>
              </a:rPr>
              <a:t>	</a:t>
            </a:r>
            <a:r>
              <a:rPr lang="en-US" sz="1600">
                <a:ea typeface="+mn-lt"/>
                <a:cs typeface="+mn-lt"/>
              </a:rPr>
              <a:t>Πλήρης αναπαραγωγιμότητα: open source pipeline</a:t>
            </a:r>
          </a:p>
          <a:p>
            <a:pPr marL="445770" indent="-445770">
              <a:spcBef>
                <a:spcPts val="1800"/>
              </a:spcBef>
              <a:spcAft>
                <a:spcPts val="300"/>
              </a:spcAft>
              <a:defRPr sz="1500" b="0">
                <a:solidFill>
                  <a:srgbClr val="1A1A1A"/>
                </a:solidFill>
                <a:latin typeface="Calibri"/>
              </a:defRPr>
            </a:pPr>
            <a:r>
              <a:rPr sz="1600" b="1">
                <a:latin typeface="Aptos"/>
              </a:rPr>
              <a:t>C4</a:t>
            </a:r>
            <a:r>
              <a:rPr sz="1600">
                <a:latin typeface="Aptos"/>
              </a:rPr>
              <a:t>:</a:t>
            </a:r>
            <a:r>
              <a:rPr lang="en-US" sz="1600">
                <a:latin typeface="Aptos"/>
              </a:rPr>
              <a:t>	</a:t>
            </a:r>
            <a:r>
              <a:rPr lang="en-US" sz="1600">
                <a:ea typeface="+mn-lt"/>
                <a:cs typeface="+mn-lt"/>
              </a:rPr>
              <a:t>Σημαντικότητα χαρακτηριστικών βάσει permutation </a:t>
            </a:r>
          </a:p>
        </p:txBody>
      </p:sp>
      <p:sp>
        <p:nvSpPr>
          <p:cNvPr id="4" name="TextBox 3"/>
          <p:cNvSpPr txBox="1"/>
          <p:nvPr/>
        </p:nvSpPr>
        <p:spPr>
          <a:xfrm>
            <a:off x="6436385" y="1173480"/>
            <a:ext cx="5267935" cy="3677930"/>
          </a:xfrm>
          <a:prstGeom prst="rect">
            <a:avLst/>
          </a:prstGeom>
          <a:noFill/>
        </p:spPr>
        <p:txBody>
          <a:bodyPr wrap="square" lIns="91440" tIns="45720" rIns="91440" bIns="45720" anchor="t">
            <a:spAutoFit/>
          </a:bodyPr>
          <a:lstStyle/>
          <a:p>
            <a:pPr>
              <a:defRPr sz="2000" b="1">
                <a:solidFill>
                  <a:srgbClr val="0056A0"/>
                </a:solidFill>
                <a:latin typeface="Calibri"/>
              </a:defRPr>
            </a:pPr>
            <a:r>
              <a:rPr lang="el-GR"/>
              <a:t>Απαντήσεις στα Ερευνητικά Ερωτήματα</a:t>
            </a:r>
            <a:endParaRPr lang="en-US"/>
          </a:p>
          <a:p>
            <a:pPr marL="536575" indent="-536575">
              <a:spcBef>
                <a:spcPts val="1800"/>
              </a:spcBef>
              <a:spcAft>
                <a:spcPts val="300"/>
              </a:spcAft>
              <a:defRPr sz="1400" b="0">
                <a:solidFill>
                  <a:srgbClr val="1A1A1A"/>
                </a:solidFill>
                <a:latin typeface="Calibri"/>
              </a:defRPr>
            </a:pPr>
            <a:r>
              <a:rPr sz="1600" b="1">
                <a:latin typeface="Aptos"/>
              </a:rPr>
              <a:t>RQ1</a:t>
            </a:r>
            <a:r>
              <a:rPr sz="1600">
                <a:latin typeface="Aptos"/>
              </a:rPr>
              <a:t>:</a:t>
            </a:r>
            <a:r>
              <a:rPr lang="en-US" sz="1600">
                <a:latin typeface="Aptos"/>
              </a:rPr>
              <a:t> </a:t>
            </a:r>
            <a:r>
              <a:rPr lang="en-US" sz="1600">
                <a:ea typeface="+mn-lt"/>
                <a:cs typeface="+mn-lt"/>
              </a:rPr>
              <a:t>Η </a:t>
            </a:r>
            <a:r>
              <a:rPr lang="en-US" sz="1600">
                <a:latin typeface="Aptos"/>
                <a:ea typeface="+mn-lt"/>
                <a:cs typeface="+mn-lt"/>
              </a:rPr>
              <a:t>Κλασική ML </a:t>
            </a:r>
            <a:r>
              <a:rPr lang="en-US" sz="1600">
                <a:latin typeface="Calibri"/>
                <a:ea typeface="+mn-lt"/>
                <a:cs typeface="+mn-lt"/>
              </a:rPr>
              <a:t>είναι</a:t>
            </a:r>
            <a:r>
              <a:rPr lang="en-US" sz="1600">
                <a:ea typeface="+mn-lt"/>
                <a:cs typeface="+mn-lt"/>
              </a:rPr>
              <a:t> εφικτή</a:t>
            </a:r>
            <a:r>
              <a:rPr lang="en-US" sz="1600">
                <a:latin typeface="Aptos"/>
                <a:ea typeface="+mn-lt"/>
                <a:cs typeface="+mn-lt"/>
              </a:rPr>
              <a:t> (ROC-AUC 0.857)</a:t>
            </a:r>
          </a:p>
          <a:p>
            <a:pPr marL="536575" indent="-536575">
              <a:spcBef>
                <a:spcPts val="1800"/>
              </a:spcBef>
              <a:spcAft>
                <a:spcPts val="300"/>
              </a:spcAft>
              <a:defRPr sz="1400" b="0">
                <a:solidFill>
                  <a:srgbClr val="1A1A1A"/>
                </a:solidFill>
                <a:latin typeface="Calibri"/>
              </a:defRPr>
            </a:pPr>
            <a:r>
              <a:rPr lang="en-US" sz="1600" b="1">
                <a:ea typeface="+mn-lt"/>
                <a:cs typeface="+mn-lt"/>
              </a:rPr>
              <a:t>RQ2:</a:t>
            </a:r>
            <a:r>
              <a:rPr lang="en-US" sz="1600">
                <a:ea typeface="+mn-lt"/>
                <a:cs typeface="+mn-lt"/>
              </a:rPr>
              <a:t> Η επέκταση χαρακτηριστικών εξαρτάται από το είδος της ομιλίας (δομημένο/αυθόρμητο)</a:t>
            </a:r>
            <a:endParaRPr lang="en-US" sz="1600">
              <a:latin typeface="Calibri"/>
              <a:ea typeface="Calibri"/>
              <a:cs typeface="Calibri"/>
            </a:endParaRPr>
          </a:p>
          <a:p>
            <a:pPr marL="536575" indent="-536575">
              <a:spcBef>
                <a:spcPts val="1800"/>
              </a:spcBef>
              <a:spcAft>
                <a:spcPts val="300"/>
              </a:spcAft>
              <a:defRPr sz="1400" b="0">
                <a:solidFill>
                  <a:srgbClr val="1A1A1A"/>
                </a:solidFill>
                <a:latin typeface="Calibri"/>
              </a:defRPr>
            </a:pPr>
            <a:r>
              <a:rPr sz="1600" b="1">
                <a:latin typeface="Aptos"/>
              </a:rPr>
              <a:t>RQ3</a:t>
            </a:r>
            <a:r>
              <a:rPr sz="1600">
                <a:latin typeface="Aptos"/>
              </a:rPr>
              <a:t>:</a:t>
            </a:r>
            <a:r>
              <a:rPr lang="en-US" sz="1600">
                <a:latin typeface="Aptos"/>
              </a:rPr>
              <a:t> 	</a:t>
            </a:r>
            <a:r>
              <a:rPr lang="en-US" sz="1600">
                <a:ea typeface="+mn-lt"/>
                <a:cs typeface="+mn-lt"/>
              </a:rPr>
              <a:t>Η στάθμιση κλάσεων δεν παρέχει συνεπές όφελος</a:t>
            </a:r>
            <a:endParaRPr lang="en-US" sz="1400">
              <a:latin typeface="Calibri"/>
              <a:ea typeface="Calibri"/>
              <a:cs typeface="Calibri"/>
            </a:endParaRPr>
          </a:p>
          <a:p>
            <a:pPr marL="536575" indent="-536575">
              <a:spcBef>
                <a:spcPts val="1800"/>
              </a:spcBef>
              <a:spcAft>
                <a:spcPts val="300"/>
              </a:spcAft>
              <a:defRPr sz="1400" b="0">
                <a:solidFill>
                  <a:srgbClr val="1A1A1A"/>
                </a:solidFill>
                <a:latin typeface="Calibri"/>
              </a:defRPr>
            </a:pPr>
            <a:r>
              <a:rPr sz="1600" b="1">
                <a:latin typeface="Aptos"/>
              </a:rPr>
              <a:t>RQ4</a:t>
            </a:r>
            <a:r>
              <a:rPr sz="1600">
                <a:latin typeface="Aptos"/>
              </a:rPr>
              <a:t>:</a:t>
            </a:r>
            <a:r>
              <a:rPr lang="en-US" sz="1600">
                <a:latin typeface="Aptos"/>
              </a:rPr>
              <a:t>	 </a:t>
            </a:r>
            <a:r>
              <a:rPr lang="en-US" sz="1600">
                <a:ea typeface="+mn-lt"/>
                <a:cs typeface="+mn-lt"/>
              </a:rPr>
              <a:t>Οι διαφορές μεταξύ συνόλων δεδομένων επηρεάζονται από confounders</a:t>
            </a:r>
          </a:p>
          <a:p>
            <a:pPr marL="536575" indent="-536575">
              <a:spcBef>
                <a:spcPts val="1800"/>
              </a:spcBef>
              <a:spcAft>
                <a:spcPts val="300"/>
              </a:spcAft>
              <a:defRPr sz="1400" b="0">
                <a:solidFill>
                  <a:srgbClr val="1A1A1A"/>
                </a:solidFill>
                <a:latin typeface="Calibri"/>
              </a:defRPr>
            </a:pPr>
            <a:r>
              <a:rPr sz="1600" b="1">
                <a:latin typeface="Aptos"/>
              </a:rPr>
              <a:t>RQ5</a:t>
            </a:r>
            <a:r>
              <a:rPr sz="1600">
                <a:latin typeface="Aptos"/>
              </a:rPr>
              <a:t>:</a:t>
            </a:r>
            <a:r>
              <a:rPr lang="en-US" sz="1600">
                <a:latin typeface="Aptos"/>
              </a:rPr>
              <a:t>	 </a:t>
            </a:r>
            <a:r>
              <a:rPr lang="en-US" sz="1600">
                <a:ea typeface="+mn-lt"/>
                <a:cs typeface="+mn-lt"/>
              </a:rPr>
              <a:t>Η αυθόρμητη ομιλία εμφανίζεται ελαφρώς ισχυρότερη</a:t>
            </a:r>
          </a:p>
        </p:txBody>
      </p:sp>
      <p:sp>
        <p:nvSpPr>
          <p:cNvPr id="6" name="Title 5">
            <a:extLst>
              <a:ext uri="{FF2B5EF4-FFF2-40B4-BE49-F238E27FC236}">
                <a16:creationId xmlns:a16="http://schemas.microsoft.com/office/drawing/2014/main" id="{D6F81242-12E8-B438-1C91-889959CB3864}"/>
              </a:ext>
            </a:extLst>
          </p:cNvPr>
          <p:cNvSpPr>
            <a:spLocks noGrp="1"/>
          </p:cNvSpPr>
          <p:nvPr>
            <p:ph type="title"/>
          </p:nvPr>
        </p:nvSpPr>
        <p:spPr>
          <a:xfrm>
            <a:off x="0" y="0"/>
            <a:ext cx="12192000" cy="900000"/>
          </a:xfrm>
        </p:spPr>
        <p:txBody>
          <a:bodyPr>
            <a:normAutofit/>
          </a:bodyPr>
          <a:lstStyle/>
          <a:p>
            <a:r>
              <a:rPr lang="en-GB">
                <a:latin typeface="Aptos"/>
              </a:rPr>
              <a:t>Συνεισφορές &amp; Συμπεράσματα</a:t>
            </a:r>
            <a:endParaRPr lang="en-US"/>
          </a:p>
        </p:txBody>
      </p:sp>
      <p:sp>
        <p:nvSpPr>
          <p:cNvPr id="7" name="TextBox 6">
            <a:extLst>
              <a:ext uri="{FF2B5EF4-FFF2-40B4-BE49-F238E27FC236}">
                <a16:creationId xmlns:a16="http://schemas.microsoft.com/office/drawing/2014/main" id="{86A4B0A2-F210-0A60-C1BE-1951E20E936C}"/>
              </a:ext>
            </a:extLst>
          </p:cNvPr>
          <p:cNvSpPr txBox="1"/>
          <p:nvPr/>
        </p:nvSpPr>
        <p:spPr>
          <a:xfrm>
            <a:off x="457200" y="5117068"/>
            <a:ext cx="11247120" cy="830997"/>
          </a:xfrm>
          <a:prstGeom prst="rect">
            <a:avLst/>
          </a:prstGeom>
          <a:noFill/>
          <a:ln>
            <a:solidFill>
              <a:srgbClr val="E86C00"/>
            </a:solidFill>
          </a:ln>
        </p:spPr>
        <p:txBody>
          <a:bodyPr wrap="square" lIns="91440" tIns="45720" rIns="91440" bIns="45720" rtlCol="0" anchor="t">
            <a:spAutoFit/>
          </a:bodyPr>
          <a:lstStyle/>
          <a:p>
            <a:pPr algn="ctr"/>
            <a:r>
              <a:rPr lang="en-GB" sz="2400">
                <a:solidFill>
                  <a:srgbClr val="E86C00"/>
                </a:solidFill>
                <a:ea typeface="+mn-lt"/>
                <a:cs typeface="+mn-lt"/>
              </a:rPr>
              <a:t>«Η ταξινόμηση της νόσου Πάρκινσον μέσω φωνής είναι επιστημονικά τεκμηριωμένη, αλλά δεν είναι ακόμη έτοιμη για κλινική εφαρμογή.»</a:t>
            </a: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fade">
                                      <p:cBhvr>
                                        <p:cTn id="32" dur="500"/>
                                        <p:tgtEl>
                                          <p:spTgt spid="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Effect transition="in" filter="fade">
                                      <p:cBhvr>
                                        <p:cTn id="37" dur="500"/>
                                        <p:tgtEl>
                                          <p:spTgt spid="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animEffect transition="in" filter="fade">
                                      <p:cBhvr>
                                        <p:cTn id="42" dur="500"/>
                                        <p:tgtEl>
                                          <p:spTgt spid="4">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3" end="3"/>
                                            </p:txEl>
                                          </p:spTgt>
                                        </p:tgtEl>
                                        <p:attrNameLst>
                                          <p:attrName>style.visibility</p:attrName>
                                        </p:attrNameLst>
                                      </p:cBhvr>
                                      <p:to>
                                        <p:strVal val="visible"/>
                                      </p:to>
                                    </p:set>
                                    <p:animEffect transition="in" filter="fade">
                                      <p:cBhvr>
                                        <p:cTn id="47" dur="500"/>
                                        <p:tgtEl>
                                          <p:spTgt spid="4">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4" end="4"/>
                                            </p:txEl>
                                          </p:spTgt>
                                        </p:tgtEl>
                                        <p:attrNameLst>
                                          <p:attrName>style.visibility</p:attrName>
                                        </p:attrNameLst>
                                      </p:cBhvr>
                                      <p:to>
                                        <p:strVal val="visible"/>
                                      </p:to>
                                    </p:set>
                                    <p:animEffect transition="in" filter="fade">
                                      <p:cBhvr>
                                        <p:cTn id="52" dur="500"/>
                                        <p:tgtEl>
                                          <p:spTgt spid="4">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5" end="5"/>
                                            </p:txEl>
                                          </p:spTgt>
                                        </p:tgtEl>
                                        <p:attrNameLst>
                                          <p:attrName>style.visibility</p:attrName>
                                        </p:attrNameLst>
                                      </p:cBhvr>
                                      <p:to>
                                        <p:strVal val="visible"/>
                                      </p:to>
                                    </p:set>
                                    <p:animEffect transition="in" filter="fade">
                                      <p:cBhvr>
                                        <p:cTn id="5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2B5C"/>
        </a:solidFill>
        <a:effectLst/>
      </p:bgPr>
    </p:bg>
    <p:spTree>
      <p:nvGrpSpPr>
        <p:cNvPr id="1" name=""/>
        <p:cNvGrpSpPr/>
        <p:nvPr/>
      </p:nvGrpSpPr>
      <p:grpSpPr>
        <a:xfrm>
          <a:off x="0" y="0"/>
          <a:ext cx="0" cy="0"/>
          <a:chOff x="0" y="0"/>
          <a:chExt cx="0" cy="0"/>
        </a:xfrm>
      </p:grpSpPr>
      <p:sp>
        <p:nvSpPr>
          <p:cNvPr id="4" name="TextBox 3"/>
          <p:cNvSpPr txBox="1"/>
          <p:nvPr/>
        </p:nvSpPr>
        <p:spPr>
          <a:xfrm>
            <a:off x="457201" y="1463040"/>
            <a:ext cx="3474720" cy="1015663"/>
          </a:xfrm>
          <a:prstGeom prst="rect">
            <a:avLst/>
          </a:prstGeom>
          <a:noFill/>
        </p:spPr>
        <p:txBody>
          <a:bodyPr wrap="square" lIns="91440" tIns="45720" rIns="91440" bIns="45720" anchor="t">
            <a:spAutoFit/>
          </a:bodyPr>
          <a:lstStyle/>
          <a:p>
            <a:pPr>
              <a:defRPr sz="2000" b="1">
                <a:solidFill>
                  <a:srgbClr val="E86C00"/>
                </a:solidFill>
                <a:latin typeface="Calibri"/>
              </a:defRPr>
            </a:pPr>
            <a:r>
              <a:rPr lang="el-GR"/>
              <a:t>Βραχυπρόθεσμα</a:t>
            </a:r>
            <a:endParaRPr lang="en-US"/>
          </a:p>
          <a:p>
            <a:pPr marL="285750" indent="-285750">
              <a:buFont typeface="Arial"/>
              <a:buChar char="•"/>
              <a:defRPr sz="2000" b="1">
                <a:solidFill>
                  <a:srgbClr val="E86C00"/>
                </a:solidFill>
                <a:latin typeface="Calibri"/>
              </a:defRPr>
            </a:pPr>
            <a:endParaRPr lang="en-US"/>
          </a:p>
          <a:p>
            <a:pPr algn="l">
              <a:defRPr sz="2000" b="1">
                <a:solidFill>
                  <a:srgbClr val="E86C00"/>
                </a:solidFill>
                <a:latin typeface="Calibri"/>
              </a:defRPr>
            </a:pPr>
            <a:endParaRPr>
              <a:latin typeface="+mj-lt"/>
            </a:endParaRPr>
          </a:p>
        </p:txBody>
      </p:sp>
      <p:sp>
        <p:nvSpPr>
          <p:cNvPr id="5" name="TextBox 4"/>
          <p:cNvSpPr txBox="1"/>
          <p:nvPr/>
        </p:nvSpPr>
        <p:spPr>
          <a:xfrm>
            <a:off x="457201" y="2103120"/>
            <a:ext cx="3474720" cy="2015936"/>
          </a:xfrm>
          <a:prstGeom prst="rect">
            <a:avLst/>
          </a:prstGeom>
          <a:noFill/>
        </p:spPr>
        <p:txBody>
          <a:bodyPr wrap="square" lIns="91440" tIns="45720" rIns="91440" bIns="45720" anchor="t">
            <a:spAutoFit/>
          </a:bodyPr>
          <a:lstStyle/>
          <a:p>
            <a:pPr marL="177800" indent="-177800">
              <a:spcBef>
                <a:spcPts val="1800"/>
              </a:spcBef>
              <a:spcAft>
                <a:spcPts val="300"/>
              </a:spcAft>
              <a:buFont typeface="Arial" panose="020B0604020202020204" pitchFamily="34" charset="0"/>
              <a:buChar char="•"/>
              <a:defRPr sz="1500" b="0">
                <a:solidFill>
                  <a:srgbClr val="FFFFFF"/>
                </a:solidFill>
                <a:latin typeface="Calibri"/>
              </a:defRPr>
            </a:pPr>
            <a:r>
              <a:rPr lang="en-US">
                <a:latin typeface="Aptos Display"/>
                <a:ea typeface="+mn-lt"/>
                <a:cs typeface="+mn-lt"/>
              </a:rPr>
              <a:t>Nested CV  </a:t>
            </a:r>
            <a:r>
              <a:rPr lang="en-US">
                <a:ea typeface="+mn-lt"/>
                <a:cs typeface="+mn-lt"/>
              </a:rPr>
              <a:t>για ρύθμιση υπερπαραμέτρων</a:t>
            </a:r>
            <a:endParaRPr lang="en-US">
              <a:latin typeface="+mj-lt"/>
            </a:endParaRPr>
          </a:p>
          <a:p>
            <a:pPr marL="177800" indent="-177800" algn="l">
              <a:buFont typeface="Arial" panose="020B0604020202020204" pitchFamily="34" charset="0"/>
              <a:buChar char="•"/>
              <a:defRPr sz="1500" b="0">
                <a:solidFill>
                  <a:srgbClr val="FFFFFF"/>
                </a:solidFill>
                <a:latin typeface="Calibri"/>
              </a:defRPr>
            </a:pPr>
            <a:endParaRPr>
              <a:latin typeface="+mj-lt"/>
            </a:endParaRPr>
          </a:p>
          <a:p>
            <a:pPr marL="177800" indent="-177800">
              <a:spcBef>
                <a:spcPts val="1800"/>
              </a:spcBef>
              <a:spcAft>
                <a:spcPts val="300"/>
              </a:spcAft>
              <a:buFont typeface="Arial" panose="020B0604020202020204" pitchFamily="34" charset="0"/>
              <a:buChar char="•"/>
              <a:defRPr sz="1500" b="0">
                <a:solidFill>
                  <a:srgbClr val="FFFFFF"/>
                </a:solidFill>
                <a:latin typeface="Calibri"/>
              </a:defRPr>
            </a:pPr>
            <a:r>
              <a:rPr lang="en-US">
                <a:ea typeface="+mn-lt"/>
                <a:cs typeface="+mn-lt"/>
              </a:rPr>
              <a:t>Επιλογή χαρακτηριστικών (RFE, L1)</a:t>
            </a:r>
          </a:p>
          <a:p>
            <a:pPr marL="177800" indent="-177800" algn="l">
              <a:buFont typeface="Arial" panose="020B0604020202020204" pitchFamily="34" charset="0"/>
              <a:buChar char="•"/>
              <a:defRPr sz="1500" b="0">
                <a:solidFill>
                  <a:srgbClr val="FFFFFF"/>
                </a:solidFill>
                <a:latin typeface="Calibri"/>
              </a:defRPr>
            </a:pPr>
            <a:endParaRPr>
              <a:latin typeface="+mj-lt"/>
            </a:endParaRPr>
          </a:p>
          <a:p>
            <a:pPr marL="177800" indent="-177800" algn="l">
              <a:spcBef>
                <a:spcPts val="1800"/>
              </a:spcBef>
              <a:spcAft>
                <a:spcPts val="300"/>
              </a:spcAft>
              <a:buFont typeface="Arial" panose="020B0604020202020204" pitchFamily="34" charset="0"/>
              <a:buChar char="•"/>
              <a:defRPr sz="1500" b="0">
                <a:solidFill>
                  <a:srgbClr val="FFFFFF"/>
                </a:solidFill>
                <a:latin typeface="Calibri"/>
              </a:defRPr>
            </a:pPr>
            <a:r>
              <a:rPr>
                <a:latin typeface="+mj-lt"/>
              </a:rPr>
              <a:t>Multi-task fusion (Read + Spontaneous)</a:t>
            </a:r>
          </a:p>
        </p:txBody>
      </p:sp>
      <p:sp>
        <p:nvSpPr>
          <p:cNvPr id="6" name="TextBox 5"/>
          <p:cNvSpPr txBox="1"/>
          <p:nvPr/>
        </p:nvSpPr>
        <p:spPr>
          <a:xfrm>
            <a:off x="4249420" y="1463040"/>
            <a:ext cx="3474720" cy="1015663"/>
          </a:xfrm>
          <a:prstGeom prst="rect">
            <a:avLst/>
          </a:prstGeom>
          <a:noFill/>
        </p:spPr>
        <p:txBody>
          <a:bodyPr wrap="square" lIns="91440" tIns="45720" rIns="91440" bIns="45720" anchor="t">
            <a:spAutoFit/>
          </a:bodyPr>
          <a:lstStyle/>
          <a:p>
            <a:pPr>
              <a:defRPr sz="2000" b="1">
                <a:solidFill>
                  <a:srgbClr val="E86C00"/>
                </a:solidFill>
                <a:latin typeface="Calibri"/>
              </a:defRPr>
            </a:pPr>
            <a:r>
              <a:rPr lang="el-GR"/>
              <a:t>Μεσοπρόθεσμα</a:t>
            </a:r>
            <a:endParaRPr lang="en-US"/>
          </a:p>
          <a:p>
            <a:pPr marL="285750" indent="-285750">
              <a:buFont typeface="Arial"/>
              <a:buChar char="•"/>
              <a:defRPr sz="2000" b="1">
                <a:solidFill>
                  <a:srgbClr val="E86C00"/>
                </a:solidFill>
                <a:latin typeface="Calibri"/>
              </a:defRPr>
            </a:pPr>
            <a:endParaRPr lang="en-US"/>
          </a:p>
          <a:p>
            <a:pPr algn="l">
              <a:defRPr sz="2000" b="1">
                <a:solidFill>
                  <a:srgbClr val="E86C00"/>
                </a:solidFill>
                <a:latin typeface="Calibri"/>
              </a:defRPr>
            </a:pPr>
            <a:endParaRPr>
              <a:latin typeface="+mj-lt"/>
            </a:endParaRPr>
          </a:p>
        </p:txBody>
      </p:sp>
      <p:sp>
        <p:nvSpPr>
          <p:cNvPr id="7" name="TextBox 6"/>
          <p:cNvSpPr txBox="1"/>
          <p:nvPr/>
        </p:nvSpPr>
        <p:spPr>
          <a:xfrm>
            <a:off x="4249420" y="2103120"/>
            <a:ext cx="3474720" cy="2015936"/>
          </a:xfrm>
          <a:prstGeom prst="rect">
            <a:avLst/>
          </a:prstGeom>
          <a:noFill/>
        </p:spPr>
        <p:txBody>
          <a:bodyPr wrap="square" lIns="91440" tIns="45720" rIns="91440" bIns="45720" anchor="t">
            <a:spAutoFit/>
          </a:bodyPr>
          <a:lstStyle>
            <a:defPPr>
              <a:defRPr lang="en-US"/>
            </a:defPPr>
            <a:lvl1pPr marL="177800" indent="-177800">
              <a:spcBef>
                <a:spcPts val="1800"/>
              </a:spcBef>
              <a:spcAft>
                <a:spcPts val="300"/>
              </a:spcAft>
              <a:buFont typeface="Arial" panose="020B0604020202020204" pitchFamily="34" charset="0"/>
              <a:buChar char="•"/>
              <a:defRPr sz="1500" b="0">
                <a:solidFill>
                  <a:srgbClr val="FFFFFF"/>
                </a:solidFill>
                <a:latin typeface="+mj-lt"/>
              </a:defRPr>
            </a:lvl1pPr>
          </a:lstStyle>
          <a:p>
            <a:r>
              <a:rPr lang="en-US">
                <a:ea typeface="+mj-lt"/>
                <a:cs typeface="+mj-lt"/>
              </a:rPr>
              <a:t>Εξωτερική επικύρωση σε ανεξάρτητα άτομα</a:t>
            </a:r>
            <a:endParaRPr lang="en-US"/>
          </a:p>
          <a:p>
            <a:r>
              <a:rPr lang="en-US">
                <a:ea typeface="+mj-lt"/>
                <a:cs typeface="+mj-lt"/>
              </a:rPr>
              <a:t>Σύγκριση με βαθιά μάθηση (με κανονικοποίηση)</a:t>
            </a:r>
            <a:endParaRPr>
              <a:ea typeface="+mj-lt"/>
              <a:cs typeface="+mj-lt"/>
            </a:endParaRPr>
          </a:p>
          <a:p>
            <a:r>
              <a:rPr lang="en-US">
                <a:ea typeface="+mj-lt"/>
                <a:cs typeface="+mj-lt"/>
              </a:rPr>
              <a:t>Διαχρονική παρακολούθηση εξέλιξης της νόσου</a:t>
            </a:r>
          </a:p>
        </p:txBody>
      </p:sp>
      <p:sp>
        <p:nvSpPr>
          <p:cNvPr id="8" name="TextBox 7"/>
          <p:cNvSpPr txBox="1"/>
          <p:nvPr/>
        </p:nvSpPr>
        <p:spPr>
          <a:xfrm>
            <a:off x="8041640" y="1463040"/>
            <a:ext cx="3296161" cy="400110"/>
          </a:xfrm>
          <a:prstGeom prst="rect">
            <a:avLst/>
          </a:prstGeom>
          <a:noFill/>
        </p:spPr>
        <p:txBody>
          <a:bodyPr wrap="square" lIns="91440" tIns="45720" rIns="91440" bIns="45720" anchor="t">
            <a:spAutoFit/>
          </a:bodyPr>
          <a:lstStyle/>
          <a:p>
            <a:pPr algn="l">
              <a:defRPr sz="2000" b="1">
                <a:solidFill>
                  <a:srgbClr val="E86C00"/>
                </a:solidFill>
                <a:latin typeface="Calibri"/>
              </a:defRPr>
            </a:pPr>
            <a:r>
              <a:rPr lang="en-US">
                <a:ea typeface="+mn-lt"/>
                <a:cs typeface="+mn-lt"/>
              </a:rPr>
              <a:t>Μακροπρόθεσμα</a:t>
            </a:r>
            <a:endParaRPr lang="en-US"/>
          </a:p>
        </p:txBody>
      </p:sp>
      <p:sp>
        <p:nvSpPr>
          <p:cNvPr id="9" name="TextBox 8"/>
          <p:cNvSpPr txBox="1"/>
          <p:nvPr/>
        </p:nvSpPr>
        <p:spPr>
          <a:xfrm>
            <a:off x="8041640" y="2103120"/>
            <a:ext cx="3575559" cy="2015936"/>
          </a:xfrm>
          <a:prstGeom prst="rect">
            <a:avLst/>
          </a:prstGeom>
          <a:noFill/>
        </p:spPr>
        <p:txBody>
          <a:bodyPr wrap="square" lIns="91440" tIns="45720" rIns="91440" bIns="45720" anchor="t">
            <a:spAutoFit/>
          </a:bodyPr>
          <a:lstStyle>
            <a:defPPr>
              <a:defRPr lang="en-US"/>
            </a:defPPr>
            <a:lvl1pPr marL="177800" indent="-177800">
              <a:spcBef>
                <a:spcPts val="1800"/>
              </a:spcBef>
              <a:spcAft>
                <a:spcPts val="300"/>
              </a:spcAft>
              <a:buFont typeface="Arial" panose="020B0604020202020204" pitchFamily="34" charset="0"/>
              <a:buChar char="•"/>
              <a:defRPr sz="1500" b="0">
                <a:solidFill>
                  <a:srgbClr val="FFFFFF"/>
                </a:solidFill>
                <a:latin typeface="+mj-lt"/>
              </a:defRPr>
            </a:lvl1pPr>
          </a:lstStyle>
          <a:p>
            <a:r>
              <a:rPr lang="en-US">
                <a:ea typeface="+mj-lt"/>
                <a:cs typeface="+mj-lt"/>
              </a:rPr>
              <a:t>Smartphone-based screening</a:t>
            </a:r>
            <a:endParaRPr lang="en-US"/>
          </a:p>
          <a:p>
            <a:pPr>
              <a:spcBef>
                <a:spcPts val="0"/>
              </a:spcBef>
              <a:spcAft>
                <a:spcPts val="0"/>
              </a:spcAft>
            </a:pPr>
            <a:endParaRPr/>
          </a:p>
          <a:p>
            <a:r>
              <a:t>Multi-modal fusion </a:t>
            </a:r>
            <a:r>
              <a:rPr lang="en-US">
                <a:ea typeface="+mj-lt"/>
                <a:cs typeface="+mj-lt"/>
              </a:rPr>
              <a:t>(φωνή, βάδιση, τρόμος)</a:t>
            </a:r>
          </a:p>
          <a:p>
            <a:pPr>
              <a:spcBef>
                <a:spcPts val="0"/>
              </a:spcBef>
              <a:spcAft>
                <a:spcPts val="0"/>
              </a:spcAft>
            </a:pPr>
            <a:endParaRPr/>
          </a:p>
          <a:p>
            <a:r>
              <a:rPr lang="en-US">
                <a:ea typeface="+mj-lt"/>
                <a:cs typeface="+mj-lt"/>
              </a:rPr>
              <a:t>Επίσημη κλινική επικύρωση</a:t>
            </a:r>
            <a:endParaRPr/>
          </a:p>
        </p:txBody>
      </p:sp>
      <p:sp>
        <p:nvSpPr>
          <p:cNvPr id="2" name="TextBox 1"/>
          <p:cNvSpPr txBox="1"/>
          <p:nvPr/>
        </p:nvSpPr>
        <p:spPr>
          <a:xfrm>
            <a:off x="516000" y="232159"/>
            <a:ext cx="11160000" cy="667842"/>
          </a:xfrm>
          <a:prstGeom prst="rect">
            <a:avLst/>
          </a:prstGeom>
          <a:noFill/>
        </p:spPr>
        <p:txBody>
          <a:bodyPr wrap="square" lIns="91440" tIns="45720" rIns="91440" bIns="45720" anchor="ctr" anchorCtr="0">
            <a:noAutofit/>
          </a:bodyPr>
          <a:lstStyle/>
          <a:p>
            <a:pPr algn="ctr">
              <a:defRPr sz="3200" b="1">
                <a:solidFill>
                  <a:srgbClr val="FFFFFF"/>
                </a:solidFill>
                <a:latin typeface="Calibri"/>
              </a:defRPr>
            </a:pPr>
            <a:r>
              <a:rPr lang="el-GR">
                <a:solidFill>
                  <a:schemeClr val="bg1"/>
                </a:solidFill>
                <a:latin typeface="Aptos Display"/>
              </a:rPr>
              <a:t>Μελλοντικές Μελέτες</a:t>
            </a:r>
            <a:endParaRPr lang="en-US"/>
          </a:p>
        </p:txBody>
      </p:sp>
      <p:sp>
        <p:nvSpPr>
          <p:cNvPr id="3" name="Rectangle 2"/>
          <p:cNvSpPr/>
          <p:nvPr/>
        </p:nvSpPr>
        <p:spPr>
          <a:xfrm>
            <a:off x="516000" y="915163"/>
            <a:ext cx="11160000" cy="27432"/>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0" name="TextBox 9"/>
          <p:cNvSpPr txBox="1"/>
          <p:nvPr/>
        </p:nvSpPr>
        <p:spPr>
          <a:xfrm>
            <a:off x="914553" y="4846320"/>
            <a:ext cx="10362895" cy="646331"/>
          </a:xfrm>
          <a:prstGeom prst="rect">
            <a:avLst/>
          </a:prstGeom>
          <a:noFill/>
        </p:spPr>
        <p:txBody>
          <a:bodyPr wrap="square" lIns="91440" tIns="45720" rIns="91440" bIns="45720" anchor="t">
            <a:spAutoFit/>
          </a:bodyPr>
          <a:lstStyle/>
          <a:p>
            <a:pPr algn="ctr">
              <a:defRPr sz="3600" b="1">
                <a:solidFill>
                  <a:srgbClr val="FFFFFF"/>
                </a:solidFill>
                <a:latin typeface="Calibri"/>
              </a:defRPr>
            </a:pPr>
            <a:r>
              <a:rPr lang="en-US">
                <a:latin typeface="+mj-lt"/>
              </a:rPr>
              <a:t>Σας Ευχαριστώ</a:t>
            </a:r>
          </a:p>
        </p:txBody>
      </p:sp>
      <p:sp>
        <p:nvSpPr>
          <p:cNvPr id="11" name="Rectangle 10"/>
          <p:cNvSpPr/>
          <p:nvPr/>
        </p:nvSpPr>
        <p:spPr>
          <a:xfrm>
            <a:off x="3657753" y="5577840"/>
            <a:ext cx="4876495" cy="27432"/>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2" name="TextBox 11"/>
          <p:cNvSpPr txBox="1"/>
          <p:nvPr/>
        </p:nvSpPr>
        <p:spPr>
          <a:xfrm>
            <a:off x="914553" y="5760720"/>
            <a:ext cx="10362895" cy="457200"/>
          </a:xfrm>
          <a:prstGeom prst="rect">
            <a:avLst/>
          </a:prstGeom>
          <a:noFill/>
        </p:spPr>
        <p:txBody>
          <a:bodyPr wrap="square" lIns="91440" tIns="45720" rIns="91440" bIns="45720" anchor="t">
            <a:spAutoFit/>
          </a:bodyPr>
          <a:lstStyle/>
          <a:p>
            <a:pPr algn="ctr">
              <a:defRPr sz="2400" b="0">
                <a:solidFill>
                  <a:srgbClr val="D6E8F7"/>
                </a:solidFill>
                <a:latin typeface="Calibri"/>
              </a:defRPr>
            </a:pPr>
            <a:r>
              <a:rPr lang="el-GR">
                <a:latin typeface="+mj-lt"/>
              </a:rPr>
              <a:t>Ερωτήσεις?</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animBg="1"/>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pic>
        <p:nvPicPr>
          <p:cNvPr id="3" name="Picture 2" descr="webapp-architecture.png"/>
          <p:cNvPicPr>
            <a:picLocks noChangeAspect="1"/>
          </p:cNvPicPr>
          <p:nvPr/>
        </p:nvPicPr>
        <p:blipFill>
          <a:blip r:embed="rId3"/>
          <a:stretch>
            <a:fillRect/>
          </a:stretch>
        </p:blipFill>
        <p:spPr>
          <a:xfrm>
            <a:off x="8371632" y="1216262"/>
            <a:ext cx="3321586" cy="4734500"/>
          </a:xfrm>
          <a:prstGeom prst="rect">
            <a:avLst/>
          </a:prstGeom>
        </p:spPr>
      </p:pic>
      <p:sp>
        <p:nvSpPr>
          <p:cNvPr id="4" name="Rectangle 3"/>
          <p:cNvSpPr/>
          <p:nvPr/>
        </p:nvSpPr>
        <p:spPr>
          <a:xfrm>
            <a:off x="8375136" y="5641738"/>
            <a:ext cx="3334633" cy="292608"/>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l-GR" sz="800">
                <a:solidFill>
                  <a:schemeClr val="tx1"/>
                </a:solidFill>
                <a:latin typeface="Aptos"/>
              </a:rPr>
              <a:t>Σχήμα 1.3α:</a:t>
            </a:r>
            <a:r>
              <a:rPr lang="en-US" sz="800">
                <a:solidFill>
                  <a:schemeClr val="tx1"/>
                </a:solidFill>
                <a:latin typeface="Aptos"/>
              </a:rPr>
              <a:t> </a:t>
            </a:r>
            <a:r>
              <a:rPr lang="en-US" sz="800" err="1">
                <a:solidFill>
                  <a:schemeClr val="tx1"/>
                </a:solidFill>
                <a:latin typeface="Aptos"/>
              </a:rPr>
              <a:t>Αρχιτεκτονική</a:t>
            </a:r>
            <a:r>
              <a:rPr lang="en-US" sz="800">
                <a:solidFill>
                  <a:schemeClr val="tx1"/>
                </a:solidFill>
                <a:latin typeface="Aptos"/>
              </a:rPr>
              <a:t> </a:t>
            </a:r>
            <a:r>
              <a:rPr lang="en-US" sz="800" err="1">
                <a:solidFill>
                  <a:schemeClr val="tx1"/>
                </a:solidFill>
                <a:ea typeface="+mn-lt"/>
                <a:cs typeface="+mn-lt"/>
              </a:rPr>
              <a:t>εφ</a:t>
            </a:r>
            <a:r>
              <a:rPr lang="en-US" sz="800">
                <a:solidFill>
                  <a:schemeClr val="tx1"/>
                </a:solidFill>
                <a:ea typeface="+mn-lt"/>
                <a:cs typeface="+mn-lt"/>
              </a:rPr>
              <a:t>α</a:t>
            </a:r>
            <a:r>
              <a:rPr lang="en-US" sz="800" err="1">
                <a:solidFill>
                  <a:schemeClr val="tx1"/>
                </a:solidFill>
                <a:ea typeface="+mn-lt"/>
                <a:cs typeface="+mn-lt"/>
              </a:rPr>
              <a:t>ρμογής</a:t>
            </a:r>
            <a:endParaRPr lang="en-US" sz="800" err="1">
              <a:solidFill>
                <a:schemeClr val="tx1"/>
              </a:solidFill>
              <a:ea typeface="Calibri"/>
              <a:cs typeface="Calibri"/>
            </a:endParaRPr>
          </a:p>
        </p:txBody>
      </p:sp>
      <p:pic>
        <p:nvPicPr>
          <p:cNvPr id="5" name="Picture 4" descr="fig_demo_upload_audio.png"/>
          <p:cNvPicPr>
            <a:picLocks noChangeAspect="1"/>
          </p:cNvPicPr>
          <p:nvPr/>
        </p:nvPicPr>
        <p:blipFill>
          <a:blip r:embed="rId4"/>
          <a:stretch>
            <a:fillRect/>
          </a:stretch>
        </p:blipFill>
        <p:spPr>
          <a:xfrm>
            <a:off x="482231" y="1667194"/>
            <a:ext cx="3331611" cy="3535080"/>
          </a:xfrm>
          <a:prstGeom prst="rect">
            <a:avLst/>
          </a:prstGeom>
        </p:spPr>
      </p:pic>
      <p:sp>
        <p:nvSpPr>
          <p:cNvPr id="6" name="Rectangle 5"/>
          <p:cNvSpPr/>
          <p:nvPr/>
        </p:nvSpPr>
        <p:spPr>
          <a:xfrm>
            <a:off x="482231" y="5212300"/>
            <a:ext cx="3334752" cy="292608"/>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l-GR" sz="800">
                <a:solidFill>
                  <a:schemeClr val="tx1"/>
                </a:solidFill>
                <a:latin typeface="Aptos"/>
                <a:ea typeface="+mn-lt"/>
                <a:cs typeface="+mn-lt"/>
              </a:rPr>
              <a:t>Σχήμα 1.3β:</a:t>
            </a:r>
            <a:r>
              <a:rPr lang="en-US" sz="800">
                <a:solidFill>
                  <a:schemeClr val="tx1"/>
                </a:solidFill>
                <a:latin typeface="Aptos"/>
                <a:ea typeface="+mn-lt"/>
                <a:cs typeface="+mn-lt"/>
              </a:rPr>
              <a:t> </a:t>
            </a:r>
            <a:r>
              <a:rPr lang="en-US" sz="800" err="1">
                <a:solidFill>
                  <a:schemeClr val="tx1"/>
                </a:solidFill>
                <a:ea typeface="+mn-lt"/>
                <a:cs typeface="+mn-lt"/>
              </a:rPr>
              <a:t>Φόρμ</a:t>
            </a:r>
            <a:r>
              <a:rPr lang="en-US" sz="800">
                <a:solidFill>
                  <a:schemeClr val="tx1"/>
                </a:solidFill>
                <a:ea typeface="+mn-lt"/>
                <a:cs typeface="+mn-lt"/>
              </a:rPr>
              <a:t>α </a:t>
            </a:r>
            <a:r>
              <a:rPr lang="en-US" sz="800" err="1">
                <a:solidFill>
                  <a:schemeClr val="tx1"/>
                </a:solidFill>
                <a:ea typeface="+mn-lt"/>
                <a:cs typeface="+mn-lt"/>
              </a:rPr>
              <a:t>μετ</a:t>
            </a:r>
            <a:r>
              <a:rPr lang="en-US" sz="800">
                <a:solidFill>
                  <a:schemeClr val="tx1"/>
                </a:solidFill>
                <a:ea typeface="+mn-lt"/>
                <a:cs typeface="+mn-lt"/>
              </a:rPr>
              <a:t>α</a:t>
            </a:r>
            <a:r>
              <a:rPr lang="en-US" sz="800" err="1">
                <a:solidFill>
                  <a:schemeClr val="tx1"/>
                </a:solidFill>
                <a:ea typeface="+mn-lt"/>
                <a:cs typeface="+mn-lt"/>
              </a:rPr>
              <a:t>φόρτωσης</a:t>
            </a:r>
            <a:r>
              <a:rPr lang="en-US" sz="800">
                <a:solidFill>
                  <a:schemeClr val="tx1"/>
                </a:solidFill>
                <a:ea typeface="+mn-lt"/>
                <a:cs typeface="+mn-lt"/>
              </a:rPr>
              <a:t> </a:t>
            </a:r>
            <a:r>
              <a:rPr lang="en-US" sz="800" err="1">
                <a:solidFill>
                  <a:schemeClr val="tx1"/>
                </a:solidFill>
                <a:ea typeface="+mn-lt"/>
                <a:cs typeface="+mn-lt"/>
              </a:rPr>
              <a:t>ήχου</a:t>
            </a:r>
            <a:r>
              <a:rPr lang="en-US" sz="800">
                <a:solidFill>
                  <a:schemeClr val="tx1"/>
                </a:solidFill>
                <a:ea typeface="+mn-lt"/>
                <a:cs typeface="+mn-lt"/>
              </a:rPr>
              <a:t>.</a:t>
            </a:r>
            <a:endParaRPr lang="en-US" sz="800">
              <a:solidFill>
                <a:schemeClr val="tx1"/>
              </a:solidFill>
              <a:ea typeface="Calibri"/>
              <a:cs typeface="Calibri"/>
            </a:endParaRPr>
          </a:p>
        </p:txBody>
      </p:sp>
      <p:pic>
        <p:nvPicPr>
          <p:cNvPr id="7" name="Picture 6" descr="fig_demo_analysis_result.png"/>
          <p:cNvPicPr>
            <a:picLocks noChangeAspect="1"/>
          </p:cNvPicPr>
          <p:nvPr/>
        </p:nvPicPr>
        <p:blipFill>
          <a:blip r:embed="rId5"/>
          <a:stretch>
            <a:fillRect/>
          </a:stretch>
        </p:blipFill>
        <p:spPr>
          <a:xfrm>
            <a:off x="4431945" y="1662116"/>
            <a:ext cx="3321585" cy="3540158"/>
          </a:xfrm>
          <a:prstGeom prst="rect">
            <a:avLst/>
          </a:prstGeom>
        </p:spPr>
      </p:pic>
      <p:sp>
        <p:nvSpPr>
          <p:cNvPr id="8" name="Rectangle 7"/>
          <p:cNvSpPr/>
          <p:nvPr/>
        </p:nvSpPr>
        <p:spPr>
          <a:xfrm>
            <a:off x="4431945" y="5202274"/>
            <a:ext cx="3334752" cy="302634"/>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l-GR" sz="800">
                <a:solidFill>
                  <a:schemeClr val="tx1"/>
                </a:solidFill>
                <a:ea typeface="+mn-lt"/>
                <a:cs typeface="+mn-lt"/>
              </a:rPr>
              <a:t>Σχήμα 1.4β:</a:t>
            </a:r>
            <a:r>
              <a:rPr lang="el-GR" sz="800">
                <a:solidFill>
                  <a:schemeClr val="tx1"/>
                </a:solidFill>
                <a:latin typeface="Calibri"/>
                <a:ea typeface="Calibri"/>
                <a:cs typeface="Calibri"/>
              </a:rPr>
              <a:t> </a:t>
            </a:r>
            <a:r>
              <a:rPr lang="el-GR" sz="800">
                <a:solidFill>
                  <a:schemeClr val="tx1"/>
                </a:solidFill>
                <a:ea typeface="+mn-lt"/>
                <a:cs typeface="+mn-lt"/>
              </a:rPr>
              <a:t>Οθόνη αποτελεσμάτων ανάλυσης</a:t>
            </a:r>
            <a:endParaRPr lang="en-US">
              <a:solidFill>
                <a:schemeClr val="tx1"/>
              </a:solidFill>
            </a:endParaRPr>
          </a:p>
        </p:txBody>
      </p:sp>
      <p:sp>
        <p:nvSpPr>
          <p:cNvPr id="9" name="Title 8">
            <a:extLst>
              <a:ext uri="{FF2B5EF4-FFF2-40B4-BE49-F238E27FC236}">
                <a16:creationId xmlns:a16="http://schemas.microsoft.com/office/drawing/2014/main" id="{37615BD7-AFDB-57DF-B656-0E804173164F}"/>
              </a:ext>
            </a:extLst>
          </p:cNvPr>
          <p:cNvSpPr>
            <a:spLocks noGrp="1"/>
          </p:cNvSpPr>
          <p:nvPr>
            <p:ph type="title"/>
          </p:nvPr>
        </p:nvSpPr>
        <p:spPr>
          <a:xfrm>
            <a:off x="0" y="0"/>
            <a:ext cx="12192000" cy="900000"/>
          </a:xfrm>
        </p:spPr>
        <p:txBody>
          <a:bodyPr>
            <a:normAutofit/>
          </a:bodyPr>
          <a:lstStyle/>
          <a:p>
            <a:r>
              <a:rPr lang="en-GB">
                <a:latin typeface="Aptos"/>
              </a:rPr>
              <a:t>Demo Application - Ερευνητικό Πρωτότυπο</a:t>
            </a:r>
            <a:endParaRPr lang="en-GB"/>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019768454"/>
              </p:ext>
            </p:extLst>
          </p:nvPr>
        </p:nvGraphicFramePr>
        <p:xfrm>
          <a:off x="467226" y="1264920"/>
          <a:ext cx="11247116" cy="4480560"/>
        </p:xfrm>
        <a:graphic>
          <a:graphicData uri="http://schemas.openxmlformats.org/drawingml/2006/table">
            <a:tbl>
              <a:tblPr firstRow="1" bandRow="1">
                <a:tableStyleId>{5C22544A-7EE6-4342-B048-85BDC9FD1C3A}</a:tableStyleId>
              </a:tblPr>
              <a:tblGrid>
                <a:gridCol w="1205048">
                  <a:extLst>
                    <a:ext uri="{9D8B030D-6E8A-4147-A177-3AD203B41FA5}">
                      <a16:colId xmlns:a16="http://schemas.microsoft.com/office/drawing/2014/main" val="20000"/>
                    </a:ext>
                  </a:extLst>
                </a:gridCol>
                <a:gridCol w="1205048">
                  <a:extLst>
                    <a:ext uri="{9D8B030D-6E8A-4147-A177-3AD203B41FA5}">
                      <a16:colId xmlns:a16="http://schemas.microsoft.com/office/drawing/2014/main" val="20001"/>
                    </a:ext>
                  </a:extLst>
                </a:gridCol>
                <a:gridCol w="1807572">
                  <a:extLst>
                    <a:ext uri="{9D8B030D-6E8A-4147-A177-3AD203B41FA5}">
                      <a16:colId xmlns:a16="http://schemas.microsoft.com/office/drawing/2014/main" val="20002"/>
                    </a:ext>
                  </a:extLst>
                </a:gridCol>
                <a:gridCol w="1807572">
                  <a:extLst>
                    <a:ext uri="{9D8B030D-6E8A-4147-A177-3AD203B41FA5}">
                      <a16:colId xmlns:a16="http://schemas.microsoft.com/office/drawing/2014/main" val="20003"/>
                    </a:ext>
                  </a:extLst>
                </a:gridCol>
                <a:gridCol w="1606731">
                  <a:extLst>
                    <a:ext uri="{9D8B030D-6E8A-4147-A177-3AD203B41FA5}">
                      <a16:colId xmlns:a16="http://schemas.microsoft.com/office/drawing/2014/main" val="20004"/>
                    </a:ext>
                  </a:extLst>
                </a:gridCol>
                <a:gridCol w="1606731">
                  <a:extLst>
                    <a:ext uri="{9D8B030D-6E8A-4147-A177-3AD203B41FA5}">
                      <a16:colId xmlns:a16="http://schemas.microsoft.com/office/drawing/2014/main" val="20005"/>
                    </a:ext>
                  </a:extLst>
                </a:gridCol>
                <a:gridCol w="2008414">
                  <a:extLst>
                    <a:ext uri="{9D8B030D-6E8A-4147-A177-3AD203B41FA5}">
                      <a16:colId xmlns:a16="http://schemas.microsoft.com/office/drawing/2014/main" val="20006"/>
                    </a:ext>
                  </a:extLst>
                </a:gridCol>
              </a:tblGrid>
              <a:tr h="548640">
                <a:tc>
                  <a:txBody>
                    <a:bodyPr/>
                    <a:lstStyle/>
                    <a:p>
                      <a:pPr algn="ctr">
                        <a:defRPr sz="1400" b="1">
                          <a:solidFill>
                            <a:srgbClr val="FFFFFF"/>
                          </a:solidFill>
                          <a:latin typeface="Calibri"/>
                        </a:defRPr>
                      </a:pPr>
                      <a:r>
                        <a:rPr sz="1800">
                          <a:latin typeface="Aptos" panose="020B0004020202020204" pitchFamily="34" charset="0"/>
                        </a:rPr>
                        <a:t>Model</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Task</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Accuracy</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Precision</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Recall</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F1</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ROC-AUC</a:t>
                      </a:r>
                    </a:p>
                  </a:txBody>
                  <a:tcPr anchor="ctr">
                    <a:solidFill>
                      <a:srgbClr val="002B5C"/>
                    </a:solidFill>
                  </a:tcPr>
                </a:tc>
                <a:extLst>
                  <a:ext uri="{0D108BD9-81ED-4DB2-BD59-A6C34878D82A}">
                    <a16:rowId xmlns:a16="http://schemas.microsoft.com/office/drawing/2014/main" val="10000"/>
                  </a:ext>
                </a:extLst>
              </a:tr>
              <a:tr h="393192">
                <a:tc>
                  <a:txBody>
                    <a:bodyPr/>
                    <a:lstStyle/>
                    <a:p>
                      <a:pPr algn="ctr">
                        <a:defRPr sz="1300">
                          <a:solidFill>
                            <a:srgbClr val="1A1A1A"/>
                          </a:solidFill>
                          <a:latin typeface="Calibri"/>
                        </a:defRPr>
                      </a:pPr>
                      <a:r>
                        <a:rPr sz="1400">
                          <a:latin typeface="Aptos" panose="020B0004020202020204" pitchFamily="34" charset="0"/>
                        </a:rPr>
                        <a:t>LR</a:t>
                      </a:r>
                    </a:p>
                  </a:txBody>
                  <a:tcPr anchor="ctr">
                    <a:solidFill>
                      <a:srgbClr val="F2F2F2"/>
                    </a:solidFill>
                  </a:tcPr>
                </a:tc>
                <a:tc>
                  <a:txBody>
                    <a:bodyPr/>
                    <a:lstStyle/>
                    <a:p>
                      <a:pPr algn="ctr">
                        <a:defRPr sz="1300">
                          <a:solidFill>
                            <a:srgbClr val="1A1A1A"/>
                          </a:solidFill>
                          <a:latin typeface="Calibri"/>
                        </a:defRPr>
                      </a:pPr>
                      <a:r>
                        <a:rPr sz="1400" err="1">
                          <a:latin typeface="Aptos" panose="020B0004020202020204" pitchFamily="34" charset="0"/>
                        </a:rPr>
                        <a:t>ReadText</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73.2 ± 14.6</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0.63 ± 0.20</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0.78 ± 0.25</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0.67 ± 0.19</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0.698 ± 0.132</a:t>
                      </a:r>
                    </a:p>
                  </a:txBody>
                  <a:tcPr anchor="ctr">
                    <a:solidFill>
                      <a:srgbClr val="F2F2F2"/>
                    </a:solidFill>
                  </a:tcPr>
                </a:tc>
                <a:extLst>
                  <a:ext uri="{0D108BD9-81ED-4DB2-BD59-A6C34878D82A}">
                    <a16:rowId xmlns:a16="http://schemas.microsoft.com/office/drawing/2014/main" val="10001"/>
                  </a:ext>
                </a:extLst>
              </a:tr>
              <a:tr h="393192">
                <a:tc>
                  <a:txBody>
                    <a:bodyPr/>
                    <a:lstStyle/>
                    <a:p>
                      <a:pPr algn="ctr">
                        <a:defRPr sz="1300">
                          <a:solidFill>
                            <a:srgbClr val="1A1A1A"/>
                          </a:solidFill>
                          <a:latin typeface="Calibri"/>
                        </a:defRPr>
                      </a:pPr>
                      <a:r>
                        <a:rPr sz="1400">
                          <a:latin typeface="Aptos" panose="020B0004020202020204" pitchFamily="34" charset="0"/>
                        </a:rPr>
                        <a:t>SVM</a:t>
                      </a:r>
                    </a:p>
                  </a:txBody>
                  <a:tcPr anchor="ctr">
                    <a:solidFill>
                      <a:srgbClr val="FFFFFF"/>
                    </a:solidFill>
                  </a:tcPr>
                </a:tc>
                <a:tc>
                  <a:txBody>
                    <a:bodyPr/>
                    <a:lstStyle/>
                    <a:p>
                      <a:pPr algn="ctr">
                        <a:defRPr sz="1300">
                          <a:solidFill>
                            <a:srgbClr val="1A1A1A"/>
                          </a:solidFill>
                          <a:latin typeface="Calibri"/>
                        </a:defRPr>
                      </a:pPr>
                      <a:r>
                        <a:rPr sz="1400" err="1">
                          <a:latin typeface="Aptos" panose="020B0004020202020204" pitchFamily="34" charset="0"/>
                        </a:rPr>
                        <a:t>ReadText</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78.6 ± 10.8</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0.73 ± 0.15</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0.75 ± 0.25</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0.72 ± 0.16</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0.834 ± 0.153</a:t>
                      </a:r>
                    </a:p>
                  </a:txBody>
                  <a:tcPr anchor="ctr">
                    <a:solidFill>
                      <a:srgbClr val="FFFFFF"/>
                    </a:solidFill>
                  </a:tcPr>
                </a:tc>
                <a:extLst>
                  <a:ext uri="{0D108BD9-81ED-4DB2-BD59-A6C34878D82A}">
                    <a16:rowId xmlns:a16="http://schemas.microsoft.com/office/drawing/2014/main" val="10002"/>
                  </a:ext>
                </a:extLst>
              </a:tr>
              <a:tr h="393192">
                <a:tc>
                  <a:txBody>
                    <a:bodyPr/>
                    <a:lstStyle/>
                    <a:p>
                      <a:pPr algn="ctr">
                        <a:defRPr sz="1300">
                          <a:solidFill>
                            <a:srgbClr val="1A1A1A"/>
                          </a:solidFill>
                          <a:latin typeface="Calibri"/>
                        </a:defRPr>
                      </a:pPr>
                      <a:r>
                        <a:rPr sz="1400">
                          <a:latin typeface="Aptos" panose="020B0004020202020204" pitchFamily="34" charset="0"/>
                        </a:rPr>
                        <a:t>RF</a:t>
                      </a:r>
                    </a:p>
                  </a:txBody>
                  <a:tcPr anchor="ctr">
                    <a:solidFill>
                      <a:srgbClr val="F2F2F2"/>
                    </a:solidFill>
                  </a:tcPr>
                </a:tc>
                <a:tc>
                  <a:txBody>
                    <a:bodyPr/>
                    <a:lstStyle/>
                    <a:p>
                      <a:pPr algn="ctr">
                        <a:defRPr sz="1300">
                          <a:solidFill>
                            <a:srgbClr val="1A1A1A"/>
                          </a:solidFill>
                          <a:latin typeface="Calibri"/>
                        </a:defRPr>
                      </a:pPr>
                      <a:r>
                        <a:rPr sz="1400" err="1">
                          <a:latin typeface="Aptos" panose="020B0004020202020204" pitchFamily="34" charset="0"/>
                        </a:rPr>
                        <a:t>ReadText</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81.8 ± 14.0</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0.77 ± 0.18</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0.75 ± 0.25</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0.73 ± 0.21</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0.805 ± 0.182</a:t>
                      </a:r>
                    </a:p>
                  </a:txBody>
                  <a:tcPr anchor="ctr">
                    <a:solidFill>
                      <a:srgbClr val="F2F2F2"/>
                    </a:solidFill>
                  </a:tcPr>
                </a:tc>
                <a:extLst>
                  <a:ext uri="{0D108BD9-81ED-4DB2-BD59-A6C34878D82A}">
                    <a16:rowId xmlns:a16="http://schemas.microsoft.com/office/drawing/2014/main" val="10003"/>
                  </a:ext>
                </a:extLst>
              </a:tr>
              <a:tr h="393192">
                <a:tc>
                  <a:txBody>
                    <a:bodyPr/>
                    <a:lstStyle/>
                    <a:p>
                      <a:pPr algn="ctr">
                        <a:defRPr sz="1300">
                          <a:solidFill>
                            <a:srgbClr val="1A1A1A"/>
                          </a:solidFill>
                          <a:latin typeface="Calibri"/>
                        </a:defRPr>
                      </a:pPr>
                      <a:r>
                        <a:rPr sz="1400">
                          <a:latin typeface="Aptos" panose="020B0004020202020204" pitchFamily="34" charset="0"/>
                        </a:rPr>
                        <a:t>GB</a:t>
                      </a:r>
                    </a:p>
                  </a:txBody>
                  <a:tcPr anchor="ctr">
                    <a:solidFill>
                      <a:srgbClr val="FFFFFF"/>
                    </a:solidFill>
                  </a:tcPr>
                </a:tc>
                <a:tc>
                  <a:txBody>
                    <a:bodyPr/>
                    <a:lstStyle/>
                    <a:p>
                      <a:pPr algn="ctr">
                        <a:defRPr sz="1300">
                          <a:solidFill>
                            <a:srgbClr val="1A1A1A"/>
                          </a:solidFill>
                          <a:latin typeface="Calibri"/>
                        </a:defRPr>
                      </a:pPr>
                      <a:r>
                        <a:rPr sz="1400" err="1">
                          <a:latin typeface="Aptos" panose="020B0004020202020204" pitchFamily="34" charset="0"/>
                        </a:rPr>
                        <a:t>ReadText</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71.1 ± 14.8</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0.59 ± 0.18</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0.78 ± 0.25</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0.65 ± 0.18</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0.724 ± 0.214</a:t>
                      </a:r>
                    </a:p>
                  </a:txBody>
                  <a:tcPr anchor="ctr">
                    <a:solidFill>
                      <a:srgbClr val="FFFFFF"/>
                    </a:solidFill>
                  </a:tcPr>
                </a:tc>
                <a:extLst>
                  <a:ext uri="{0D108BD9-81ED-4DB2-BD59-A6C34878D82A}">
                    <a16:rowId xmlns:a16="http://schemas.microsoft.com/office/drawing/2014/main" val="10004"/>
                  </a:ext>
                </a:extLst>
              </a:tr>
              <a:tr h="393192">
                <a:tc>
                  <a:txBody>
                    <a:bodyPr/>
                    <a:lstStyle/>
                    <a:p>
                      <a:pPr algn="ctr">
                        <a:defRPr sz="1300">
                          <a:solidFill>
                            <a:srgbClr val="1A1A1A"/>
                          </a:solidFill>
                          <a:latin typeface="Calibri"/>
                        </a:defRPr>
                      </a:pPr>
                      <a:r>
                        <a:rPr sz="1400">
                          <a:latin typeface="Aptos" panose="020B0004020202020204" pitchFamily="34" charset="0"/>
                        </a:rPr>
                        <a:t>XGB</a:t>
                      </a:r>
                    </a:p>
                  </a:txBody>
                  <a:tcPr anchor="ctr">
                    <a:solidFill>
                      <a:srgbClr val="F2F2F2"/>
                    </a:solidFill>
                  </a:tcPr>
                </a:tc>
                <a:tc>
                  <a:txBody>
                    <a:bodyPr/>
                    <a:lstStyle/>
                    <a:p>
                      <a:pPr algn="ctr">
                        <a:defRPr sz="1300">
                          <a:solidFill>
                            <a:srgbClr val="1A1A1A"/>
                          </a:solidFill>
                          <a:latin typeface="Calibri"/>
                        </a:defRPr>
                      </a:pPr>
                      <a:r>
                        <a:rPr sz="1400" err="1">
                          <a:latin typeface="Aptos" panose="020B0004020202020204" pitchFamily="34" charset="0"/>
                        </a:rPr>
                        <a:t>ReadText</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77.1 ± 13.1</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0.67 ± 0.18</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0.78 ± 0.25</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0.70 ± 0.18</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0.794 ± 0.186</a:t>
                      </a:r>
                    </a:p>
                  </a:txBody>
                  <a:tcPr anchor="ctr">
                    <a:solidFill>
                      <a:srgbClr val="F2F2F2"/>
                    </a:solidFill>
                  </a:tcPr>
                </a:tc>
                <a:extLst>
                  <a:ext uri="{0D108BD9-81ED-4DB2-BD59-A6C34878D82A}">
                    <a16:rowId xmlns:a16="http://schemas.microsoft.com/office/drawing/2014/main" val="10005"/>
                  </a:ext>
                </a:extLst>
              </a:tr>
              <a:tr h="393192">
                <a:tc>
                  <a:txBody>
                    <a:bodyPr/>
                    <a:lstStyle/>
                    <a:p>
                      <a:pPr algn="ctr">
                        <a:defRPr sz="1300">
                          <a:solidFill>
                            <a:srgbClr val="1A1A1A"/>
                          </a:solidFill>
                          <a:latin typeface="Calibri"/>
                        </a:defRPr>
                      </a:pPr>
                      <a:r>
                        <a:rPr sz="1400">
                          <a:latin typeface="Aptos" panose="020B0004020202020204" pitchFamily="34" charset="0"/>
                        </a:rPr>
                        <a:t>LR</a:t>
                      </a:r>
                    </a:p>
                  </a:txBody>
                  <a:tcPr anchor="ctr">
                    <a:solidFill>
                      <a:srgbClr val="FFFFFF"/>
                    </a:solidFill>
                  </a:tcPr>
                </a:tc>
                <a:tc>
                  <a:txBody>
                    <a:bodyPr/>
                    <a:lstStyle/>
                    <a:p>
                      <a:pPr algn="ctr">
                        <a:defRPr sz="1300">
                          <a:solidFill>
                            <a:srgbClr val="1A1A1A"/>
                          </a:solidFill>
                          <a:latin typeface="Calibri"/>
                        </a:defRPr>
                      </a:pPr>
                      <a:r>
                        <a:rPr sz="1400" err="1">
                          <a:latin typeface="Aptos" panose="020B0004020202020204" pitchFamily="34" charset="0"/>
                        </a:rPr>
                        <a:t>Spont</a:t>
                      </a:r>
                      <a:r>
                        <a:rPr sz="1400">
                          <a:latin typeface="Aptos" panose="020B0004020202020204" pitchFamily="34" charset="0"/>
                        </a:rPr>
                        <a:t>.</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69.3 ± 13.9</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0.61 ± 0.21</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0.70 ± 0.33</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0.59 ± 0.22</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0.783 ± 0.139</a:t>
                      </a:r>
                    </a:p>
                  </a:txBody>
                  <a:tcPr anchor="ctr">
                    <a:solidFill>
                      <a:srgbClr val="FFFFFF"/>
                    </a:solidFill>
                  </a:tcPr>
                </a:tc>
                <a:extLst>
                  <a:ext uri="{0D108BD9-81ED-4DB2-BD59-A6C34878D82A}">
                    <a16:rowId xmlns:a16="http://schemas.microsoft.com/office/drawing/2014/main" val="10006"/>
                  </a:ext>
                </a:extLst>
              </a:tr>
              <a:tr h="393192">
                <a:tc>
                  <a:txBody>
                    <a:bodyPr/>
                    <a:lstStyle/>
                    <a:p>
                      <a:pPr algn="ctr">
                        <a:defRPr sz="1300">
                          <a:solidFill>
                            <a:srgbClr val="1A1A1A"/>
                          </a:solidFill>
                          <a:latin typeface="Calibri"/>
                        </a:defRPr>
                      </a:pPr>
                      <a:r>
                        <a:rPr sz="1400">
                          <a:latin typeface="Aptos" panose="020B0004020202020204" pitchFamily="34" charset="0"/>
                        </a:rPr>
                        <a:t>SVM</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Spont.</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55.0 ± 17.7</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0.40 ± 0.21</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0.47 ± 0.42</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0.38 ± 0.30</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0.403 ± 0.347</a:t>
                      </a:r>
                    </a:p>
                  </a:txBody>
                  <a:tcPr anchor="ctr">
                    <a:solidFill>
                      <a:srgbClr val="F2F2F2"/>
                    </a:solidFill>
                  </a:tcPr>
                </a:tc>
                <a:extLst>
                  <a:ext uri="{0D108BD9-81ED-4DB2-BD59-A6C34878D82A}">
                    <a16:rowId xmlns:a16="http://schemas.microsoft.com/office/drawing/2014/main" val="10007"/>
                  </a:ext>
                </a:extLst>
              </a:tr>
              <a:tr h="393192">
                <a:tc>
                  <a:txBody>
                    <a:bodyPr/>
                    <a:lstStyle/>
                    <a:p>
                      <a:pPr algn="ctr">
                        <a:defRPr sz="1300">
                          <a:solidFill>
                            <a:srgbClr val="1A1A1A"/>
                          </a:solidFill>
                          <a:latin typeface="Calibri"/>
                        </a:defRPr>
                      </a:pPr>
                      <a:r>
                        <a:rPr sz="1400">
                          <a:latin typeface="Aptos" panose="020B0004020202020204" pitchFamily="34" charset="0"/>
                        </a:rPr>
                        <a:t>RF</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Spont.</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72.1 ± 20.3</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0.63 ± 0.28</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0.60 ± 0.42</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0.55 ± 0.32</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0.823 ± 0.209</a:t>
                      </a:r>
                    </a:p>
                  </a:txBody>
                  <a:tcPr anchor="ctr">
                    <a:solidFill>
                      <a:srgbClr val="FFFFFF"/>
                    </a:solidFill>
                  </a:tcPr>
                </a:tc>
                <a:extLst>
                  <a:ext uri="{0D108BD9-81ED-4DB2-BD59-A6C34878D82A}">
                    <a16:rowId xmlns:a16="http://schemas.microsoft.com/office/drawing/2014/main" val="10008"/>
                  </a:ext>
                </a:extLst>
              </a:tr>
              <a:tr h="393192">
                <a:tc>
                  <a:txBody>
                    <a:bodyPr/>
                    <a:lstStyle/>
                    <a:p>
                      <a:pPr algn="ctr">
                        <a:defRPr sz="1300">
                          <a:solidFill>
                            <a:srgbClr val="1A1A1A"/>
                          </a:solidFill>
                          <a:latin typeface="Calibri"/>
                        </a:defRPr>
                      </a:pPr>
                      <a:r>
                        <a:rPr sz="1400">
                          <a:latin typeface="Aptos" panose="020B0004020202020204" pitchFamily="34" charset="0"/>
                        </a:rPr>
                        <a:t>GB</a:t>
                      </a:r>
                    </a:p>
                  </a:txBody>
                  <a:tcPr anchor="ctr">
                    <a:solidFill>
                      <a:srgbClr val="F2F2F2"/>
                    </a:solidFill>
                  </a:tcPr>
                </a:tc>
                <a:tc>
                  <a:txBody>
                    <a:bodyPr/>
                    <a:lstStyle/>
                    <a:p>
                      <a:pPr algn="ctr">
                        <a:defRPr sz="1300">
                          <a:solidFill>
                            <a:srgbClr val="1A1A1A"/>
                          </a:solidFill>
                          <a:latin typeface="Calibri"/>
                        </a:defRPr>
                      </a:pPr>
                      <a:r>
                        <a:rPr sz="1400" err="1">
                          <a:latin typeface="Aptos" panose="020B0004020202020204" pitchFamily="34" charset="0"/>
                        </a:rPr>
                        <a:t>Spont</a:t>
                      </a:r>
                      <a:r>
                        <a:rPr sz="1400">
                          <a:latin typeface="Aptos" panose="020B0004020202020204" pitchFamily="34" charset="0"/>
                        </a:rPr>
                        <a:t>.</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63.6 ± 10.1</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0.50 ± 0.11</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0.60 ± 0.22</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0.53 ± 0.15</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0.638 ± 0.146</a:t>
                      </a:r>
                    </a:p>
                  </a:txBody>
                  <a:tcPr anchor="ctr">
                    <a:solidFill>
                      <a:srgbClr val="F2F2F2"/>
                    </a:solidFill>
                  </a:tcPr>
                </a:tc>
                <a:extLst>
                  <a:ext uri="{0D108BD9-81ED-4DB2-BD59-A6C34878D82A}">
                    <a16:rowId xmlns:a16="http://schemas.microsoft.com/office/drawing/2014/main" val="10009"/>
                  </a:ext>
                </a:extLst>
              </a:tr>
              <a:tr h="393192">
                <a:tc>
                  <a:txBody>
                    <a:bodyPr/>
                    <a:lstStyle/>
                    <a:p>
                      <a:pPr algn="ctr">
                        <a:defRPr sz="1300">
                          <a:solidFill>
                            <a:srgbClr val="1A1A1A"/>
                          </a:solidFill>
                          <a:latin typeface="Calibri"/>
                        </a:defRPr>
                      </a:pPr>
                      <a:r>
                        <a:rPr sz="1400">
                          <a:latin typeface="Aptos" panose="020B0004020202020204" pitchFamily="34" charset="0"/>
                        </a:rPr>
                        <a:t>XGB</a:t>
                      </a:r>
                    </a:p>
                  </a:txBody>
                  <a:tcPr anchor="ctr">
                    <a:solidFill>
                      <a:srgbClr val="FFFFFF"/>
                    </a:solidFill>
                  </a:tcPr>
                </a:tc>
                <a:tc>
                  <a:txBody>
                    <a:bodyPr/>
                    <a:lstStyle/>
                    <a:p>
                      <a:pPr algn="ctr">
                        <a:defRPr sz="1300">
                          <a:solidFill>
                            <a:srgbClr val="1A1A1A"/>
                          </a:solidFill>
                          <a:latin typeface="Calibri"/>
                        </a:defRPr>
                      </a:pPr>
                      <a:r>
                        <a:rPr sz="1400" err="1">
                          <a:latin typeface="Aptos" panose="020B0004020202020204" pitchFamily="34" charset="0"/>
                        </a:rPr>
                        <a:t>Spont</a:t>
                      </a:r>
                      <a:r>
                        <a:rPr sz="1400">
                          <a:latin typeface="Aptos" panose="020B0004020202020204" pitchFamily="34" charset="0"/>
                        </a:rPr>
                        <a:t>.</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61.4 ± 13.3</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0.45 ± 0.15</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0.47 ± 0.25</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0.43 ± 0.17</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0.687 ± 0.146</a:t>
                      </a:r>
                    </a:p>
                  </a:txBody>
                  <a:tcPr anchor="ctr">
                    <a:solidFill>
                      <a:srgbClr val="FFFFFF"/>
                    </a:solidFill>
                  </a:tcPr>
                </a:tc>
                <a:extLst>
                  <a:ext uri="{0D108BD9-81ED-4DB2-BD59-A6C34878D82A}">
                    <a16:rowId xmlns:a16="http://schemas.microsoft.com/office/drawing/2014/main" val="10010"/>
                  </a:ext>
                </a:extLst>
              </a:tr>
            </a:tbl>
          </a:graphicData>
        </a:graphic>
      </p:graphicFrame>
      <p:sp>
        <p:nvSpPr>
          <p:cNvPr id="5" name="Rectangle 4"/>
          <p:cNvSpPr/>
          <p:nvPr/>
        </p:nvSpPr>
        <p:spPr>
          <a:xfrm>
            <a:off x="457200" y="5750052"/>
            <a:ext cx="11247120" cy="237744"/>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n-US" sz="800" err="1">
                <a:solidFill>
                  <a:schemeClr val="tx1"/>
                </a:solidFill>
                <a:latin typeface="Aptos"/>
                <a:ea typeface="+mn-lt"/>
                <a:cs typeface="+mn-lt"/>
              </a:rPr>
              <a:t>Πίν</a:t>
            </a:r>
            <a:r>
              <a:rPr lang="en-US" sz="800">
                <a:solidFill>
                  <a:schemeClr val="tx1"/>
                </a:solidFill>
                <a:latin typeface="Aptos"/>
                <a:ea typeface="+mn-lt"/>
                <a:cs typeface="+mn-lt"/>
              </a:rPr>
              <a:t>ακας 6.7: Σ</a:t>
            </a:r>
            <a:r>
              <a:rPr lang="el-GR" sz="800" err="1">
                <a:solidFill>
                  <a:schemeClr val="tx1"/>
                </a:solidFill>
                <a:latin typeface="Aptos"/>
                <a:ea typeface="+mn-lt"/>
                <a:cs typeface="+mn-lt"/>
              </a:rPr>
              <a:t>υγκεντρωτικός</a:t>
            </a:r>
            <a:r>
              <a:rPr lang="el-GR" sz="800">
                <a:solidFill>
                  <a:schemeClr val="tx1"/>
                </a:solidFill>
                <a:latin typeface="Aptos"/>
                <a:ea typeface="+mn-lt"/>
                <a:cs typeface="+mn-lt"/>
              </a:rPr>
              <a:t> Πίνακας </a:t>
            </a:r>
            <a:r>
              <a:rPr lang="en-US" sz="800">
                <a:solidFill>
                  <a:schemeClr val="tx1"/>
                </a:solidFill>
                <a:latin typeface="Aptos"/>
                <a:ea typeface="+mn-lt"/>
                <a:cs typeface="+mn-lt"/>
              </a:rPr>
              <a:t> C4 - Dataset A</a:t>
            </a:r>
            <a:endParaRPr lang="en-US">
              <a:solidFill>
                <a:schemeClr val="tx1"/>
              </a:solidFill>
            </a:endParaRP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ptos" panose="020B0004020202020204" pitchFamily="34" charset="0"/>
            </a:endParaRPr>
          </a:p>
        </p:txBody>
      </p:sp>
      <p:sp>
        <p:nvSpPr>
          <p:cNvPr id="8" name="Title 7">
            <a:extLst>
              <a:ext uri="{FF2B5EF4-FFF2-40B4-BE49-F238E27FC236}">
                <a16:creationId xmlns:a16="http://schemas.microsoft.com/office/drawing/2014/main" id="{7CA70ABB-2567-4AA5-B150-272AF72B05A2}"/>
              </a:ext>
            </a:extLst>
          </p:cNvPr>
          <p:cNvSpPr>
            <a:spLocks noGrp="1"/>
          </p:cNvSpPr>
          <p:nvPr>
            <p:ph type="title"/>
          </p:nvPr>
        </p:nvSpPr>
        <p:spPr>
          <a:xfrm>
            <a:off x="0" y="0"/>
            <a:ext cx="12192000" cy="900000"/>
          </a:xfrm>
        </p:spPr>
        <p:txBody>
          <a:bodyPr>
            <a:normAutofit/>
          </a:bodyPr>
          <a:lstStyle/>
          <a:p>
            <a:r>
              <a:rPr lang="en-GB">
                <a:latin typeface="Aptos"/>
              </a:rPr>
              <a:t>Αποτελέσματα - C4: Extended + Weighted (Dataset A)</a:t>
            </a: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094433146"/>
              </p:ext>
            </p:extLst>
          </p:nvPr>
        </p:nvGraphicFramePr>
        <p:xfrm>
          <a:off x="457200" y="1726896"/>
          <a:ext cx="11247117" cy="2527316"/>
        </p:xfrm>
        <a:graphic>
          <a:graphicData uri="http://schemas.openxmlformats.org/drawingml/2006/table">
            <a:tbl>
              <a:tblPr firstRow="1" bandRow="1">
                <a:tableStyleId>{5C22544A-7EE6-4342-B048-85BDC9FD1C3A}</a:tableStyleId>
              </a:tblPr>
              <a:tblGrid>
                <a:gridCol w="2425849">
                  <a:extLst>
                    <a:ext uri="{9D8B030D-6E8A-4147-A177-3AD203B41FA5}">
                      <a16:colId xmlns:a16="http://schemas.microsoft.com/office/drawing/2014/main" val="20000"/>
                    </a:ext>
                  </a:extLst>
                </a:gridCol>
                <a:gridCol w="2205317">
                  <a:extLst>
                    <a:ext uri="{9D8B030D-6E8A-4147-A177-3AD203B41FA5}">
                      <a16:colId xmlns:a16="http://schemas.microsoft.com/office/drawing/2014/main" val="20001"/>
                    </a:ext>
                  </a:extLst>
                </a:gridCol>
                <a:gridCol w="2205317">
                  <a:extLst>
                    <a:ext uri="{9D8B030D-6E8A-4147-A177-3AD203B41FA5}">
                      <a16:colId xmlns:a16="http://schemas.microsoft.com/office/drawing/2014/main" val="20002"/>
                    </a:ext>
                  </a:extLst>
                </a:gridCol>
                <a:gridCol w="2205317">
                  <a:extLst>
                    <a:ext uri="{9D8B030D-6E8A-4147-A177-3AD203B41FA5}">
                      <a16:colId xmlns:a16="http://schemas.microsoft.com/office/drawing/2014/main" val="20003"/>
                    </a:ext>
                  </a:extLst>
                </a:gridCol>
                <a:gridCol w="2205317">
                  <a:extLst>
                    <a:ext uri="{9D8B030D-6E8A-4147-A177-3AD203B41FA5}">
                      <a16:colId xmlns:a16="http://schemas.microsoft.com/office/drawing/2014/main" val="20004"/>
                    </a:ext>
                  </a:extLst>
                </a:gridCol>
              </a:tblGrid>
              <a:tr h="561356">
                <a:tc>
                  <a:txBody>
                    <a:bodyPr/>
                    <a:lstStyle/>
                    <a:p>
                      <a:pPr algn="ctr">
                        <a:defRPr sz="1400" b="1">
                          <a:solidFill>
                            <a:srgbClr val="FFFFFF"/>
                          </a:solidFill>
                          <a:latin typeface="Calibri"/>
                        </a:defRPr>
                      </a:pPr>
                      <a:r>
                        <a:rPr sz="1800">
                          <a:latin typeface="Aptos" panose="020B0004020202020204" pitchFamily="34" charset="0"/>
                        </a:rPr>
                        <a:t>Model</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C1 (47, </a:t>
                      </a:r>
                      <a:r>
                        <a:rPr sz="1800" err="1">
                          <a:latin typeface="Aptos" panose="020B0004020202020204" pitchFamily="34" charset="0"/>
                        </a:rPr>
                        <a:t>unw</a:t>
                      </a:r>
                      <a:r>
                        <a:rPr sz="1800">
                          <a:latin typeface="Aptos" panose="020B0004020202020204" pitchFamily="34" charset="0"/>
                        </a:rPr>
                        <a:t>)</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C2 (47, </a:t>
                      </a:r>
                      <a:r>
                        <a:rPr sz="1800" err="1">
                          <a:latin typeface="Aptos" panose="020B0004020202020204" pitchFamily="34" charset="0"/>
                        </a:rPr>
                        <a:t>wt</a:t>
                      </a:r>
                      <a:r>
                        <a:rPr sz="1800">
                          <a:latin typeface="Aptos" panose="020B0004020202020204" pitchFamily="34" charset="0"/>
                        </a:rPr>
                        <a:t>)</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C3 (78, </a:t>
                      </a:r>
                      <a:r>
                        <a:rPr sz="1800" err="1">
                          <a:latin typeface="Aptos" panose="020B0004020202020204" pitchFamily="34" charset="0"/>
                        </a:rPr>
                        <a:t>unw</a:t>
                      </a:r>
                      <a:r>
                        <a:rPr sz="1800">
                          <a:latin typeface="Aptos" panose="020B0004020202020204" pitchFamily="34" charset="0"/>
                        </a:rPr>
                        <a:t>)</a:t>
                      </a:r>
                    </a:p>
                  </a:txBody>
                  <a:tcPr anchor="ctr">
                    <a:solidFill>
                      <a:srgbClr val="002B5C"/>
                    </a:solidFill>
                  </a:tcPr>
                </a:tc>
                <a:tc>
                  <a:txBody>
                    <a:bodyPr/>
                    <a:lstStyle/>
                    <a:p>
                      <a:pPr algn="ctr">
                        <a:defRPr sz="1400" b="1">
                          <a:solidFill>
                            <a:srgbClr val="FFFFFF"/>
                          </a:solidFill>
                          <a:latin typeface="Calibri"/>
                        </a:defRPr>
                      </a:pPr>
                      <a:r>
                        <a:rPr sz="1800">
                          <a:latin typeface="Aptos" panose="020B0004020202020204" pitchFamily="34" charset="0"/>
                        </a:rPr>
                        <a:t>C4 (78, </a:t>
                      </a:r>
                      <a:r>
                        <a:rPr sz="1800" err="1">
                          <a:latin typeface="Aptos" panose="020B0004020202020204" pitchFamily="34" charset="0"/>
                        </a:rPr>
                        <a:t>wt</a:t>
                      </a:r>
                      <a:r>
                        <a:rPr sz="1800">
                          <a:latin typeface="Aptos" panose="020B0004020202020204" pitchFamily="34" charset="0"/>
                        </a:rPr>
                        <a:t>)</a:t>
                      </a:r>
                    </a:p>
                  </a:txBody>
                  <a:tcPr anchor="ctr">
                    <a:solidFill>
                      <a:srgbClr val="002B5C"/>
                    </a:solidFill>
                  </a:tcPr>
                </a:tc>
                <a:extLst>
                  <a:ext uri="{0D108BD9-81ED-4DB2-BD59-A6C34878D82A}">
                    <a16:rowId xmlns:a16="http://schemas.microsoft.com/office/drawing/2014/main" val="10000"/>
                  </a:ext>
                </a:extLst>
              </a:tr>
              <a:tr h="393192">
                <a:tc>
                  <a:txBody>
                    <a:bodyPr/>
                    <a:lstStyle/>
                    <a:p>
                      <a:pPr algn="ctr">
                        <a:defRPr sz="1300">
                          <a:solidFill>
                            <a:srgbClr val="1A1A1A"/>
                          </a:solidFill>
                          <a:latin typeface="Calibri"/>
                        </a:defRPr>
                      </a:pPr>
                      <a:r>
                        <a:rPr sz="1400">
                          <a:latin typeface="Aptos" panose="020B0004020202020204" pitchFamily="34" charset="0"/>
                        </a:rPr>
                        <a:t>Logistic Reg.</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0.717 ± 0.139</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0.717 ± 0.139</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0.698 ± 0.132</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0.698 ± 0.132</a:t>
                      </a:r>
                    </a:p>
                  </a:txBody>
                  <a:tcPr anchor="ctr">
                    <a:solidFill>
                      <a:srgbClr val="F2F2F2"/>
                    </a:solidFill>
                  </a:tcPr>
                </a:tc>
                <a:extLst>
                  <a:ext uri="{0D108BD9-81ED-4DB2-BD59-A6C34878D82A}">
                    <a16:rowId xmlns:a16="http://schemas.microsoft.com/office/drawing/2014/main" val="10001"/>
                  </a:ext>
                </a:extLst>
              </a:tr>
              <a:tr h="393192">
                <a:tc>
                  <a:txBody>
                    <a:bodyPr/>
                    <a:lstStyle/>
                    <a:p>
                      <a:pPr algn="ctr">
                        <a:defRPr sz="1300">
                          <a:solidFill>
                            <a:srgbClr val="1A1A1A"/>
                          </a:solidFill>
                          <a:latin typeface="Calibri"/>
                        </a:defRPr>
                      </a:pPr>
                      <a:r>
                        <a:rPr sz="1400">
                          <a:latin typeface="Aptos" panose="020B0004020202020204" pitchFamily="34" charset="0"/>
                        </a:rPr>
                        <a:t>SVM (RBF)</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0.614 ± 0.312</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0.542 ± 0.312</a:t>
                      </a:r>
                    </a:p>
                  </a:txBody>
                  <a:tcPr anchor="ctr">
                    <a:solidFill>
                      <a:srgbClr val="FFFFFF"/>
                    </a:solidFill>
                  </a:tcPr>
                </a:tc>
                <a:tc>
                  <a:txBody>
                    <a:bodyPr/>
                    <a:lstStyle/>
                    <a:p>
                      <a:pPr algn="ctr">
                        <a:defRPr sz="1300" b="1">
                          <a:solidFill>
                            <a:srgbClr val="E86C00"/>
                          </a:solidFill>
                          <a:latin typeface="Calibri"/>
                        </a:defRPr>
                      </a:pPr>
                      <a:r>
                        <a:rPr sz="1400">
                          <a:latin typeface="Aptos" panose="020B0004020202020204" pitchFamily="34" charset="0"/>
                        </a:rPr>
                        <a:t>0.834 ± 0.153</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0.834 ± 0.153</a:t>
                      </a:r>
                    </a:p>
                  </a:txBody>
                  <a:tcPr anchor="ctr">
                    <a:solidFill>
                      <a:srgbClr val="FFFFFF"/>
                    </a:solidFill>
                  </a:tcPr>
                </a:tc>
                <a:extLst>
                  <a:ext uri="{0D108BD9-81ED-4DB2-BD59-A6C34878D82A}">
                    <a16:rowId xmlns:a16="http://schemas.microsoft.com/office/drawing/2014/main" val="10002"/>
                  </a:ext>
                </a:extLst>
              </a:tr>
              <a:tr h="393192">
                <a:tc>
                  <a:txBody>
                    <a:bodyPr/>
                    <a:lstStyle/>
                    <a:p>
                      <a:pPr algn="ctr">
                        <a:defRPr sz="1300">
                          <a:solidFill>
                            <a:srgbClr val="1A1A1A"/>
                          </a:solidFill>
                          <a:latin typeface="Calibri"/>
                        </a:defRPr>
                      </a:pPr>
                      <a:r>
                        <a:rPr sz="1400">
                          <a:latin typeface="Aptos" panose="020B0004020202020204" pitchFamily="34" charset="0"/>
                        </a:rPr>
                        <a:t>Random Forest</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0.590 ± 0.302</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0.687 ± 0.258</a:t>
                      </a:r>
                    </a:p>
                  </a:txBody>
                  <a:tcPr anchor="ctr">
                    <a:solidFill>
                      <a:srgbClr val="F2F2F2"/>
                    </a:solidFill>
                  </a:tcPr>
                </a:tc>
                <a:tc>
                  <a:txBody>
                    <a:bodyPr/>
                    <a:lstStyle/>
                    <a:p>
                      <a:pPr algn="ctr">
                        <a:defRPr sz="1300" b="1">
                          <a:solidFill>
                            <a:srgbClr val="E86C00"/>
                          </a:solidFill>
                          <a:latin typeface="Calibri"/>
                        </a:defRPr>
                      </a:pPr>
                      <a:r>
                        <a:rPr sz="1400">
                          <a:latin typeface="Aptos" panose="020B0004020202020204" pitchFamily="34" charset="0"/>
                        </a:rPr>
                        <a:t>0.822 ± 0.166</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0.805 ± 0.182</a:t>
                      </a:r>
                    </a:p>
                  </a:txBody>
                  <a:tcPr anchor="ctr">
                    <a:solidFill>
                      <a:srgbClr val="F2F2F2"/>
                    </a:solidFill>
                  </a:tcPr>
                </a:tc>
                <a:extLst>
                  <a:ext uri="{0D108BD9-81ED-4DB2-BD59-A6C34878D82A}">
                    <a16:rowId xmlns:a16="http://schemas.microsoft.com/office/drawing/2014/main" val="10003"/>
                  </a:ext>
                </a:extLst>
              </a:tr>
              <a:tr h="393192">
                <a:tc>
                  <a:txBody>
                    <a:bodyPr/>
                    <a:lstStyle/>
                    <a:p>
                      <a:pPr algn="ctr">
                        <a:defRPr sz="1300">
                          <a:solidFill>
                            <a:srgbClr val="1A1A1A"/>
                          </a:solidFill>
                          <a:latin typeface="Calibri"/>
                        </a:defRPr>
                      </a:pPr>
                      <a:r>
                        <a:rPr sz="1400">
                          <a:latin typeface="Aptos" panose="020B0004020202020204" pitchFamily="34" charset="0"/>
                        </a:rPr>
                        <a:t>Gradient Boost</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0.500 ± 0.159</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0.500 ± 0.159</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0.724 ± 0.214</a:t>
                      </a:r>
                    </a:p>
                  </a:txBody>
                  <a:tcPr anchor="ctr">
                    <a:solidFill>
                      <a:srgbClr val="FFFFFF"/>
                    </a:solidFill>
                  </a:tcPr>
                </a:tc>
                <a:tc>
                  <a:txBody>
                    <a:bodyPr/>
                    <a:lstStyle/>
                    <a:p>
                      <a:pPr algn="ctr">
                        <a:defRPr sz="1300">
                          <a:solidFill>
                            <a:srgbClr val="1A1A1A"/>
                          </a:solidFill>
                          <a:latin typeface="Calibri"/>
                        </a:defRPr>
                      </a:pPr>
                      <a:r>
                        <a:rPr sz="1400">
                          <a:latin typeface="Aptos" panose="020B0004020202020204" pitchFamily="34" charset="0"/>
                        </a:rPr>
                        <a:t>0.724 ± 0.214</a:t>
                      </a:r>
                    </a:p>
                  </a:txBody>
                  <a:tcPr anchor="ctr">
                    <a:solidFill>
                      <a:srgbClr val="FFFFFF"/>
                    </a:solidFill>
                  </a:tcPr>
                </a:tc>
                <a:extLst>
                  <a:ext uri="{0D108BD9-81ED-4DB2-BD59-A6C34878D82A}">
                    <a16:rowId xmlns:a16="http://schemas.microsoft.com/office/drawing/2014/main" val="10004"/>
                  </a:ext>
                </a:extLst>
              </a:tr>
              <a:tr h="393192">
                <a:tc>
                  <a:txBody>
                    <a:bodyPr/>
                    <a:lstStyle/>
                    <a:p>
                      <a:pPr algn="ctr">
                        <a:defRPr sz="1300">
                          <a:solidFill>
                            <a:srgbClr val="1A1A1A"/>
                          </a:solidFill>
                          <a:latin typeface="Calibri"/>
                        </a:defRPr>
                      </a:pPr>
                      <a:r>
                        <a:rPr sz="1400">
                          <a:latin typeface="Aptos" panose="020B0004020202020204" pitchFamily="34" charset="0"/>
                        </a:rPr>
                        <a:t>XGBoost</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0.628 ± 0.203</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0.628 ± 0.203</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0.794 ± 0.186</a:t>
                      </a:r>
                    </a:p>
                  </a:txBody>
                  <a:tcPr anchor="ctr">
                    <a:solidFill>
                      <a:srgbClr val="F2F2F2"/>
                    </a:solidFill>
                  </a:tcPr>
                </a:tc>
                <a:tc>
                  <a:txBody>
                    <a:bodyPr/>
                    <a:lstStyle/>
                    <a:p>
                      <a:pPr algn="ctr">
                        <a:defRPr sz="1300">
                          <a:solidFill>
                            <a:srgbClr val="1A1A1A"/>
                          </a:solidFill>
                          <a:latin typeface="Calibri"/>
                        </a:defRPr>
                      </a:pPr>
                      <a:r>
                        <a:rPr sz="1400">
                          <a:latin typeface="Aptos" panose="020B0004020202020204" pitchFamily="34" charset="0"/>
                        </a:rPr>
                        <a:t>0.794 ± 0.186</a:t>
                      </a:r>
                    </a:p>
                  </a:txBody>
                  <a:tcPr anchor="ctr">
                    <a:solidFill>
                      <a:srgbClr val="F2F2F2"/>
                    </a:solidFill>
                  </a:tcPr>
                </a:tc>
                <a:extLst>
                  <a:ext uri="{0D108BD9-81ED-4DB2-BD59-A6C34878D82A}">
                    <a16:rowId xmlns:a16="http://schemas.microsoft.com/office/drawing/2014/main" val="10005"/>
                  </a:ext>
                </a:extLst>
              </a:tr>
            </a:tbl>
          </a:graphicData>
        </a:graphic>
      </p:graphicFrame>
      <p:sp>
        <p:nvSpPr>
          <p:cNvPr id="5" name="Rectangle 4"/>
          <p:cNvSpPr/>
          <p:nvPr/>
        </p:nvSpPr>
        <p:spPr>
          <a:xfrm>
            <a:off x="457200" y="4219078"/>
            <a:ext cx="11247120" cy="237744"/>
          </a:xfrm>
          <a:prstGeom prst="rect">
            <a:avLst/>
          </a:prstGeom>
          <a:solidFill>
            <a:srgbClr val="F2F2F2"/>
          </a:solidFill>
          <a:ln w="3175">
            <a:solidFill>
              <a:schemeClr val="tx1"/>
            </a:solidFill>
          </a:ln>
        </p:spPr>
        <p:style>
          <a:lnRef idx="1">
            <a:schemeClr val="accent1"/>
          </a:lnRef>
          <a:fillRef idx="3">
            <a:schemeClr val="accent1"/>
          </a:fillRef>
          <a:effectRef idx="2">
            <a:schemeClr val="accent1"/>
          </a:effectRef>
          <a:fontRef idx="minor">
            <a:schemeClr val="lt1"/>
          </a:fontRef>
        </p:style>
        <p:txBody>
          <a:bodyPr wrap="square" lIns="109728" tIns="18288" rIns="109728" bIns="45720" rtlCol="0" anchor="ctr"/>
          <a:lstStyle/>
          <a:p>
            <a:pPr algn="ctr"/>
            <a:r>
              <a:rPr lang="el-GR" sz="800">
                <a:solidFill>
                  <a:schemeClr val="tx1"/>
                </a:solidFill>
                <a:latin typeface="Aptos"/>
              </a:rPr>
              <a:t>Συγκεντρωτικός Πίνακας </a:t>
            </a:r>
            <a:r>
              <a:rPr lang="el-GR" sz="800" err="1">
                <a:solidFill>
                  <a:schemeClr val="tx1"/>
                </a:solidFill>
                <a:latin typeface="Aptos"/>
              </a:rPr>
              <a:t>ReadText</a:t>
            </a:r>
            <a:r>
              <a:rPr sz="800">
                <a:solidFill>
                  <a:schemeClr val="tx1"/>
                </a:solidFill>
                <a:latin typeface="Aptos"/>
              </a:rPr>
              <a:t> ROC-AUC</a:t>
            </a:r>
            <a:r>
              <a:rPr lang="en-US" sz="800">
                <a:solidFill>
                  <a:schemeClr val="tx1"/>
                </a:solidFill>
                <a:latin typeface="Aptos"/>
              </a:rPr>
              <a:t> |</a:t>
            </a:r>
            <a:r>
              <a:rPr sz="800">
                <a:solidFill>
                  <a:schemeClr val="tx1"/>
                </a:solidFill>
                <a:latin typeface="Aptos"/>
              </a:rPr>
              <a:t> </a:t>
            </a:r>
            <a:r>
              <a:rPr lang="en-US" sz="800" err="1">
                <a:solidFill>
                  <a:schemeClr val="tx1"/>
                </a:solidFill>
                <a:latin typeface="Aptos"/>
              </a:rPr>
              <a:t>Πηγή</a:t>
            </a:r>
            <a:r>
              <a:rPr lang="en-US" sz="800">
                <a:solidFill>
                  <a:schemeClr val="tx1"/>
                </a:solidFill>
                <a:latin typeface="Aptos"/>
              </a:rPr>
              <a:t>: Πα</a:t>
            </a:r>
            <a:r>
              <a:rPr lang="en-US" sz="800" err="1">
                <a:solidFill>
                  <a:schemeClr val="tx1"/>
                </a:solidFill>
                <a:latin typeface="Aptos"/>
              </a:rPr>
              <a:t>ράρτημ</a:t>
            </a:r>
            <a:r>
              <a:rPr lang="en-US" sz="800">
                <a:solidFill>
                  <a:schemeClr val="tx1"/>
                </a:solidFill>
                <a:latin typeface="Aptos"/>
              </a:rPr>
              <a:t>α Β </a:t>
            </a:r>
          </a:p>
        </p:txBody>
      </p:sp>
      <p:sp>
        <p:nvSpPr>
          <p:cNvPr id="6" name="Rectangle 5"/>
          <p:cNvSpPr/>
          <p:nvPr/>
        </p:nvSpPr>
        <p:spPr>
          <a:xfrm>
            <a:off x="457200" y="6455664"/>
            <a:ext cx="11247120" cy="9144"/>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itle 7">
            <a:extLst>
              <a:ext uri="{FF2B5EF4-FFF2-40B4-BE49-F238E27FC236}">
                <a16:creationId xmlns:a16="http://schemas.microsoft.com/office/drawing/2014/main" id="{10ADA03A-22C8-7BAD-C2F6-4332AC3B3B05}"/>
              </a:ext>
            </a:extLst>
          </p:cNvPr>
          <p:cNvSpPr>
            <a:spLocks noGrp="1"/>
          </p:cNvSpPr>
          <p:nvPr>
            <p:ph type="title"/>
          </p:nvPr>
        </p:nvSpPr>
        <p:spPr>
          <a:xfrm>
            <a:off x="0" y="0"/>
            <a:ext cx="12192000" cy="900000"/>
          </a:xfrm>
        </p:spPr>
        <p:txBody>
          <a:bodyPr>
            <a:normAutofit/>
          </a:bodyPr>
          <a:lstStyle/>
          <a:p>
            <a:r>
              <a:rPr lang="en-GB">
                <a:latin typeface="Aptos"/>
              </a:rPr>
              <a:t>ROC-AUC - Dataset A ReadText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31</Slides>
  <Notes>31</Notes>
  <HiddenSlides>0</HiddenSlides>
  <ScaleCrop>false</ScaleCrop>
  <HeadingPairs>
    <vt:vector size="4" baseType="variant">
      <vt:variant>
        <vt:lpstr>Theme</vt:lpstr>
      </vt:variant>
      <vt:variant>
        <vt:i4>2</vt:i4>
      </vt:variant>
      <vt:variant>
        <vt:lpstr>Slide Titles</vt:lpstr>
      </vt:variant>
      <vt:variant>
        <vt:i4>31</vt:i4>
      </vt:variant>
    </vt:vector>
  </HeadingPairs>
  <TitlesOfParts>
    <vt:vector size="33" baseType="lpstr">
      <vt:lpstr>Office Theme</vt:lpstr>
      <vt:lpstr>Custom Design</vt:lpstr>
      <vt:lpstr>PowerPoint Presentation</vt:lpstr>
      <vt:lpstr>Περιεχόμενα Διπλωματικής</vt:lpstr>
      <vt:lpstr>Νόσος Πάρκινσον &amp; Διαταραχές Ομιλίας</vt:lpstr>
      <vt:lpstr>Η Φωνή ως πιθανός Βιοδείκτης</vt:lpstr>
      <vt:lpstr>Ερευνητικά Ερωτήματα</vt:lpstr>
      <vt:lpstr>Βιβλιογραφική Ανασκόπηση - Κύρια Ευρήματα</vt:lpstr>
      <vt:lpstr>Ερευνητικό Κενό &amp; Τοποθέτηση Διπλωματικής</vt:lpstr>
      <vt:lpstr>Dataset A: Ηχογραφήσεις Φωνής PD/HC</vt:lpstr>
      <vt:lpstr>Dataset B &amp; Σύγκριση με Dataset A</vt:lpstr>
      <vt:lpstr>Experimental Pipeline Overview</vt:lpstr>
      <vt:lpstr>Εξαγωγή Χαρακτηριστικών - Baseline (47) vs Extended (78)</vt:lpstr>
      <vt:lpstr>Μοντέλα &amp; Παράμετροι (Fixed A Priori)</vt:lpstr>
      <vt:lpstr>Μεθοδολογία Cross-Validation</vt:lpstr>
      <vt:lpstr>Πειραματικός Σχεδιασμός - 2×2×5</vt:lpstr>
      <vt:lpstr>PowerPoint Presentation</vt:lpstr>
      <vt:lpstr>Κύρια Αποτελέσματα – Καλύτερο ROC-AUC</vt:lpstr>
      <vt:lpstr>ROC Curves - Dataset A (Extended Features, Grouped 5-Fold CV)</vt:lpstr>
      <vt:lpstr>Confusion Matrices (Extended Feature Set)</vt:lpstr>
      <vt:lpstr>RQ1 — Πόσο καλά αποδίδουν τα κλασικά ML μοντέλα; </vt:lpstr>
      <vt:lpstr>RQ2 – Βελτιώνει η επέκταση χαρακτηριστικών την απόδοση;</vt:lpstr>
      <vt:lpstr>RQ3 – Βοηθά το class weighting σε ανισορροπία κλάσεων;</vt:lpstr>
      <vt:lpstr>RQ4 -  Διαφορές μεταξύ subject-level CV &amp; standard CV;</vt:lpstr>
      <vt:lpstr>RQ5 - Υπάρχει διαφορά στην απόδοση μεταξύ δομημένης και αυθόρμητης ομιλίας;</vt:lpstr>
      <vt:lpstr>Σημαντικότητα Χαρακτηριστικών ανά Κατηγορία</vt:lpstr>
      <vt:lpstr>Feature Permutation Importance Heatmaps</vt:lpstr>
      <vt:lpstr>Περιορισμοί</vt:lpstr>
      <vt:lpstr>Συνεισφορές &amp; Συμπεράσματα</vt:lpstr>
      <vt:lpstr>PowerPoint Presentation</vt:lpstr>
      <vt:lpstr>Demo Application - Ερευνητικό Πρωτότυπο</vt:lpstr>
      <vt:lpstr>Αποτελέσματα - C4: Extended + Weighted (Dataset A)</vt:lpstr>
      <vt:lpstr>ROC-AUC - Dataset A ReadText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2</cp:revision>
  <dcterms:created xsi:type="dcterms:W3CDTF">2013-01-27T09:14:16Z</dcterms:created>
  <dcterms:modified xsi:type="dcterms:W3CDTF">2026-03-03T10:50:40Z</dcterms:modified>
  <cp:category/>
</cp:coreProperties>
</file>